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product" id="{247662ab-d0dd-2c7b-fa91-cf7307420e29}">
          <p14:sldIdLst>
            <p14:sldId id="256"/>
            <p14:sldId id="257"/>
            <p14:sldId id="258"/>
          </p14:sldIdLst>
        </p14:section>
        <p14:section name="What was built" id="{8f8ca498-bc10-1422-b22b-045c088d656f}">
          <p14:sldIdLst>
            <p14:sldId id="259"/>
            <p14:sldId id="260"/>
            <p14:sldId id="261"/>
            <p14:sldId id="262"/>
            <p14:sldId id="263"/>
          </p14:sldIdLst>
        </p14:section>
        <p14:section name="Where it stands" id="{45f0f631-b996-c701-ba4d-e7866d75be8d}">
          <p14:sldIdLst>
            <p14:sldId id="264"/>
            <p14:sldId id="265"/>
            <p14:sldId id="266"/>
          </p14:sldIdLst>
        </p14:section>
        <p14:section name="Backup" id="{6115e423-f491-658b-883e-d27223d6ef41}">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all had the experience of seeing something alarming online about our local community. It shows up as a meme or a post, with no good next step. You can't tell if it's true, and even if it is, you don't know what to do about it. Footnote fixes that.
When I presented this a few weeks ago, Footnote was a plan and a walking skeleton. Today it's a working product, live at that address, running on real public records from my own county. In the next few minutes, I'll show you what it does, how it's built, what I did with your feedback, and where it honestly still falls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recap of the problem, because everything I built answers it. Picture this for a moment. A resident of your town is scrolling her community Facebook group, and she sees a post: the new levy money is going to administrator raises. There are a hundred angry reactions and sixty comments.
She has hit three dead ends without realizing it. First, she can't easily check whether it's true. The answer exists, but it's in a long financial report on a website she has never been to. So she reads the comments instead, which is never a good idea. There is certainty everywhere, but evidence nowhere.
The second dead end is the fact-check. It may or may not reach her, and if it does, it's a label with no reasoning behind it and no sources. By this point, her feed has repeated the claim until it feels true.
The third dead end is the one nobody talks about. Say she does get the truth. Now what? Nothing tells her what to do with it. There's a school board meeting where the budget is on the agenda, and nothing in her feed will ever tell her that. So she shares the post, or she shrugs.
I tested this before I built anything. An attorney, a librarian, and a student each described this exact gap, without me naming it first.
Nobody connects "I saw this claim" to "here is what I can do about it." That connection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path. It's the same four steps I showed you last time. The difference is that every one of them now runs.
Step one. You bring a claim, and you pick a place. By a claim, I mean anything presented to you as true that showed up without its receipts. There's no login and no feed. Footnote tells you what you're holding: a checkable statement of fact, an opinion, or an opinion with a fact buried inside it.
Step two. It shows you what the official records say. Not a true-or-false stamp. The documents themselves.
Step three, if you're curious. You open the transparency record and see how the answer was put together, including where AI was involved.
And step four is the part nothing else does. It hands you the real next step in your actual town. Then the session ends and evaporates. No profiles, no tracking, no 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 me show you. This is the live site, not a mockup. I typed in the claim "the levy money is going to classrooms" and picked Delaware County.
At the top, Footnote tells me what I'm holding: a checkable statement of fact about levy fund allocation. That label came from a real model call.
Below that is what the records say, and it's built from three primary records. The district's audited financial report for fiscal year 2025. The March 2024 ballot language from the Board of Elections. And the August 2026 board meeting minutes. Each one links to the document itself and shows the date I verified it.
Now here's a number most people in my district have never seen. The district spent 265 million dollars on instruction, out of 379 million in general fund spending. That's about seventy percent. Footnote doesn't tell you whether that's good or bad. It puts the number, and where it came from, in front of you.
The last time you saw this card, it was all placeholders. Today, every fact on it is real, sourced, and dated.
But a screenshot is still a screenshot. Let me show you the real thing.
[Switch to the browser. The site is already open to the empty form. Type the claim, pick Delaware County, click Look at the records. While it loads: "That pause is a real model call." Scroll once through the card and the invitation, open the transparency record, point at the policy stage, then say:]
And that's it. It's still live, still real, and still yours to try on your phone later. Back to the slides, because I want to show you how it got there.
[Switch back to the PDF on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asked me for a diagram of how a claim moves through the system. Here it is. There's a version on the front page of the repo too.
A claim and a place go in at the top. Then four stages run in order. Classify labels the claim. Source picks the set of primary records that matches the claim, or none if nothing matches. Policy decides which sources are good enough to show, and writes the summary. Invite attaches the local next step.
Two of those stages use AI, and I marked them. Both go through a single adapter, and both have a fallback. So if the model is down, or there's no key, the site still works.
The dark band is the part I care about most. Every stage writes down what it did: which model, how long it took, what it kept, what it threw out. That log is the transparency record. I didn't bolt it on at the end. It's how the pipeline is built.
Three things come out after you submit a claim: the source card, the civic invitation, and the transparency panel. Then the session evaporates.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second piece of feedback was to build out the data for one locality. And from the very start, the concern about this project was the data. So let me show you exactly what's in there.
This is Delaware County, Ohio, and I captured it by hand from official sites. Eighteen officials. Four public meetings. Four organizations. And six resources, things like how to file a public records request and where to watch the meeting videos.
Every entry carries three things: a link to its source, the date I verified it, and its tier, meaning whether it's the record itself, an official communication, or established reporting. And staleness is shown, never hidden. If I checked something twenty days ago, the screen says twenty days ago.
The list is also ordered for the claim. A levy claim leads with the school board, not the city council.
All of it lives in one text file in the repo, which means the whole edit history is public. The git history is the audit log.
I'll be honest about the cost. This is labor. One county took real hours. That labor is also the moat, and I'll come back to who does it.
So the promise is not "the data is true." The promise is "you can always see where it came from and when it was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of the build I'm proudest of. And it started with a mistake.
I wanted the summary on the source card to be written by the model instead of by me. So I gave the model, Claude Haiku, the claim and the three records, and asked for a summary, with every sentence tagged to the source it came from.
On the very first run, it wrote that voters approved the levy. And it cited the ballot. But think about what a ballot is. A ballot lists the question. It doesn't list the result. So the sentence sounded right, and the source didn't say it. For a product whose whole promise is "check our work," that is exactly the failure that matters.
So I built a checker. And the checker is plain code, not AI. Every sentence has to pass four rules. One, it has to point to a source we kept. Two, every figure in it has to appear in that source. Three, no verdict language. And four, it can't use an outcome word, like approved or rejected, unless the source it cites uses that word.
That's why the same word, approved, gets blocked for the ballot and allowed for the board minutes. It depends on what each record says.
On the right is the proof. Six test sentences. Two kept, four dropped, and every drop has a stated reason. On the live site, every dropped sentence is logged in the transparency record.
The model writes the summary. Code decides what you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 stack, quickly, because the choices are boring on purpose. React on the front end. Node and Express on the back end, with each of the four pipeline stages in a file of its own. Claude Haiku handles the two AI stages, behind one adapter, so the provider can be swapped.
There's one change from the slide I showed you last time. I planned for a PostgreSQL database and an automated test pipeline, and I didn't build either one. Here's why. The product doesn't need a database yet. Sessions aren't stored, and the civic data lives in a version-controlled file. I'd rather show you no database than one that exists to fill a box on a slide. Both are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you gave me four pieces of feedback. So here's the scorecard. A diagram of the claim flow: done, you just saw it. Build out the data for one locality: done. Keep using GitHub the way I had been: done, and the whole history is public. More interviews: partly. Round one was the attorney, the librarian, and the student. Round two is a teacher, a journalist, and a civic organization, and that outreach is underway now.
Then this month, my instructor asked for three more things: a current README, a current server, and a polished interface. All three are done and live.
Now for what Footnote can't do yet. I'd rather you hear it from me.
The pipeline handles any claim you bring. What it's missing is the context behind most of them. Right now it has records for one question, the school levy. Take a claim like "the school board has five members." Footnote classifies it correctly as a checkable statement of fact. The answer is even sitting in its own civic data; the five board members are listed on the invitation. But the source card says "not yet covered," because nobody has connected that record to that question yet. That's the build-out: records and context for the claims people actually bring, one at a time, each with a source and a verified date. It's a long list, and it's the right kind of long.
The checker has a limit too. It verifies attribution, figures, and wording. It does not yet verify that a paraphrase keeps the source's meaning. And it's one county, maintained by hand.
A tool about trust has to be honest about its own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this go? In the code, two things. First, a stronger checker. Today it catches a wrong number. It doesn't yet catch a right number attached to the wrong idea, like the instruction figure described as administrator raises. Second, automated tests, so every rule in that checker runs on every change. And then the records: connecting sources to the claims people actually bring, starting with the ones already sitting in the civic data.
The bigger question is how this reaches a second town. And the answer is people. You saw how much work one county took. I can't do that for every county, and software can't either. Every place needs people who live there keeping its information current, working with their library and their schools.
I don't have that part solved. I don't know yet whether it's a paid role, a volunteer one, or part of a librarian's job. But this isn't a new problem. Wikipedia and OpenStreetMap both started as projects that looked too big to maintain, with no clear way to pay for them, and both are kept current today by people who care about their own corner of it. Footnote doesn't grow without that. The software is the tool. The community is what keeps it true.
It stays free for citizens. The revenue is institutional licensing. And no ads,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Footnote. You pick a place. It shows you the records, shows its work, and hands you the next step. Then it forgets you.
Last time, that was a promise. Today it's a live site, running on real records from a real county, with an AI component that is checked by rules and logged in the open.
It's live at that address right now, and the repo is public. I'd welcome your questions, especially the hard ones. The transparency record applies to me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if asked about competitors. Three camps, all healthy businesses, which proves both halves of the market are real. Media trust tools stop at the verdict. Civic software is sold to governments, so the citizen isn't the customer. Community platforms own the attention and carry no trust layer. Nobody owns the connection between knowing and doing.
On Google: anyone can paste a claim into a chatbot, but a chatbot doesn't maintain a county's meeting calendar and ballot language with a receipt on every entry. Google ran an API for local officials data and shut it down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if someone wants to see the raw test. This is the terminal output from the checker run on October 4. The top half is the six test sentences. The bottom six lines are the results: kept or dropped, and the reason for each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anyone who wants to see the record itself. This is the live site on the canonical claim. Four stages. Classify and policy used the model, and each shows which model and how long the call took. Source shows which record set matched and on which word. Policy shows three sentences drafted, three kept, none dropped. Invite shows what was loaded and that the school district entries were listed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if someone asks what happens with a different claim. I typed a claim about water rates. Footnote classified it, said plainly that it has no records for it yet, and named what it does carry. It did not show the levy records, and it did not ask the model to fill the gap. The local next step still appears, because the meetings and officials are real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2A4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822960" y="1874520"/>
            <a:ext cx="10515600" cy="1371600"/>
          </a:xfrm>
          <a:prstGeom prst="rect">
            <a:avLst/>
          </a:prstGeom>
          <a:noFill/>
          <a:ln/>
        </p:spPr>
        <p:txBody>
          <a:bodyPr wrap="square" lIns="0" tIns="0" rIns="0" bIns="0" rtlCol="0" anchor="ctr"/>
          <a:lstStyle/>
          <a:p>
            <a:pPr indent="0" marL="0">
              <a:buNone/>
            </a:pPr>
            <a:r>
              <a:rPr lang="en-US" sz="7600" b="1" dirty="0">
                <a:solidFill>
                  <a:schemeClr val="bg1"/>
                </a:solidFill>
                <a:latin typeface="+mj-lt" pitchFamily="34" charset="0"/>
                <a:ea typeface="+mj-lt" pitchFamily="34" charset="-122"/>
                <a:cs typeface="+mj-lt" pitchFamily="34" charset="-120"/>
              </a:rPr>
              <a:t>Footnote</a:t>
            </a:r>
            <a:pPr indent="0" marL="0">
              <a:buNone/>
            </a:pPr>
            <a:r>
              <a:rPr lang="en-US" sz="3400" b="1" baseline="30000" dirty="0">
                <a:solidFill>
                  <a:schemeClr val="accent3"/>
                </a:solidFill>
                <a:latin typeface="+mj-lt" pitchFamily="34" charset="0"/>
                <a:ea typeface="+mj-lt" pitchFamily="34" charset="-122"/>
                <a:cs typeface="+mj-lt" pitchFamily="34" charset="-120"/>
              </a:rPr>
              <a:t>1</a:t>
            </a:r>
            <a:endParaRPr lang="en-US" sz="7600" dirty="0"/>
          </a:p>
        </p:txBody>
      </p:sp>
      <p:sp>
        <p:nvSpPr>
          <p:cNvPr id="4" name="Text 1"/>
          <p:cNvSpPr txBox="1"/>
          <p:nvPr/>
        </p:nvSpPr>
        <p:spPr>
          <a:xfrm>
            <a:off x="850392" y="3154680"/>
            <a:ext cx="9875520" cy="548640"/>
          </a:xfrm>
          <a:prstGeom prst="rect">
            <a:avLst/>
          </a:prstGeom>
          <a:noFill/>
          <a:ln/>
        </p:spPr>
        <p:txBody>
          <a:bodyPr wrap="square" lIns="0" tIns="0" rIns="0" bIns="0" rtlCol="0" anchor="ctr"/>
          <a:lstStyle/>
          <a:p>
            <a:pPr indent="0" marL="0">
              <a:buNone/>
            </a:pPr>
            <a:r>
              <a:rPr lang="en-US" sz="2000" i="1" dirty="0">
                <a:solidFill>
                  <a:schemeClr val="accent2"/>
                </a:solidFill>
              </a:rPr>
              <a:t>From “is this even true?” to “here’s what I can do about it.”</a:t>
            </a:r>
            <a:endParaRPr lang="en-US" sz="2000" dirty="0"/>
          </a:p>
        </p:txBody>
      </p:sp>
      <p:sp>
        <p:nvSpPr>
          <p:cNvPr id="5" name="Text 2"/>
          <p:cNvSpPr txBox="1"/>
          <p:nvPr/>
        </p:nvSpPr>
        <p:spPr>
          <a:xfrm>
            <a:off x="850392" y="3886200"/>
            <a:ext cx="9875520" cy="457200"/>
          </a:xfrm>
          <a:prstGeom prst="rect">
            <a:avLst/>
          </a:prstGeom>
          <a:noFill/>
          <a:ln/>
        </p:spPr>
        <p:txBody>
          <a:bodyPr wrap="square" lIns="0" tIns="0" rIns="0" bIns="0" rtlCol="0" anchor="ctr"/>
          <a:lstStyle/>
          <a:p>
            <a:pPr indent="0" marL="0">
              <a:buNone/>
            </a:pPr>
            <a:r>
              <a:rPr lang="en-US" sz="1600" b="1" dirty="0">
                <a:solidFill>
                  <a:schemeClr val="accent3"/>
                </a:solidFill>
              </a:rPr>
              <a:t>Live now:  </a:t>
            </a:r>
            <a:pPr indent="0" marL="0">
              <a:buNone/>
            </a:pPr>
            <a:r>
              <a:rPr lang="en-US" sz="1600" dirty="0">
                <a:solidFill>
                  <a:schemeClr val="bg1"/>
                </a:solidFill>
              </a:rPr>
              <a:t>footnote.alessandrarye.com</a:t>
            </a:r>
            <a:endParaRPr lang="en-US" sz="1600" dirty="0"/>
          </a:p>
        </p:txBody>
      </p:sp>
      <p:sp>
        <p:nvSpPr>
          <p:cNvPr id="6" name="Shape 3"/>
          <p:cNvSpPr/>
          <p:nvPr/>
        </p:nvSpPr>
        <p:spPr>
          <a:xfrm>
            <a:off x="850392" y="5394960"/>
            <a:ext cx="3840480" cy="0"/>
          </a:xfrm>
          <a:prstGeom prst="line">
            <a:avLst/>
          </a:prstGeom>
          <a:noFill/>
          <a:ln w="12700">
            <a:solidFill>
              <a:schemeClr val="tx2"/>
            </a:solidFill>
            <a:prstDash val="solid"/>
          </a:ln>
        </p:spPr>
      </p:sp>
      <p:sp>
        <p:nvSpPr>
          <p:cNvPr id="7" name="Text 4"/>
          <p:cNvSpPr txBox="1"/>
          <p:nvPr/>
        </p:nvSpPr>
        <p:spPr>
          <a:xfrm>
            <a:off x="850392" y="5486400"/>
            <a:ext cx="9601200" cy="365760"/>
          </a:xfrm>
          <a:prstGeom prst="rect">
            <a:avLst/>
          </a:prstGeom>
          <a:noFill/>
          <a:ln/>
        </p:spPr>
        <p:txBody>
          <a:bodyPr wrap="square" lIns="0" tIns="0" rIns="0" bIns="0" rtlCol="0" anchor="ctr"/>
          <a:lstStyle/>
          <a:p>
            <a:pPr indent="0" marL="0">
              <a:buNone/>
            </a:pPr>
            <a:r>
              <a:rPr lang="en-US" sz="1300" dirty="0">
                <a:solidFill>
                  <a:schemeClr val="accent2"/>
                </a:solidFill>
              </a:rPr>
              <a:t>Civic grounding for public claims: sources, transparency, and a real local next step.</a:t>
            </a:r>
            <a:endParaRPr lang="en-US" sz="1300" dirty="0"/>
          </a:p>
        </p:txBody>
      </p:sp>
      <p:sp>
        <p:nvSpPr>
          <p:cNvPr id="8" name="Text 5"/>
          <p:cNvSpPr txBox="1"/>
          <p:nvPr/>
        </p:nvSpPr>
        <p:spPr>
          <a:xfrm>
            <a:off x="850392" y="5897880"/>
            <a:ext cx="9601200" cy="365760"/>
          </a:xfrm>
          <a:prstGeom prst="rect">
            <a:avLst/>
          </a:prstGeom>
          <a:noFill/>
          <a:ln/>
        </p:spPr>
        <p:txBody>
          <a:bodyPr wrap="square" lIns="0" tIns="0" rIns="0" bIns="0" rtlCol="0" anchor="ctr"/>
          <a:lstStyle/>
          <a:p>
            <a:pPr indent="0" marL="0">
              <a:buNone/>
            </a:pPr>
            <a:r>
              <a:rPr lang="en-US" sz="1300" dirty="0">
                <a:solidFill>
                  <a:schemeClr val="accent2"/>
                </a:solidFill>
              </a:rPr>
              <a:t>Alee · Metana Full Stack Capstone · Final presentation,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The gap between seeing and doing</a:t>
            </a:r>
            <a:endParaRPr lang="en-US" sz="3800" dirty="0"/>
          </a:p>
        </p:txBody>
      </p:sp>
      <p:sp>
        <p:nvSpPr>
          <p:cNvPr id="4" name="Text 1"/>
          <p:cNvSpPr txBox="1"/>
          <p:nvPr/>
        </p:nvSpPr>
        <p:spPr>
          <a:xfrm>
            <a:off x="640080" y="1417320"/>
            <a:ext cx="4663440" cy="228600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A resident sees a post: </a:t>
            </a:r>
            <a:pPr indent="0" marL="0">
              <a:lnSpc>
                <a:spcPct val="115000"/>
              </a:lnSpc>
              <a:buNone/>
            </a:pPr>
            <a:r>
              <a:rPr lang="en-US" sz="1500" i="1" dirty="0">
                <a:solidFill>
                  <a:schemeClr val="tx1"/>
                </a:solidFill>
              </a:rPr>
              <a:t>“the new levy money is going to administrator raises.”</a:t>
            </a:r>
            <a:endParaRPr lang="en-US" sz="1500" dirty="0"/>
          </a:p>
          <a:p>
            <a:pPr indent="0" marL="0">
              <a:lnSpc>
                <a:spcPct val="115000"/>
              </a:lnSpc>
              <a:buNone/>
            </a:pPr>
            <a:r>
              <a:rPr lang="en-US" sz="1500" dirty="0">
                <a:solidFill>
                  <a:schemeClr val="tx2"/>
                </a:solidFill>
              </a:rPr>
              <a:t> </a:t>
            </a:r>
            <a:endParaRPr lang="en-US" sz="1500" dirty="0"/>
          </a:p>
          <a:p>
            <a:pPr indent="0" marL="0">
              <a:lnSpc>
                <a:spcPct val="115000"/>
              </a:lnSpc>
              <a:buNone/>
            </a:pPr>
            <a:r>
              <a:rPr lang="en-US" sz="1500" dirty="0">
                <a:solidFill>
                  <a:schemeClr val="tx2"/>
                </a:solidFill>
              </a:rPr>
              <a:t>Today she has three dead ends. She can’t easily check it. If she checks it, she gets a verdict with no reasoning. And nothing tells her what to actually do next, so she shares it, or shrugs.</a:t>
            </a:r>
            <a:endParaRPr lang="en-US" sz="1500" dirty="0"/>
          </a:p>
        </p:txBody>
      </p:sp>
      <p:sp>
        <p:nvSpPr>
          <p:cNvPr id="5" name="Shape 2"/>
          <p:cNvSpPr/>
          <p:nvPr/>
        </p:nvSpPr>
        <p:spPr>
          <a:xfrm>
            <a:off x="640080" y="3794760"/>
            <a:ext cx="4663440" cy="1143000"/>
          </a:xfrm>
          <a:prstGeom prst="roundRect">
            <a:avLst>
              <a:gd name="adj" fmla="val 4800"/>
            </a:avLst>
          </a:prstGeom>
          <a:solidFill>
            <a:schemeClr val="bg1"/>
          </a:solidFill>
          <a:ln w="15875">
            <a:solidFill>
              <a:schemeClr val="accent1"/>
            </a:solidFill>
            <a:prstDash val="solid"/>
          </a:ln>
        </p:spPr>
      </p:sp>
      <p:sp>
        <p:nvSpPr>
          <p:cNvPr id="6" name="Text 3"/>
          <p:cNvSpPr txBox="1"/>
          <p:nvPr/>
        </p:nvSpPr>
        <p:spPr>
          <a:xfrm>
            <a:off x="868680" y="3794760"/>
            <a:ext cx="4206240" cy="1143000"/>
          </a:xfrm>
          <a:prstGeom prst="rect">
            <a:avLst/>
          </a:prstGeom>
          <a:noFill/>
          <a:ln/>
        </p:spPr>
        <p:txBody>
          <a:bodyPr wrap="square" lIns="0" tIns="0" rIns="0" bIns="0" rtlCol="0" anchor="ctr"/>
          <a:lstStyle/>
          <a:p>
            <a:pPr indent="0" marL="0">
              <a:buNone/>
            </a:pPr>
            <a:r>
              <a:rPr lang="en-US" sz="1250" b="1" dirty="0">
                <a:solidFill>
                  <a:schemeClr val="accent1"/>
                </a:solidFill>
              </a:rPr>
              <a:t>Early signal: </a:t>
            </a:r>
            <a:pPr indent="0" marL="0">
              <a:buNone/>
            </a:pPr>
            <a:r>
              <a:rPr lang="en-US" sz="1250" dirty="0">
                <a:solidFill>
                  <a:schemeClr val="tx1"/>
                </a:solidFill>
              </a:rPr>
              <a:t>an attorney, a librarian, and a student, interviewed separately, each described this exact gap, and all three responded positively to Footnote.</a:t>
            </a:r>
            <a:endParaRPr lang="en-US" sz="1250" dirty="0"/>
          </a:p>
        </p:txBody>
      </p:sp>
      <p:sp>
        <p:nvSpPr>
          <p:cNvPr id="7" name="Shape 4"/>
          <p:cNvSpPr/>
          <p:nvPr/>
        </p:nvSpPr>
        <p:spPr>
          <a:xfrm>
            <a:off x="5669280" y="1417320"/>
            <a:ext cx="5852160" cy="1005840"/>
          </a:xfrm>
          <a:prstGeom prst="roundRect">
            <a:avLst>
              <a:gd name="adj" fmla="val 5455"/>
            </a:avLst>
          </a:prstGeom>
          <a:solidFill>
            <a:schemeClr val="bg2"/>
          </a:solidFill>
          <a:ln w="12700">
            <a:solidFill>
              <a:schemeClr val="bg2"/>
            </a:solidFill>
            <a:prstDash val="solid"/>
          </a:ln>
        </p:spPr>
      </p:sp>
      <p:sp>
        <p:nvSpPr>
          <p:cNvPr id="8" name="Shape 5"/>
          <p:cNvSpPr/>
          <p:nvPr/>
        </p:nvSpPr>
        <p:spPr>
          <a:xfrm>
            <a:off x="5897880" y="1728216"/>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5897880" y="17282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7"/>
          <p:cNvSpPr txBox="1"/>
          <p:nvPr/>
        </p:nvSpPr>
        <p:spPr>
          <a:xfrm>
            <a:off x="6446520" y="1527048"/>
            <a:ext cx="4937760" cy="365760"/>
          </a:xfrm>
          <a:prstGeom prst="rect">
            <a:avLst/>
          </a:prstGeom>
          <a:noFill/>
          <a:ln/>
        </p:spPr>
        <p:txBody>
          <a:bodyPr wrap="square" lIns="0" tIns="0" rIns="0" bIns="0" rtlCol="0" anchor="ctr"/>
          <a:lstStyle/>
          <a:p>
            <a:pPr indent="0" marL="0">
              <a:buNone/>
            </a:pPr>
            <a:r>
              <a:rPr lang="en-US" sz="1500" b="1" dirty="0">
                <a:solidFill>
                  <a:schemeClr val="tx1"/>
                </a:solidFill>
              </a:rPr>
              <a:t>Verification tools stop at the verdict</a:t>
            </a:r>
            <a:endParaRPr lang="en-US" sz="1500" dirty="0"/>
          </a:p>
        </p:txBody>
      </p:sp>
      <p:sp>
        <p:nvSpPr>
          <p:cNvPr id="11" name="Text 8"/>
          <p:cNvSpPr txBox="1"/>
          <p:nvPr/>
        </p:nvSpPr>
        <p:spPr>
          <a:xfrm>
            <a:off x="6446520" y="1892808"/>
            <a:ext cx="4937760" cy="457200"/>
          </a:xfrm>
          <a:prstGeom prst="rect">
            <a:avLst/>
          </a:prstGeom>
          <a:noFill/>
          <a:ln/>
        </p:spPr>
        <p:txBody>
          <a:bodyPr wrap="square" lIns="0" tIns="0" rIns="0" bIns="0" rtlCol="0" anchor="t"/>
          <a:lstStyle/>
          <a:p>
            <a:pPr indent="0" marL="0">
              <a:buNone/>
            </a:pPr>
            <a:r>
              <a:rPr lang="en-US" sz="1250" dirty="0">
                <a:solidFill>
                  <a:schemeClr val="tx2"/>
                </a:solidFill>
              </a:rPr>
              <a:t>Fact-checks and trust ratings end with “true-ish.” Then nothing.</a:t>
            </a:r>
            <a:endParaRPr lang="en-US" sz="1250" dirty="0"/>
          </a:p>
        </p:txBody>
      </p:sp>
      <p:sp>
        <p:nvSpPr>
          <p:cNvPr id="12" name="Shape 9"/>
          <p:cNvSpPr/>
          <p:nvPr/>
        </p:nvSpPr>
        <p:spPr>
          <a:xfrm>
            <a:off x="5669280" y="2587752"/>
            <a:ext cx="5852160" cy="1005840"/>
          </a:xfrm>
          <a:prstGeom prst="roundRect">
            <a:avLst>
              <a:gd name="adj" fmla="val 5455"/>
            </a:avLst>
          </a:prstGeom>
          <a:solidFill>
            <a:schemeClr val="bg2"/>
          </a:solidFill>
          <a:ln w="12700">
            <a:solidFill>
              <a:schemeClr val="bg2"/>
            </a:solidFill>
            <a:prstDash val="solid"/>
          </a:ln>
        </p:spPr>
      </p:sp>
      <p:sp>
        <p:nvSpPr>
          <p:cNvPr id="13" name="Shape 10"/>
          <p:cNvSpPr/>
          <p:nvPr/>
        </p:nvSpPr>
        <p:spPr>
          <a:xfrm>
            <a:off x="5897880" y="289864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5897880" y="28986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6446520" y="2697480"/>
            <a:ext cx="4937760" cy="365760"/>
          </a:xfrm>
          <a:prstGeom prst="rect">
            <a:avLst/>
          </a:prstGeom>
          <a:noFill/>
          <a:ln/>
        </p:spPr>
        <p:txBody>
          <a:bodyPr wrap="square" lIns="0" tIns="0" rIns="0" bIns="0" rtlCol="0" anchor="ctr"/>
          <a:lstStyle/>
          <a:p>
            <a:pPr indent="0" marL="0">
              <a:buNone/>
            </a:pPr>
            <a:r>
              <a:rPr lang="en-US" sz="1500" b="1" dirty="0">
                <a:solidFill>
                  <a:schemeClr val="tx1"/>
                </a:solidFill>
              </a:rPr>
              <a:t>Civic software is sold to governments</a:t>
            </a:r>
            <a:endParaRPr lang="en-US" sz="1500" dirty="0"/>
          </a:p>
        </p:txBody>
      </p:sp>
      <p:sp>
        <p:nvSpPr>
          <p:cNvPr id="16" name="Text 13"/>
          <p:cNvSpPr txBox="1"/>
          <p:nvPr/>
        </p:nvSpPr>
        <p:spPr>
          <a:xfrm>
            <a:off x="6446520" y="3063240"/>
            <a:ext cx="4937760" cy="457200"/>
          </a:xfrm>
          <a:prstGeom prst="rect">
            <a:avLst/>
          </a:prstGeom>
          <a:noFill/>
          <a:ln/>
        </p:spPr>
        <p:txBody>
          <a:bodyPr wrap="square" lIns="0" tIns="0" rIns="0" bIns="0" rtlCol="0" anchor="t"/>
          <a:lstStyle/>
          <a:p>
            <a:pPr indent="0" marL="0">
              <a:buNone/>
            </a:pPr>
            <a:r>
              <a:rPr lang="en-US" sz="1250" dirty="0">
                <a:solidFill>
                  <a:schemeClr val="tx2"/>
                </a:solidFill>
              </a:rPr>
              <a:t>The municipality is the customer; the resident is the audience.</a:t>
            </a:r>
            <a:endParaRPr lang="en-US" sz="1250" dirty="0"/>
          </a:p>
        </p:txBody>
      </p:sp>
      <p:sp>
        <p:nvSpPr>
          <p:cNvPr id="17" name="Shape 14"/>
          <p:cNvSpPr/>
          <p:nvPr/>
        </p:nvSpPr>
        <p:spPr>
          <a:xfrm>
            <a:off x="5669280" y="3758184"/>
            <a:ext cx="5852160" cy="1005840"/>
          </a:xfrm>
          <a:prstGeom prst="roundRect">
            <a:avLst>
              <a:gd name="adj" fmla="val 5455"/>
            </a:avLst>
          </a:prstGeom>
          <a:solidFill>
            <a:schemeClr val="bg2"/>
          </a:solidFill>
          <a:ln w="12700">
            <a:solidFill>
              <a:schemeClr val="bg2"/>
            </a:solidFill>
            <a:prstDash val="solid"/>
          </a:ln>
        </p:spPr>
      </p:sp>
      <p:sp>
        <p:nvSpPr>
          <p:cNvPr id="18" name="Shape 15"/>
          <p:cNvSpPr/>
          <p:nvPr/>
        </p:nvSpPr>
        <p:spPr>
          <a:xfrm>
            <a:off x="5897880" y="4069080"/>
            <a:ext cx="384048" cy="384048"/>
          </a:xfrm>
          <a:prstGeom prst="ellipse">
            <a:avLst/>
          </a:prstGeom>
          <a:solidFill>
            <a:schemeClr val="accent1"/>
          </a:solidFill>
          <a:ln w="12700">
            <a:solidFill>
              <a:schemeClr val="accent1"/>
            </a:solidFill>
            <a:prstDash val="solid"/>
          </a:ln>
        </p:spPr>
      </p:sp>
      <p:sp>
        <p:nvSpPr>
          <p:cNvPr id="19" name="Text 16"/>
          <p:cNvSpPr txBox="1"/>
          <p:nvPr/>
        </p:nvSpPr>
        <p:spPr>
          <a:xfrm>
            <a:off x="5897880" y="4069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Text 17"/>
          <p:cNvSpPr txBox="1"/>
          <p:nvPr/>
        </p:nvSpPr>
        <p:spPr>
          <a:xfrm>
            <a:off x="6446520" y="3867912"/>
            <a:ext cx="4937760" cy="365760"/>
          </a:xfrm>
          <a:prstGeom prst="rect">
            <a:avLst/>
          </a:prstGeom>
          <a:noFill/>
          <a:ln/>
        </p:spPr>
        <p:txBody>
          <a:bodyPr wrap="square" lIns="0" tIns="0" rIns="0" bIns="0" rtlCol="0" anchor="ctr"/>
          <a:lstStyle/>
          <a:p>
            <a:pPr indent="0" marL="0">
              <a:buNone/>
            </a:pPr>
            <a:r>
              <a:rPr lang="en-US" sz="1500" b="1" dirty="0">
                <a:solidFill>
                  <a:schemeClr val="tx1"/>
                </a:solidFill>
              </a:rPr>
              <a:t>Community platforms have neither</a:t>
            </a:r>
            <a:endParaRPr lang="en-US" sz="1500" dirty="0"/>
          </a:p>
        </p:txBody>
      </p:sp>
      <p:sp>
        <p:nvSpPr>
          <p:cNvPr id="21" name="Text 18"/>
          <p:cNvSpPr txBox="1"/>
          <p:nvPr/>
        </p:nvSpPr>
        <p:spPr>
          <a:xfrm>
            <a:off x="6446520" y="4233672"/>
            <a:ext cx="4937760" cy="457200"/>
          </a:xfrm>
          <a:prstGeom prst="rect">
            <a:avLst/>
          </a:prstGeom>
          <a:noFill/>
          <a:ln/>
        </p:spPr>
        <p:txBody>
          <a:bodyPr wrap="square" lIns="0" tIns="0" rIns="0" bIns="0" rtlCol="0" anchor="t"/>
          <a:lstStyle/>
          <a:p>
            <a:pPr indent="0" marL="0">
              <a:buNone/>
            </a:pPr>
            <a:r>
              <a:rPr lang="en-US" sz="1250" dirty="0">
                <a:solidFill>
                  <a:schemeClr val="tx2"/>
                </a:solidFill>
              </a:rPr>
              <a:t>Where claims actually spread, there’s no verification and no path to action.</a:t>
            </a:r>
            <a:endParaRPr lang="en-US" sz="1250" dirty="0"/>
          </a:p>
        </p:txBody>
      </p:sp>
      <p:sp>
        <p:nvSpPr>
          <p:cNvPr id="22" name="Shape 19"/>
          <p:cNvSpPr/>
          <p:nvPr/>
        </p:nvSpPr>
        <p:spPr>
          <a:xfrm>
            <a:off x="640080" y="5166360"/>
            <a:ext cx="10881360" cy="960120"/>
          </a:xfrm>
          <a:prstGeom prst="roundRect">
            <a:avLst>
              <a:gd name="adj" fmla="val 5714"/>
            </a:avLst>
          </a:prstGeom>
          <a:solidFill>
            <a:schemeClr val="tx1"/>
          </a:solidFill>
          <a:ln w="12700">
            <a:solidFill>
              <a:schemeClr val="tx1"/>
            </a:solidFill>
            <a:prstDash val="solid"/>
          </a:ln>
        </p:spPr>
      </p:sp>
      <p:sp>
        <p:nvSpPr>
          <p:cNvPr id="23" name="Text 20"/>
          <p:cNvSpPr txBox="1"/>
          <p:nvPr/>
        </p:nvSpPr>
        <p:spPr>
          <a:xfrm>
            <a:off x="914400" y="5166360"/>
            <a:ext cx="10332720" cy="960120"/>
          </a:xfrm>
          <a:prstGeom prst="rect">
            <a:avLst/>
          </a:prstGeom>
          <a:noFill/>
          <a:ln/>
        </p:spPr>
        <p:txBody>
          <a:bodyPr wrap="square" lIns="0" tIns="0" rIns="0" bIns="0" rtlCol="0" anchor="ctr"/>
          <a:lstStyle/>
          <a:p>
            <a:pPr algn="ctr" indent="0" marL="0">
              <a:buNone/>
            </a:pPr>
            <a:r>
              <a:rPr lang="en-US" sz="1900" dirty="0">
                <a:solidFill>
                  <a:schemeClr val="bg1"/>
                </a:solidFill>
              </a:rPr>
              <a:t>Nobody connects </a:t>
            </a:r>
            <a:pPr algn="ctr" indent="0" marL="0">
              <a:buNone/>
            </a:pPr>
            <a:r>
              <a:rPr lang="en-US" sz="1900" i="1" dirty="0">
                <a:solidFill>
                  <a:schemeClr val="bg1"/>
                </a:solidFill>
              </a:rPr>
              <a:t>“I saw this claim”</a:t>
            </a:r>
            <a:pPr algn="ctr" indent="0" marL="0">
              <a:buNone/>
            </a:pPr>
            <a:r>
              <a:rPr lang="en-US" sz="1900" dirty="0">
                <a:solidFill>
                  <a:schemeClr val="bg1"/>
                </a:solidFill>
              </a:rPr>
              <a:t> to </a:t>
            </a:r>
            <a:pPr algn="ctr" indent="0" marL="0">
              <a:buNone/>
            </a:pPr>
            <a:r>
              <a:rPr lang="en-US" sz="1900" b="1" dirty="0">
                <a:solidFill>
                  <a:schemeClr val="accent3"/>
                </a:solidFill>
              </a:rPr>
              <a:t>“here is what I can do about it.”</a:t>
            </a:r>
            <a:endParaRPr lang="en-US" sz="19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The solution: one path, four steps</a:t>
            </a:r>
            <a:endParaRPr lang="en-US" sz="3800" dirty="0"/>
          </a:p>
        </p:txBody>
      </p:sp>
      <p:sp>
        <p:nvSpPr>
          <p:cNvPr id="4" name="Shape 1"/>
          <p:cNvSpPr/>
          <p:nvPr/>
        </p:nvSpPr>
        <p:spPr>
          <a:xfrm>
            <a:off x="640080" y="1600200"/>
            <a:ext cx="2596896" cy="3017520"/>
          </a:xfrm>
          <a:prstGeom prst="roundRect">
            <a:avLst>
              <a:gd name="adj" fmla="val 2113"/>
            </a:avLst>
          </a:prstGeom>
          <a:solidFill>
            <a:schemeClr val="bg2"/>
          </a:solidFill>
          <a:ln w="12700">
            <a:solidFill>
              <a:schemeClr val="bg2"/>
            </a:solidFill>
            <a:prstDash val="solid"/>
          </a:ln>
        </p:spPr>
      </p:sp>
      <p:sp>
        <p:nvSpPr>
          <p:cNvPr id="5" name="Shape 2"/>
          <p:cNvSpPr/>
          <p:nvPr/>
        </p:nvSpPr>
        <p:spPr>
          <a:xfrm>
            <a:off x="868680" y="1828800"/>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868680"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868680" y="2377440"/>
            <a:ext cx="2176272" cy="411480"/>
          </a:xfrm>
          <a:prstGeom prst="rect">
            <a:avLst/>
          </a:prstGeom>
          <a:noFill/>
          <a:ln/>
        </p:spPr>
        <p:txBody>
          <a:bodyPr wrap="square" lIns="0" tIns="0" rIns="0" bIns="0" rtlCol="0" anchor="ctr"/>
          <a:lstStyle/>
          <a:p>
            <a:pPr indent="0" marL="0">
              <a:buNone/>
            </a:pPr>
            <a:r>
              <a:rPr lang="en-US" sz="1600" b="1" dirty="0">
                <a:solidFill>
                  <a:schemeClr val="tx1"/>
                </a:solidFill>
              </a:rPr>
              <a:t>Bring a claim</a:t>
            </a:r>
            <a:endParaRPr lang="en-US" sz="1600" dirty="0"/>
          </a:p>
        </p:txBody>
      </p:sp>
      <p:sp>
        <p:nvSpPr>
          <p:cNvPr id="8" name="Text 5"/>
          <p:cNvSpPr txBox="1"/>
          <p:nvPr/>
        </p:nvSpPr>
        <p:spPr>
          <a:xfrm>
            <a:off x="868680" y="2816352"/>
            <a:ext cx="2176272" cy="1645920"/>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Paste the claim, pick a place. No login, no feed. Location is declared, never detected.</a:t>
            </a:r>
            <a:endParaRPr lang="en-US" sz="1250" dirty="0"/>
          </a:p>
        </p:txBody>
      </p:sp>
      <p:sp>
        <p:nvSpPr>
          <p:cNvPr id="9" name="Text 6"/>
          <p:cNvSpPr txBox="1"/>
          <p:nvPr/>
        </p:nvSpPr>
        <p:spPr>
          <a:xfrm>
            <a:off x="3200400" y="2880360"/>
            <a:ext cx="347472" cy="457200"/>
          </a:xfrm>
          <a:prstGeom prst="rect">
            <a:avLst/>
          </a:prstGeom>
          <a:noFill/>
          <a:ln/>
        </p:spPr>
        <p:txBody>
          <a:bodyPr wrap="square" lIns="0" tIns="0" rIns="0" bIns="0" rtlCol="0" anchor="ctr"/>
          <a:lstStyle/>
          <a:p>
            <a:pPr algn="ctr" indent="0" marL="0">
              <a:buNone/>
            </a:pPr>
            <a:r>
              <a:rPr lang="en-US" sz="2200" dirty="0">
                <a:solidFill>
                  <a:schemeClr val="accent1"/>
                </a:solidFill>
              </a:rPr>
              <a:t>→</a:t>
            </a:r>
            <a:endParaRPr lang="en-US" sz="2200" dirty="0"/>
          </a:p>
        </p:txBody>
      </p:sp>
      <p:sp>
        <p:nvSpPr>
          <p:cNvPr id="10" name="Shape 7"/>
          <p:cNvSpPr/>
          <p:nvPr/>
        </p:nvSpPr>
        <p:spPr>
          <a:xfrm>
            <a:off x="3502152" y="1600200"/>
            <a:ext cx="2596896" cy="3017520"/>
          </a:xfrm>
          <a:prstGeom prst="roundRect">
            <a:avLst>
              <a:gd name="adj" fmla="val 2113"/>
            </a:avLst>
          </a:prstGeom>
          <a:solidFill>
            <a:schemeClr val="bg2"/>
          </a:solidFill>
          <a:ln w="12700">
            <a:solidFill>
              <a:schemeClr val="bg2"/>
            </a:solidFill>
            <a:prstDash val="solid"/>
          </a:ln>
        </p:spPr>
      </p:sp>
      <p:sp>
        <p:nvSpPr>
          <p:cNvPr id="11" name="Shape 8"/>
          <p:cNvSpPr/>
          <p:nvPr/>
        </p:nvSpPr>
        <p:spPr>
          <a:xfrm>
            <a:off x="3730752" y="1828800"/>
            <a:ext cx="384048" cy="384048"/>
          </a:xfrm>
          <a:prstGeom prst="ellipse">
            <a:avLst/>
          </a:prstGeom>
          <a:solidFill>
            <a:schemeClr val="accent1"/>
          </a:solidFill>
          <a:ln w="12700">
            <a:solidFill>
              <a:schemeClr val="accent1"/>
            </a:solidFill>
            <a:prstDash val="solid"/>
          </a:ln>
        </p:spPr>
      </p:sp>
      <p:sp>
        <p:nvSpPr>
          <p:cNvPr id="12" name="Text 9"/>
          <p:cNvSpPr txBox="1"/>
          <p:nvPr/>
        </p:nvSpPr>
        <p:spPr>
          <a:xfrm>
            <a:off x="3730752"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3730752" y="2377440"/>
            <a:ext cx="2176272" cy="411480"/>
          </a:xfrm>
          <a:prstGeom prst="rect">
            <a:avLst/>
          </a:prstGeom>
          <a:noFill/>
          <a:ln/>
        </p:spPr>
        <p:txBody>
          <a:bodyPr wrap="square" lIns="0" tIns="0" rIns="0" bIns="0" rtlCol="0" anchor="ctr"/>
          <a:lstStyle/>
          <a:p>
            <a:pPr indent="0" marL="0">
              <a:buNone/>
            </a:pPr>
            <a:r>
              <a:rPr lang="en-US" sz="1600" b="1" dirty="0">
                <a:solidFill>
                  <a:schemeClr val="tx1"/>
                </a:solidFill>
              </a:rPr>
              <a:t>See the sources</a:t>
            </a:r>
            <a:endParaRPr lang="en-US" sz="1600" dirty="0"/>
          </a:p>
        </p:txBody>
      </p:sp>
      <p:sp>
        <p:nvSpPr>
          <p:cNvPr id="14" name="Text 11"/>
          <p:cNvSpPr txBox="1"/>
          <p:nvPr/>
        </p:nvSpPr>
        <p:spPr>
          <a:xfrm>
            <a:off x="3730752" y="2816352"/>
            <a:ext cx="2176272" cy="1645920"/>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A source card built from primary records, under a visible citation policy. Evidence, not verdict badges.</a:t>
            </a:r>
            <a:endParaRPr lang="en-US" sz="1250" dirty="0"/>
          </a:p>
        </p:txBody>
      </p:sp>
      <p:sp>
        <p:nvSpPr>
          <p:cNvPr id="15" name="Text 12"/>
          <p:cNvSpPr txBox="1"/>
          <p:nvPr/>
        </p:nvSpPr>
        <p:spPr>
          <a:xfrm>
            <a:off x="6062472" y="2880360"/>
            <a:ext cx="347472" cy="457200"/>
          </a:xfrm>
          <a:prstGeom prst="rect">
            <a:avLst/>
          </a:prstGeom>
          <a:noFill/>
          <a:ln/>
        </p:spPr>
        <p:txBody>
          <a:bodyPr wrap="square" lIns="0" tIns="0" rIns="0" bIns="0" rtlCol="0" anchor="ctr"/>
          <a:lstStyle/>
          <a:p>
            <a:pPr algn="ctr" indent="0" marL="0">
              <a:buNone/>
            </a:pPr>
            <a:r>
              <a:rPr lang="en-US" sz="2200" dirty="0">
                <a:solidFill>
                  <a:schemeClr val="accent1"/>
                </a:solidFill>
              </a:rPr>
              <a:t>→</a:t>
            </a:r>
            <a:endParaRPr lang="en-US" sz="2200" dirty="0"/>
          </a:p>
        </p:txBody>
      </p:sp>
      <p:sp>
        <p:nvSpPr>
          <p:cNvPr id="16" name="Shape 13"/>
          <p:cNvSpPr/>
          <p:nvPr/>
        </p:nvSpPr>
        <p:spPr>
          <a:xfrm>
            <a:off x="6364224" y="1600200"/>
            <a:ext cx="2596896" cy="3017520"/>
          </a:xfrm>
          <a:prstGeom prst="roundRect">
            <a:avLst>
              <a:gd name="adj" fmla="val 2113"/>
            </a:avLst>
          </a:prstGeom>
          <a:solidFill>
            <a:schemeClr val="bg2"/>
          </a:solidFill>
          <a:ln w="12700">
            <a:solidFill>
              <a:schemeClr val="bg2"/>
            </a:solidFill>
            <a:prstDash val="solid"/>
          </a:ln>
        </p:spPr>
      </p:sp>
      <p:sp>
        <p:nvSpPr>
          <p:cNvPr id="17" name="Shape 14"/>
          <p:cNvSpPr/>
          <p:nvPr/>
        </p:nvSpPr>
        <p:spPr>
          <a:xfrm>
            <a:off x="6592824" y="1828800"/>
            <a:ext cx="384048" cy="384048"/>
          </a:xfrm>
          <a:prstGeom prst="ellipse">
            <a:avLst/>
          </a:prstGeom>
          <a:solidFill>
            <a:schemeClr val="accent1"/>
          </a:solidFill>
          <a:ln w="12700">
            <a:solidFill>
              <a:schemeClr val="accent1"/>
            </a:solidFill>
            <a:prstDash val="solid"/>
          </a:ln>
        </p:spPr>
      </p:sp>
      <p:sp>
        <p:nvSpPr>
          <p:cNvPr id="18" name="Text 15"/>
          <p:cNvSpPr txBox="1"/>
          <p:nvPr/>
        </p:nvSpPr>
        <p:spPr>
          <a:xfrm>
            <a:off x="6592824"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6592824" y="2377440"/>
            <a:ext cx="2176272" cy="411480"/>
          </a:xfrm>
          <a:prstGeom prst="rect">
            <a:avLst/>
          </a:prstGeom>
          <a:noFill/>
          <a:ln/>
        </p:spPr>
        <p:txBody>
          <a:bodyPr wrap="square" lIns="0" tIns="0" rIns="0" bIns="0" rtlCol="0" anchor="ctr"/>
          <a:lstStyle/>
          <a:p>
            <a:pPr indent="0" marL="0">
              <a:buNone/>
            </a:pPr>
            <a:r>
              <a:rPr lang="en-US" sz="1600" b="1" dirty="0">
                <a:solidFill>
                  <a:schemeClr val="tx1"/>
                </a:solidFill>
              </a:rPr>
              <a:t>Open the record</a:t>
            </a:r>
            <a:endParaRPr lang="en-US" sz="1600" dirty="0"/>
          </a:p>
        </p:txBody>
      </p:sp>
      <p:sp>
        <p:nvSpPr>
          <p:cNvPr id="20" name="Text 17"/>
          <p:cNvSpPr txBox="1"/>
          <p:nvPr/>
        </p:nvSpPr>
        <p:spPr>
          <a:xfrm>
            <a:off x="6592824" y="2816352"/>
            <a:ext cx="2176272" cy="1645920"/>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The transparency layer: what was searched, used, rejected, and where AI was involved.</a:t>
            </a:r>
            <a:endParaRPr lang="en-US" sz="1250" dirty="0"/>
          </a:p>
        </p:txBody>
      </p:sp>
      <p:sp>
        <p:nvSpPr>
          <p:cNvPr id="21" name="Text 18"/>
          <p:cNvSpPr txBox="1"/>
          <p:nvPr/>
        </p:nvSpPr>
        <p:spPr>
          <a:xfrm>
            <a:off x="8924544" y="2880360"/>
            <a:ext cx="347472" cy="457200"/>
          </a:xfrm>
          <a:prstGeom prst="rect">
            <a:avLst/>
          </a:prstGeom>
          <a:noFill/>
          <a:ln/>
        </p:spPr>
        <p:txBody>
          <a:bodyPr wrap="square" lIns="0" tIns="0" rIns="0" bIns="0" rtlCol="0" anchor="ctr"/>
          <a:lstStyle/>
          <a:p>
            <a:pPr algn="ctr" indent="0" marL="0">
              <a:buNone/>
            </a:pPr>
            <a:r>
              <a:rPr lang="en-US" sz="2200" dirty="0">
                <a:solidFill>
                  <a:schemeClr val="accent1"/>
                </a:solidFill>
              </a:rPr>
              <a:t>→</a:t>
            </a:r>
            <a:endParaRPr lang="en-US" sz="2200" dirty="0"/>
          </a:p>
        </p:txBody>
      </p:sp>
      <p:sp>
        <p:nvSpPr>
          <p:cNvPr id="22" name="Shape 19"/>
          <p:cNvSpPr/>
          <p:nvPr/>
        </p:nvSpPr>
        <p:spPr>
          <a:xfrm>
            <a:off x="9226296" y="1600200"/>
            <a:ext cx="2596896" cy="3017520"/>
          </a:xfrm>
          <a:prstGeom prst="roundRect">
            <a:avLst>
              <a:gd name="adj" fmla="val 2113"/>
            </a:avLst>
          </a:prstGeom>
          <a:solidFill>
            <a:schemeClr val="bg2"/>
          </a:solidFill>
          <a:ln w="12700">
            <a:solidFill>
              <a:schemeClr val="bg2"/>
            </a:solidFill>
            <a:prstDash val="solid"/>
          </a:ln>
        </p:spPr>
      </p:sp>
      <p:sp>
        <p:nvSpPr>
          <p:cNvPr id="23" name="Shape 20"/>
          <p:cNvSpPr/>
          <p:nvPr/>
        </p:nvSpPr>
        <p:spPr>
          <a:xfrm>
            <a:off x="9454896" y="1828800"/>
            <a:ext cx="384048" cy="384048"/>
          </a:xfrm>
          <a:prstGeom prst="ellipse">
            <a:avLst/>
          </a:prstGeom>
          <a:solidFill>
            <a:schemeClr val="accent1"/>
          </a:solidFill>
          <a:ln w="12700">
            <a:solidFill>
              <a:schemeClr val="accent1"/>
            </a:solidFill>
            <a:prstDash val="solid"/>
          </a:ln>
        </p:spPr>
      </p:sp>
      <p:sp>
        <p:nvSpPr>
          <p:cNvPr id="24" name="Text 21"/>
          <p:cNvSpPr txBox="1"/>
          <p:nvPr/>
        </p:nvSpPr>
        <p:spPr>
          <a:xfrm>
            <a:off x="9454896"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2"/>
          <p:cNvSpPr txBox="1"/>
          <p:nvPr/>
        </p:nvSpPr>
        <p:spPr>
          <a:xfrm>
            <a:off x="9454896" y="2377440"/>
            <a:ext cx="2176272" cy="411480"/>
          </a:xfrm>
          <a:prstGeom prst="rect">
            <a:avLst/>
          </a:prstGeom>
          <a:noFill/>
          <a:ln/>
        </p:spPr>
        <p:txBody>
          <a:bodyPr wrap="square" lIns="0" tIns="0" rIns="0" bIns="0" rtlCol="0" anchor="ctr"/>
          <a:lstStyle/>
          <a:p>
            <a:pPr indent="0" marL="0">
              <a:buNone/>
            </a:pPr>
            <a:r>
              <a:rPr lang="en-US" sz="1600" b="1" dirty="0">
                <a:solidFill>
                  <a:schemeClr val="tx1"/>
                </a:solidFill>
              </a:rPr>
              <a:t>Get the next step</a:t>
            </a:r>
            <a:endParaRPr lang="en-US" sz="1600" dirty="0"/>
          </a:p>
        </p:txBody>
      </p:sp>
      <p:sp>
        <p:nvSpPr>
          <p:cNvPr id="26" name="Text 23"/>
          <p:cNvSpPr txBox="1"/>
          <p:nvPr/>
        </p:nvSpPr>
        <p:spPr>
          <a:xfrm>
            <a:off x="9454896" y="2816352"/>
            <a:ext cx="2176272" cy="1645920"/>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The upcoming meetings, the responsible officials, the organizations already on it, and where to find the records.</a:t>
            </a:r>
            <a:endParaRPr lang="en-US" sz="1250" dirty="0"/>
          </a:p>
        </p:txBody>
      </p:sp>
      <p:sp>
        <p:nvSpPr>
          <p:cNvPr id="27" name="Shape 24"/>
          <p:cNvSpPr/>
          <p:nvPr/>
        </p:nvSpPr>
        <p:spPr>
          <a:xfrm>
            <a:off x="640080" y="5029200"/>
            <a:ext cx="10881360" cy="1097280"/>
          </a:xfrm>
          <a:prstGeom prst="roundRect">
            <a:avLst>
              <a:gd name="adj" fmla="val 5000"/>
            </a:avLst>
          </a:prstGeom>
          <a:solidFill>
            <a:schemeClr val="tx1"/>
          </a:solidFill>
          <a:ln w="12700">
            <a:solidFill>
              <a:schemeClr val="tx1"/>
            </a:solidFill>
            <a:prstDash val="solid"/>
          </a:ln>
        </p:spPr>
      </p:sp>
      <p:sp>
        <p:nvSpPr>
          <p:cNvPr id="28" name="Text 25"/>
          <p:cNvSpPr txBox="1"/>
          <p:nvPr/>
        </p:nvSpPr>
        <p:spPr>
          <a:xfrm>
            <a:off x="914400" y="5029200"/>
            <a:ext cx="10332720" cy="1097280"/>
          </a:xfrm>
          <a:prstGeom prst="rect">
            <a:avLst/>
          </a:prstGeom>
          <a:noFill/>
          <a:ln/>
        </p:spPr>
        <p:txBody>
          <a:bodyPr wrap="square" lIns="0" tIns="0" rIns="0" bIns="0" rtlCol="0" anchor="ctr"/>
          <a:lstStyle/>
          <a:p>
            <a:pPr algn="ctr" indent="0" marL="0">
              <a:buNone/>
            </a:pPr>
            <a:r>
              <a:rPr lang="en-US" sz="1600" b="1" dirty="0">
                <a:solidFill>
                  <a:schemeClr val="bg1"/>
                </a:solidFill>
              </a:rPr>
              <a:t>Then the session ends and evaporates.  </a:t>
            </a:r>
            <a:pPr algn="ctr" indent="0" marL="0">
              <a:buNone/>
            </a:pPr>
            <a:r>
              <a:rPr lang="en-US" sz="1600" dirty="0">
                <a:solidFill>
                  <a:schemeClr val="bg1"/>
                </a:solidFill>
              </a:rPr>
              <a:t>No profiles, no tracking, no engagement optimization, no ads. The constraints are the product.</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It’s live, on real records</a:t>
            </a:r>
            <a:endParaRPr lang="en-US" sz="3800" dirty="0"/>
          </a:p>
        </p:txBody>
      </p:sp>
      <p:sp>
        <p:nvSpPr>
          <p:cNvPr id="4" name="Shape 1"/>
          <p:cNvSpPr/>
          <p:nvPr/>
        </p:nvSpPr>
        <p:spPr>
          <a:xfrm>
            <a:off x="640080" y="1417320"/>
            <a:ext cx="6437376" cy="4280957"/>
          </a:xfrm>
          <a:prstGeom prst="rect">
            <a:avLst/>
          </a:prstGeom>
          <a:solidFill>
            <a:schemeClr val="bg1"/>
          </a:solidFill>
          <a:ln w="9525">
            <a:solidFill>
              <a:schemeClr val="tx2"/>
            </a:solidFill>
            <a:prstDash val="solid"/>
          </a:ln>
        </p:spPr>
      </p:sp>
      <p:pic>
        <p:nvPicPr>
          <p:cNvPr id="5" name="Image 0" descr="Screenshot of the live Footnote site showing the claim 'The levy money is going to classrooms', its classification, the summary of what the records say, and the first primary source with its verified date.">    </p:cNvPr>
          <p:cNvPicPr>
            <a:picLocks noChangeAspect="1"/>
          </p:cNvPicPr>
          <p:nvPr/>
        </p:nvPicPr>
        <p:blipFill>
          <a:blip r:embed="rId1"/>
          <a:stretch>
            <a:fillRect/>
          </a:stretch>
        </p:blipFill>
        <p:spPr>
          <a:xfrm>
            <a:off x="658368" y="1435608"/>
            <a:ext cx="6400800" cy="4244381"/>
          </a:xfrm>
          <a:prstGeom prst="rect">
            <a:avLst/>
          </a:prstGeom>
        </p:spPr>
      </p:pic>
      <p:sp>
        <p:nvSpPr>
          <p:cNvPr id="6" name="Text 2"/>
          <p:cNvSpPr txBox="1"/>
          <p:nvPr/>
        </p:nvSpPr>
        <p:spPr>
          <a:xfrm>
            <a:off x="658368" y="5771429"/>
            <a:ext cx="6400800" cy="274320"/>
          </a:xfrm>
          <a:prstGeom prst="rect">
            <a:avLst/>
          </a:prstGeom>
          <a:noFill/>
          <a:ln/>
        </p:spPr>
        <p:txBody>
          <a:bodyPr wrap="square" lIns="0" tIns="0" rIns="0" bIns="0" rtlCol="0" anchor="t"/>
          <a:lstStyle/>
          <a:p>
            <a:pPr indent="0" marL="0">
              <a:buNone/>
            </a:pPr>
            <a:r>
              <a:rPr lang="en-US" sz="1100" i="1" dirty="0">
                <a:solidFill>
                  <a:schemeClr val="tx2"/>
                </a:solidFill>
              </a:rPr>
              <a:t>Live site, canonical claim, captured 2026-10-07</a:t>
            </a:r>
            <a:endParaRPr lang="en-US" sz="1100" dirty="0"/>
          </a:p>
        </p:txBody>
      </p:sp>
      <p:sp>
        <p:nvSpPr>
          <p:cNvPr id="7" name="Shape 3"/>
          <p:cNvSpPr/>
          <p:nvPr/>
        </p:nvSpPr>
        <p:spPr>
          <a:xfrm>
            <a:off x="7360920" y="1417320"/>
            <a:ext cx="4160520" cy="1371600"/>
          </a:xfrm>
          <a:prstGeom prst="roundRect">
            <a:avLst>
              <a:gd name="adj" fmla="val 4000"/>
            </a:avLst>
          </a:prstGeom>
          <a:solidFill>
            <a:schemeClr val="bg2"/>
          </a:solidFill>
          <a:ln w="12700">
            <a:solidFill>
              <a:schemeClr val="bg2"/>
            </a:solidFill>
            <a:prstDash val="solid"/>
          </a:ln>
        </p:spPr>
      </p:sp>
      <p:sp>
        <p:nvSpPr>
          <p:cNvPr id="8" name="Text 4"/>
          <p:cNvSpPr txBox="1"/>
          <p:nvPr/>
        </p:nvSpPr>
        <p:spPr>
          <a:xfrm>
            <a:off x="7589520" y="1417320"/>
            <a:ext cx="1463040" cy="137160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70%</a:t>
            </a:r>
            <a:endParaRPr lang="en-US" sz="4400" dirty="0"/>
          </a:p>
        </p:txBody>
      </p:sp>
      <p:sp>
        <p:nvSpPr>
          <p:cNvPr id="9" name="Text 5"/>
          <p:cNvSpPr txBox="1"/>
          <p:nvPr/>
        </p:nvSpPr>
        <p:spPr>
          <a:xfrm>
            <a:off x="9098280" y="1417320"/>
            <a:ext cx="2240280" cy="1371600"/>
          </a:xfrm>
          <a:prstGeom prst="rect">
            <a:avLst/>
          </a:prstGeom>
          <a:noFill/>
          <a:ln/>
        </p:spPr>
        <p:txBody>
          <a:bodyPr wrap="square" lIns="0" tIns="0" rIns="0" bIns="0" rtlCol="0" anchor="ctr"/>
          <a:lstStyle/>
          <a:p>
            <a:pPr indent="0" marL="0">
              <a:buNone/>
            </a:pPr>
            <a:r>
              <a:rPr lang="en-US" sz="1250" dirty="0">
                <a:solidFill>
                  <a:schemeClr val="tx1"/>
                </a:solidFill>
              </a:rPr>
              <a:t>of general fund spending went to instruction in FY2025: $265.4M of $378.7M, audited.</a:t>
            </a:r>
            <a:endParaRPr lang="en-US" sz="1250" dirty="0"/>
          </a:p>
        </p:txBody>
      </p:sp>
      <p:sp>
        <p:nvSpPr>
          <p:cNvPr id="10" name="Shape 6"/>
          <p:cNvSpPr/>
          <p:nvPr/>
        </p:nvSpPr>
        <p:spPr>
          <a:xfrm>
            <a:off x="7360920" y="2926080"/>
            <a:ext cx="4160520" cy="1691640"/>
          </a:xfrm>
          <a:prstGeom prst="roundRect">
            <a:avLst>
              <a:gd name="adj" fmla="val 3243"/>
            </a:avLst>
          </a:prstGeom>
          <a:solidFill>
            <a:schemeClr val="bg2"/>
          </a:solidFill>
          <a:ln w="12700">
            <a:solidFill>
              <a:schemeClr val="bg2"/>
            </a:solidFill>
            <a:prstDash val="solid"/>
          </a:ln>
        </p:spPr>
      </p:sp>
      <p:sp>
        <p:nvSpPr>
          <p:cNvPr id="11" name="Text 7"/>
          <p:cNvSpPr txBox="1"/>
          <p:nvPr/>
        </p:nvSpPr>
        <p:spPr>
          <a:xfrm>
            <a:off x="7589520" y="3017520"/>
            <a:ext cx="3703320" cy="320040"/>
          </a:xfrm>
          <a:prstGeom prst="rect">
            <a:avLst/>
          </a:prstGeom>
          <a:noFill/>
          <a:ln/>
        </p:spPr>
        <p:txBody>
          <a:bodyPr wrap="square" lIns="0" tIns="0" rIns="0" bIns="0" rtlCol="0" anchor="ctr"/>
          <a:lstStyle/>
          <a:p>
            <a:pPr indent="0" marL="0">
              <a:buNone/>
            </a:pPr>
            <a:r>
              <a:rPr lang="en-US" sz="1400" b="1" dirty="0">
                <a:solidFill>
                  <a:schemeClr val="tx1"/>
                </a:solidFill>
              </a:rPr>
              <a:t>Three primary records</a:t>
            </a:r>
            <a:endParaRPr lang="en-US" sz="1400" dirty="0"/>
          </a:p>
        </p:txBody>
      </p:sp>
      <p:sp>
        <p:nvSpPr>
          <p:cNvPr id="12" name="Text 8"/>
          <p:cNvSpPr txBox="1"/>
          <p:nvPr/>
        </p:nvSpPr>
        <p:spPr>
          <a:xfrm>
            <a:off x="7589520" y="3364992"/>
            <a:ext cx="3703320" cy="731520"/>
          </a:xfrm>
          <a:prstGeom prst="rect">
            <a:avLst/>
          </a:prstGeom>
          <a:noFill/>
          <a:ln/>
        </p:spPr>
        <p:txBody>
          <a:bodyPr wrap="square" lIns="0" tIns="0" rIns="0" bIns="0" rtlCol="0" anchor="t"/>
          <a:lstStyle/>
          <a:p>
            <a:pPr indent="0" marL="0">
              <a:spcAft>
                <a:spcPts val="300"/>
              </a:spcAft>
              <a:buNone/>
            </a:pPr>
            <a:r>
              <a:rPr lang="en-US" sz="1250" dirty="0">
                <a:solidFill>
                  <a:schemeClr val="tx1"/>
                </a:solidFill>
              </a:rPr>
              <a:t>Audited financial report, FY2025</a:t>
            </a:r>
            <a:endParaRPr lang="en-US" sz="1250" dirty="0"/>
          </a:p>
          <a:p>
            <a:pPr indent="0" marL="0">
              <a:spcAft>
                <a:spcPts val="300"/>
              </a:spcAft>
              <a:buNone/>
            </a:pPr>
            <a:r>
              <a:rPr lang="en-US" sz="1250" dirty="0">
                <a:solidFill>
                  <a:schemeClr val="tx1"/>
                </a:solidFill>
              </a:rPr>
              <a:t>Ballot language, March 2024</a:t>
            </a:r>
            <a:endParaRPr lang="en-US" sz="1250" dirty="0"/>
          </a:p>
          <a:p>
            <a:pPr indent="0" marL="0">
              <a:spcAft>
                <a:spcPts val="300"/>
              </a:spcAft>
              <a:buNone/>
            </a:pPr>
            <a:r>
              <a:rPr lang="en-US" sz="1250" dirty="0">
                <a:solidFill>
                  <a:schemeClr val="tx1"/>
                </a:solidFill>
              </a:rPr>
              <a:t>Board meeting minutes, August 2026</a:t>
            </a:r>
            <a:endParaRPr lang="en-US" sz="1250" dirty="0"/>
          </a:p>
        </p:txBody>
      </p:sp>
      <p:sp>
        <p:nvSpPr>
          <p:cNvPr id="13" name="Text 9"/>
          <p:cNvSpPr txBox="1"/>
          <p:nvPr/>
        </p:nvSpPr>
        <p:spPr>
          <a:xfrm>
            <a:off x="7589520" y="4114800"/>
            <a:ext cx="3703320" cy="411480"/>
          </a:xfrm>
          <a:prstGeom prst="rect">
            <a:avLst/>
          </a:prstGeom>
          <a:noFill/>
          <a:ln/>
        </p:spPr>
        <p:txBody>
          <a:bodyPr wrap="square" lIns="0" tIns="0" rIns="0" bIns="0" rtlCol="0" anchor="ctr"/>
          <a:lstStyle/>
          <a:p>
            <a:pPr indent="0" marL="0">
              <a:buNone/>
            </a:pPr>
            <a:r>
              <a:rPr lang="en-US" sz="1100" dirty="0">
                <a:solidFill>
                  <a:schemeClr val="tx2"/>
                </a:solidFill>
              </a:rPr>
              <a:t>Each links to the document itself and shows its verified date.</a:t>
            </a:r>
            <a:endParaRPr lang="en-US" sz="1100" dirty="0"/>
          </a:p>
        </p:txBody>
      </p:sp>
      <p:sp>
        <p:nvSpPr>
          <p:cNvPr id="14" name="Shape 10"/>
          <p:cNvSpPr/>
          <p:nvPr/>
        </p:nvSpPr>
        <p:spPr>
          <a:xfrm>
            <a:off x="7360920" y="4754880"/>
            <a:ext cx="1956816" cy="1268816"/>
          </a:xfrm>
          <a:prstGeom prst="rect">
            <a:avLst/>
          </a:prstGeom>
          <a:solidFill>
            <a:schemeClr val="bg1"/>
          </a:solidFill>
          <a:ln w="9525">
            <a:solidFill>
              <a:schemeClr val="tx2"/>
            </a:solidFill>
            <a:prstDash val="solid"/>
          </a:ln>
        </p:spPr>
      </p:sp>
      <p:pic>
        <p:nvPicPr>
          <p:cNvPr id="15" name="Image 1" descr="Earlier screenshot of the same card filled with placeholder text.">    </p:cNvPr>
          <p:cNvPicPr>
            <a:picLocks noChangeAspect="1"/>
          </p:cNvPicPr>
          <p:nvPr/>
        </p:nvPicPr>
        <p:blipFill>
          <a:blip r:embed="rId2"/>
          <a:stretch>
            <a:fillRect/>
          </a:stretch>
        </p:blipFill>
        <p:spPr>
          <a:xfrm>
            <a:off x="7379208" y="4773168"/>
            <a:ext cx="1920240" cy="1232240"/>
          </a:xfrm>
          <a:prstGeom prst="rect">
            <a:avLst/>
          </a:prstGeom>
        </p:spPr>
      </p:pic>
      <p:sp>
        <p:nvSpPr>
          <p:cNvPr id="16" name="Text 11"/>
          <p:cNvSpPr txBox="1"/>
          <p:nvPr/>
        </p:nvSpPr>
        <p:spPr>
          <a:xfrm>
            <a:off x="9509760" y="4773168"/>
            <a:ext cx="2011680" cy="1232240"/>
          </a:xfrm>
          <a:prstGeom prst="rect">
            <a:avLst/>
          </a:prstGeom>
          <a:noFill/>
          <a:ln/>
        </p:spPr>
        <p:txBody>
          <a:bodyPr wrap="square" lIns="0" tIns="0" rIns="0" bIns="0" rtlCol="0" anchor="ctr"/>
          <a:lstStyle/>
          <a:p>
            <a:pPr indent="0" marL="0">
              <a:buNone/>
            </a:pPr>
            <a:r>
              <a:rPr lang="en-US" sz="1250" b="1" dirty="0">
                <a:solidFill>
                  <a:schemeClr val="accent1"/>
                </a:solidFill>
              </a:rPr>
              <a:t>In August</a:t>
            </a:r>
            <a:endParaRPr lang="en-US" sz="1250" dirty="0"/>
          </a:p>
          <a:p>
            <a:pPr indent="0" marL="0">
              <a:buNone/>
            </a:pPr>
            <a:r>
              <a:rPr lang="en-US" sz="1250" dirty="0">
                <a:solidFill>
                  <a:schemeClr val="tx1"/>
                </a:solidFill>
              </a:rPr>
              <a:t>this card was all placeholders. Now every fact is real, sourced, and dated.</a:t>
            </a:r>
            <a:endParaRPr lang="en-US" sz="125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How a claim moves through Footnote</a:t>
            </a:r>
            <a:endParaRPr lang="en-US" sz="3800" dirty="0"/>
          </a:p>
        </p:txBody>
      </p:sp>
      <p:sp>
        <p:nvSpPr>
          <p:cNvPr id="4" name="Shape 1"/>
          <p:cNvSpPr/>
          <p:nvPr/>
        </p:nvSpPr>
        <p:spPr>
          <a:xfrm>
            <a:off x="3886200" y="1280160"/>
            <a:ext cx="4416552" cy="658368"/>
          </a:xfrm>
          <a:prstGeom prst="roundRect">
            <a:avLst>
              <a:gd name="adj" fmla="val 8333"/>
            </a:avLst>
          </a:prstGeom>
          <a:solidFill>
            <a:schemeClr val="bg2"/>
          </a:solidFill>
          <a:ln w="12700">
            <a:solidFill>
              <a:schemeClr val="bg2"/>
            </a:solidFill>
            <a:prstDash val="solid"/>
          </a:ln>
        </p:spPr>
      </p:sp>
      <p:sp>
        <p:nvSpPr>
          <p:cNvPr id="5" name="Text 2"/>
          <p:cNvSpPr txBox="1"/>
          <p:nvPr/>
        </p:nvSpPr>
        <p:spPr>
          <a:xfrm>
            <a:off x="3886200" y="1280160"/>
            <a:ext cx="4416552" cy="658368"/>
          </a:xfrm>
          <a:prstGeom prst="rect">
            <a:avLst/>
          </a:prstGeom>
          <a:noFill/>
          <a:ln/>
        </p:spPr>
        <p:txBody>
          <a:bodyPr wrap="square" lIns="0" tIns="0" rIns="0" bIns="0" rtlCol="0" anchor="ctr"/>
          <a:lstStyle/>
          <a:p>
            <a:pPr algn="ctr" indent="0" marL="0">
              <a:buNone/>
            </a:pPr>
            <a:r>
              <a:rPr lang="en-US" sz="1400" i="1" dirty="0">
                <a:solidFill>
                  <a:schemeClr val="tx1"/>
                </a:solidFill>
                <a:latin typeface="+mj-lt" pitchFamily="34" charset="0"/>
                <a:ea typeface="+mj-lt" pitchFamily="34" charset="-122"/>
                <a:cs typeface="+mj-lt" pitchFamily="34" charset="-120"/>
              </a:rPr>
              <a:t>“The levy money is going to classrooms”</a:t>
            </a:r>
            <a:endParaRPr lang="en-US" sz="1250" dirty="0"/>
          </a:p>
          <a:p>
            <a:pPr algn="ctr" indent="0" marL="0">
              <a:buNone/>
            </a:pPr>
            <a:r>
              <a:rPr lang="en-US" sz="1100" dirty="0">
                <a:solidFill>
                  <a:schemeClr val="tx2"/>
                </a:solidFill>
              </a:rPr>
              <a:t>+ Delaware County, Ohio</a:t>
            </a:r>
            <a:endParaRPr lang="en-US" sz="1250" dirty="0"/>
          </a:p>
        </p:txBody>
      </p:sp>
      <p:sp>
        <p:nvSpPr>
          <p:cNvPr id="6" name="Shape 3"/>
          <p:cNvSpPr/>
          <p:nvPr/>
        </p:nvSpPr>
        <p:spPr>
          <a:xfrm>
            <a:off x="6094476" y="1965960"/>
            <a:ext cx="0" cy="228600"/>
          </a:xfrm>
          <a:prstGeom prst="line">
            <a:avLst/>
          </a:prstGeom>
          <a:noFill/>
          <a:ln w="15875">
            <a:solidFill>
              <a:schemeClr val="tx2"/>
            </a:solidFill>
            <a:prstDash val="solid"/>
            <a:tailEnd type="triangle"/>
          </a:ln>
        </p:spPr>
      </p:sp>
      <p:sp>
        <p:nvSpPr>
          <p:cNvPr id="7" name="Shape 4"/>
          <p:cNvSpPr/>
          <p:nvPr/>
        </p:nvSpPr>
        <p:spPr>
          <a:xfrm>
            <a:off x="640080" y="2240280"/>
            <a:ext cx="2560320" cy="1463040"/>
          </a:xfrm>
          <a:prstGeom prst="roundRect">
            <a:avLst>
              <a:gd name="adj" fmla="val 3750"/>
            </a:avLst>
          </a:prstGeom>
          <a:solidFill>
            <a:schemeClr val="bg2"/>
          </a:solidFill>
          <a:ln w="12700">
            <a:solidFill>
              <a:schemeClr val="bg2"/>
            </a:solidFill>
            <a:prstDash val="solid"/>
          </a:ln>
        </p:spPr>
      </p:sp>
      <p:sp>
        <p:nvSpPr>
          <p:cNvPr id="8" name="Shape 5"/>
          <p:cNvSpPr/>
          <p:nvPr/>
        </p:nvSpPr>
        <p:spPr>
          <a:xfrm>
            <a:off x="822960" y="2395728"/>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822960" y="23957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7"/>
          <p:cNvSpPr txBox="1"/>
          <p:nvPr/>
        </p:nvSpPr>
        <p:spPr>
          <a:xfrm>
            <a:off x="1325880" y="2395728"/>
            <a:ext cx="1188720" cy="384048"/>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Classify</a:t>
            </a:r>
            <a:endParaRPr lang="en-US" sz="1600" dirty="0"/>
          </a:p>
        </p:txBody>
      </p:sp>
      <p:sp>
        <p:nvSpPr>
          <p:cNvPr id="11" name="Shape 8"/>
          <p:cNvSpPr/>
          <p:nvPr/>
        </p:nvSpPr>
        <p:spPr>
          <a:xfrm>
            <a:off x="2487168" y="2459736"/>
            <a:ext cx="530352" cy="256032"/>
          </a:xfrm>
          <a:prstGeom prst="roundRect">
            <a:avLst>
              <a:gd name="adj" fmla="val 50000"/>
            </a:avLst>
          </a:prstGeom>
          <a:solidFill>
            <a:schemeClr val="tx1"/>
          </a:solidFill>
          <a:ln w="12700">
            <a:solidFill>
              <a:schemeClr val="tx1"/>
            </a:solidFill>
            <a:prstDash val="solid"/>
          </a:ln>
        </p:spPr>
      </p:sp>
      <p:sp>
        <p:nvSpPr>
          <p:cNvPr id="12" name="Text 9"/>
          <p:cNvSpPr txBox="1"/>
          <p:nvPr/>
        </p:nvSpPr>
        <p:spPr>
          <a:xfrm>
            <a:off x="2487168" y="2459736"/>
            <a:ext cx="530352" cy="256032"/>
          </a:xfrm>
          <a:prstGeom prst="rect">
            <a:avLst/>
          </a:prstGeom>
          <a:noFill/>
          <a:ln/>
        </p:spPr>
        <p:txBody>
          <a:bodyPr wrap="square" lIns="0" tIns="0" rIns="0" bIns="0" rtlCol="0" anchor="ctr"/>
          <a:lstStyle/>
          <a:p>
            <a:pPr algn="ctr" indent="0" marL="0">
              <a:buNone/>
            </a:pPr>
            <a:r>
              <a:rPr lang="en-US" sz="950" b="1" dirty="0">
                <a:solidFill>
                  <a:schemeClr val="bg1"/>
                </a:solidFill>
              </a:rPr>
              <a:t>AI</a:t>
            </a:r>
            <a:endParaRPr lang="en-US" sz="950" dirty="0"/>
          </a:p>
        </p:txBody>
      </p:sp>
      <p:sp>
        <p:nvSpPr>
          <p:cNvPr id="13" name="Text 10"/>
          <p:cNvSpPr txBox="1"/>
          <p:nvPr/>
        </p:nvSpPr>
        <p:spPr>
          <a:xfrm>
            <a:off x="822960" y="2880360"/>
            <a:ext cx="2194560" cy="749808"/>
          </a:xfrm>
          <a:prstGeom prst="rect">
            <a:avLst/>
          </a:prstGeom>
          <a:noFill/>
          <a:ln/>
        </p:spPr>
        <p:txBody>
          <a:bodyPr wrap="square" lIns="0" tIns="0" rIns="0" bIns="0" rtlCol="0" anchor="t"/>
          <a:lstStyle/>
          <a:p>
            <a:pPr indent="0" marL="0">
              <a:buNone/>
            </a:pPr>
            <a:r>
              <a:rPr lang="en-US" sz="1200" dirty="0">
                <a:solidFill>
                  <a:schemeClr val="tx2"/>
                </a:solidFill>
              </a:rPr>
              <a:t>Claude Haiku labels the claim factual, opinion, or mixed. Strict JSON, validated in code.</a:t>
            </a:r>
            <a:endParaRPr lang="en-US" sz="1200" dirty="0"/>
          </a:p>
        </p:txBody>
      </p:sp>
      <p:sp>
        <p:nvSpPr>
          <p:cNvPr id="14" name="Shape 11"/>
          <p:cNvSpPr/>
          <p:nvPr/>
        </p:nvSpPr>
        <p:spPr>
          <a:xfrm>
            <a:off x="3218688" y="2971800"/>
            <a:ext cx="176784" cy="0"/>
          </a:xfrm>
          <a:prstGeom prst="line">
            <a:avLst/>
          </a:prstGeom>
          <a:noFill/>
          <a:ln w="15875">
            <a:solidFill>
              <a:schemeClr val="tx2"/>
            </a:solidFill>
            <a:prstDash val="solid"/>
            <a:tailEnd type="triangle"/>
          </a:ln>
        </p:spPr>
      </p:sp>
      <p:sp>
        <p:nvSpPr>
          <p:cNvPr id="15" name="Shape 12"/>
          <p:cNvSpPr/>
          <p:nvPr/>
        </p:nvSpPr>
        <p:spPr>
          <a:xfrm>
            <a:off x="1920240" y="3703320"/>
            <a:ext cx="0" cy="228600"/>
          </a:xfrm>
          <a:prstGeom prst="line">
            <a:avLst/>
          </a:prstGeom>
          <a:noFill/>
          <a:ln w="15875">
            <a:solidFill>
              <a:schemeClr val="tx2"/>
            </a:solidFill>
            <a:prstDash val="dash"/>
            <a:tailEnd type="none"/>
          </a:ln>
        </p:spPr>
      </p:sp>
      <p:sp>
        <p:nvSpPr>
          <p:cNvPr id="16" name="Shape 13"/>
          <p:cNvSpPr/>
          <p:nvPr/>
        </p:nvSpPr>
        <p:spPr>
          <a:xfrm>
            <a:off x="3413760" y="2240280"/>
            <a:ext cx="2560320" cy="1463040"/>
          </a:xfrm>
          <a:prstGeom prst="roundRect">
            <a:avLst>
              <a:gd name="adj" fmla="val 3750"/>
            </a:avLst>
          </a:prstGeom>
          <a:solidFill>
            <a:schemeClr val="bg2"/>
          </a:solidFill>
          <a:ln w="12700">
            <a:solidFill>
              <a:schemeClr val="bg2"/>
            </a:solidFill>
            <a:prstDash val="solid"/>
          </a:ln>
        </p:spPr>
      </p:sp>
      <p:sp>
        <p:nvSpPr>
          <p:cNvPr id="17" name="Shape 14"/>
          <p:cNvSpPr/>
          <p:nvPr/>
        </p:nvSpPr>
        <p:spPr>
          <a:xfrm>
            <a:off x="3596640" y="2395728"/>
            <a:ext cx="384048" cy="384048"/>
          </a:xfrm>
          <a:prstGeom prst="ellipse">
            <a:avLst/>
          </a:prstGeom>
          <a:solidFill>
            <a:schemeClr val="accent1"/>
          </a:solidFill>
          <a:ln w="12700">
            <a:solidFill>
              <a:schemeClr val="accent1"/>
            </a:solidFill>
            <a:prstDash val="solid"/>
          </a:ln>
        </p:spPr>
      </p:sp>
      <p:sp>
        <p:nvSpPr>
          <p:cNvPr id="18" name="Text 15"/>
          <p:cNvSpPr txBox="1"/>
          <p:nvPr/>
        </p:nvSpPr>
        <p:spPr>
          <a:xfrm>
            <a:off x="3596640" y="23957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9" name="Text 16"/>
          <p:cNvSpPr txBox="1"/>
          <p:nvPr/>
        </p:nvSpPr>
        <p:spPr>
          <a:xfrm>
            <a:off x="4099560" y="2395728"/>
            <a:ext cx="1188720" cy="384048"/>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Source</a:t>
            </a:r>
            <a:endParaRPr lang="en-US" sz="1600" dirty="0"/>
          </a:p>
        </p:txBody>
      </p:sp>
      <p:sp>
        <p:nvSpPr>
          <p:cNvPr id="20" name="Text 17"/>
          <p:cNvSpPr txBox="1"/>
          <p:nvPr/>
        </p:nvSpPr>
        <p:spPr>
          <a:xfrm>
            <a:off x="3596640" y="2880360"/>
            <a:ext cx="2194560" cy="749808"/>
          </a:xfrm>
          <a:prstGeom prst="rect">
            <a:avLst/>
          </a:prstGeom>
          <a:noFill/>
          <a:ln/>
        </p:spPr>
        <p:txBody>
          <a:bodyPr wrap="square" lIns="0" tIns="0" rIns="0" bIns="0" rtlCol="0" anchor="t"/>
          <a:lstStyle/>
          <a:p>
            <a:pPr indent="0" marL="0">
              <a:buNone/>
            </a:pPr>
            <a:r>
              <a:rPr lang="en-US" sz="1200" dirty="0">
                <a:solidFill>
                  <a:schemeClr val="tx2"/>
                </a:solidFill>
              </a:rPr>
              <a:t>Picks the hand-verified record set that matches the claim, or none if nothing matches.</a:t>
            </a:r>
            <a:endParaRPr lang="en-US" sz="1200" dirty="0"/>
          </a:p>
        </p:txBody>
      </p:sp>
      <p:sp>
        <p:nvSpPr>
          <p:cNvPr id="21" name="Shape 18"/>
          <p:cNvSpPr/>
          <p:nvPr/>
        </p:nvSpPr>
        <p:spPr>
          <a:xfrm>
            <a:off x="5992368" y="2971800"/>
            <a:ext cx="176784" cy="0"/>
          </a:xfrm>
          <a:prstGeom prst="line">
            <a:avLst/>
          </a:prstGeom>
          <a:noFill/>
          <a:ln w="15875">
            <a:solidFill>
              <a:schemeClr val="tx2"/>
            </a:solidFill>
            <a:prstDash val="solid"/>
            <a:tailEnd type="triangle"/>
          </a:ln>
        </p:spPr>
      </p:sp>
      <p:sp>
        <p:nvSpPr>
          <p:cNvPr id="22" name="Shape 19"/>
          <p:cNvSpPr/>
          <p:nvPr/>
        </p:nvSpPr>
        <p:spPr>
          <a:xfrm>
            <a:off x="4693920" y="3703320"/>
            <a:ext cx="0" cy="228600"/>
          </a:xfrm>
          <a:prstGeom prst="line">
            <a:avLst/>
          </a:prstGeom>
          <a:noFill/>
          <a:ln w="15875">
            <a:solidFill>
              <a:schemeClr val="tx2"/>
            </a:solidFill>
            <a:prstDash val="dash"/>
            <a:tailEnd type="none"/>
          </a:ln>
        </p:spPr>
      </p:sp>
      <p:sp>
        <p:nvSpPr>
          <p:cNvPr id="23" name="Shape 20"/>
          <p:cNvSpPr/>
          <p:nvPr/>
        </p:nvSpPr>
        <p:spPr>
          <a:xfrm>
            <a:off x="6187440" y="2240280"/>
            <a:ext cx="2560320" cy="1463040"/>
          </a:xfrm>
          <a:prstGeom prst="roundRect">
            <a:avLst>
              <a:gd name="adj" fmla="val 3750"/>
            </a:avLst>
          </a:prstGeom>
          <a:solidFill>
            <a:schemeClr val="bg2"/>
          </a:solidFill>
          <a:ln w="12700">
            <a:solidFill>
              <a:schemeClr val="bg2"/>
            </a:solidFill>
            <a:prstDash val="solid"/>
          </a:ln>
        </p:spPr>
      </p:sp>
      <p:sp>
        <p:nvSpPr>
          <p:cNvPr id="24" name="Shape 21"/>
          <p:cNvSpPr/>
          <p:nvPr/>
        </p:nvSpPr>
        <p:spPr>
          <a:xfrm>
            <a:off x="6370320" y="2395728"/>
            <a:ext cx="384048" cy="384048"/>
          </a:xfrm>
          <a:prstGeom prst="ellipse">
            <a:avLst/>
          </a:prstGeom>
          <a:solidFill>
            <a:schemeClr val="accent1"/>
          </a:solidFill>
          <a:ln w="12700">
            <a:solidFill>
              <a:schemeClr val="accent1"/>
            </a:solidFill>
            <a:prstDash val="solid"/>
          </a:ln>
        </p:spPr>
      </p:sp>
      <p:sp>
        <p:nvSpPr>
          <p:cNvPr id="25" name="Text 22"/>
          <p:cNvSpPr txBox="1"/>
          <p:nvPr/>
        </p:nvSpPr>
        <p:spPr>
          <a:xfrm>
            <a:off x="6370320" y="23957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6" name="Text 23"/>
          <p:cNvSpPr txBox="1"/>
          <p:nvPr/>
        </p:nvSpPr>
        <p:spPr>
          <a:xfrm>
            <a:off x="6873240" y="2395728"/>
            <a:ext cx="1188720" cy="384048"/>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Policy</a:t>
            </a:r>
            <a:endParaRPr lang="en-US" sz="1600" dirty="0"/>
          </a:p>
        </p:txBody>
      </p:sp>
      <p:sp>
        <p:nvSpPr>
          <p:cNvPr id="27" name="Shape 24"/>
          <p:cNvSpPr/>
          <p:nvPr/>
        </p:nvSpPr>
        <p:spPr>
          <a:xfrm>
            <a:off x="8034528" y="2459736"/>
            <a:ext cx="530352" cy="256032"/>
          </a:xfrm>
          <a:prstGeom prst="roundRect">
            <a:avLst>
              <a:gd name="adj" fmla="val 50000"/>
            </a:avLst>
          </a:prstGeom>
          <a:solidFill>
            <a:schemeClr val="tx1"/>
          </a:solidFill>
          <a:ln w="12700">
            <a:solidFill>
              <a:schemeClr val="tx1"/>
            </a:solidFill>
            <a:prstDash val="solid"/>
          </a:ln>
        </p:spPr>
      </p:sp>
      <p:sp>
        <p:nvSpPr>
          <p:cNvPr id="28" name="Text 25"/>
          <p:cNvSpPr txBox="1"/>
          <p:nvPr/>
        </p:nvSpPr>
        <p:spPr>
          <a:xfrm>
            <a:off x="8034528" y="2459736"/>
            <a:ext cx="530352" cy="256032"/>
          </a:xfrm>
          <a:prstGeom prst="rect">
            <a:avLst/>
          </a:prstGeom>
          <a:noFill/>
          <a:ln/>
        </p:spPr>
        <p:txBody>
          <a:bodyPr wrap="square" lIns="0" tIns="0" rIns="0" bIns="0" rtlCol="0" anchor="ctr"/>
          <a:lstStyle/>
          <a:p>
            <a:pPr algn="ctr" indent="0" marL="0">
              <a:buNone/>
            </a:pPr>
            <a:r>
              <a:rPr lang="en-US" sz="950" b="1" dirty="0">
                <a:solidFill>
                  <a:schemeClr val="bg1"/>
                </a:solidFill>
              </a:rPr>
              <a:t>AI</a:t>
            </a:r>
            <a:endParaRPr lang="en-US" sz="950" dirty="0"/>
          </a:p>
        </p:txBody>
      </p:sp>
      <p:sp>
        <p:nvSpPr>
          <p:cNvPr id="29" name="Text 26"/>
          <p:cNvSpPr txBox="1"/>
          <p:nvPr/>
        </p:nvSpPr>
        <p:spPr>
          <a:xfrm>
            <a:off x="6370320" y="2880360"/>
            <a:ext cx="2194560" cy="749808"/>
          </a:xfrm>
          <a:prstGeom prst="rect">
            <a:avLst/>
          </a:prstGeom>
          <a:noFill/>
          <a:ln/>
        </p:spPr>
        <p:txBody>
          <a:bodyPr wrap="square" lIns="0" tIns="0" rIns="0" bIns="0" rtlCol="0" anchor="t"/>
          <a:lstStyle/>
          <a:p>
            <a:pPr indent="0" marL="0">
              <a:buNone/>
            </a:pPr>
            <a:r>
              <a:rPr lang="en-US" sz="1200" dirty="0">
                <a:solidFill>
                  <a:schemeClr val="tx2"/>
                </a:solidFill>
              </a:rPr>
              <a:t>Keeps or rejects each source by tier. Haiku drafts the summary; rules check every sentence.</a:t>
            </a:r>
            <a:endParaRPr lang="en-US" sz="1200" dirty="0"/>
          </a:p>
        </p:txBody>
      </p:sp>
      <p:sp>
        <p:nvSpPr>
          <p:cNvPr id="30" name="Shape 27"/>
          <p:cNvSpPr/>
          <p:nvPr/>
        </p:nvSpPr>
        <p:spPr>
          <a:xfrm>
            <a:off x="8766048" y="2971800"/>
            <a:ext cx="176784" cy="0"/>
          </a:xfrm>
          <a:prstGeom prst="line">
            <a:avLst/>
          </a:prstGeom>
          <a:noFill/>
          <a:ln w="15875">
            <a:solidFill>
              <a:schemeClr val="tx2"/>
            </a:solidFill>
            <a:prstDash val="solid"/>
            <a:tailEnd type="triangle"/>
          </a:ln>
        </p:spPr>
      </p:sp>
      <p:sp>
        <p:nvSpPr>
          <p:cNvPr id="31" name="Shape 28"/>
          <p:cNvSpPr/>
          <p:nvPr/>
        </p:nvSpPr>
        <p:spPr>
          <a:xfrm>
            <a:off x="7467600" y="3703320"/>
            <a:ext cx="0" cy="228600"/>
          </a:xfrm>
          <a:prstGeom prst="line">
            <a:avLst/>
          </a:prstGeom>
          <a:noFill/>
          <a:ln w="15875">
            <a:solidFill>
              <a:schemeClr val="tx2"/>
            </a:solidFill>
            <a:prstDash val="dash"/>
            <a:tailEnd type="none"/>
          </a:ln>
        </p:spPr>
      </p:sp>
      <p:sp>
        <p:nvSpPr>
          <p:cNvPr id="32" name="Shape 29"/>
          <p:cNvSpPr/>
          <p:nvPr/>
        </p:nvSpPr>
        <p:spPr>
          <a:xfrm>
            <a:off x="8961120" y="2240280"/>
            <a:ext cx="2560320" cy="1463040"/>
          </a:xfrm>
          <a:prstGeom prst="roundRect">
            <a:avLst>
              <a:gd name="adj" fmla="val 3750"/>
            </a:avLst>
          </a:prstGeom>
          <a:solidFill>
            <a:schemeClr val="bg2"/>
          </a:solidFill>
          <a:ln w="12700">
            <a:solidFill>
              <a:schemeClr val="bg2"/>
            </a:solidFill>
            <a:prstDash val="solid"/>
          </a:ln>
        </p:spPr>
      </p:sp>
      <p:sp>
        <p:nvSpPr>
          <p:cNvPr id="33" name="Shape 30"/>
          <p:cNvSpPr/>
          <p:nvPr/>
        </p:nvSpPr>
        <p:spPr>
          <a:xfrm>
            <a:off x="9144000" y="2395728"/>
            <a:ext cx="384048" cy="384048"/>
          </a:xfrm>
          <a:prstGeom prst="ellipse">
            <a:avLst/>
          </a:prstGeom>
          <a:solidFill>
            <a:schemeClr val="accent1"/>
          </a:solidFill>
          <a:ln w="12700">
            <a:solidFill>
              <a:schemeClr val="accent1"/>
            </a:solidFill>
            <a:prstDash val="solid"/>
          </a:ln>
        </p:spPr>
      </p:sp>
      <p:sp>
        <p:nvSpPr>
          <p:cNvPr id="34" name="Text 31"/>
          <p:cNvSpPr txBox="1"/>
          <p:nvPr/>
        </p:nvSpPr>
        <p:spPr>
          <a:xfrm>
            <a:off x="9144000" y="23957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5" name="Text 32"/>
          <p:cNvSpPr txBox="1"/>
          <p:nvPr/>
        </p:nvSpPr>
        <p:spPr>
          <a:xfrm>
            <a:off x="9646920" y="2395728"/>
            <a:ext cx="1188720" cy="384048"/>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Invite</a:t>
            </a:r>
            <a:endParaRPr lang="en-US" sz="1600" dirty="0"/>
          </a:p>
        </p:txBody>
      </p:sp>
      <p:sp>
        <p:nvSpPr>
          <p:cNvPr id="36" name="Text 33"/>
          <p:cNvSpPr txBox="1"/>
          <p:nvPr/>
        </p:nvSpPr>
        <p:spPr>
          <a:xfrm>
            <a:off x="9144000" y="2880360"/>
            <a:ext cx="2194560" cy="749808"/>
          </a:xfrm>
          <a:prstGeom prst="rect">
            <a:avLst/>
          </a:prstGeom>
          <a:noFill/>
          <a:ln/>
        </p:spPr>
        <p:txBody>
          <a:bodyPr wrap="square" lIns="0" tIns="0" rIns="0" bIns="0" rtlCol="0" anchor="t"/>
          <a:lstStyle/>
          <a:p>
            <a:pPr indent="0" marL="0">
              <a:buNone/>
            </a:pPr>
            <a:r>
              <a:rPr lang="en-US" sz="1200" dirty="0">
                <a:solidFill>
                  <a:schemeClr val="tx2"/>
                </a:solidFill>
              </a:rPr>
              <a:t>Meetings, officials, organizations, and resources, closest to the claim first.</a:t>
            </a:r>
            <a:endParaRPr lang="en-US" sz="1200" dirty="0"/>
          </a:p>
        </p:txBody>
      </p:sp>
      <p:sp>
        <p:nvSpPr>
          <p:cNvPr id="37" name="Shape 34"/>
          <p:cNvSpPr/>
          <p:nvPr/>
        </p:nvSpPr>
        <p:spPr>
          <a:xfrm>
            <a:off x="10241280" y="3703320"/>
            <a:ext cx="0" cy="228600"/>
          </a:xfrm>
          <a:prstGeom prst="line">
            <a:avLst/>
          </a:prstGeom>
          <a:noFill/>
          <a:ln w="15875">
            <a:solidFill>
              <a:schemeClr val="tx2"/>
            </a:solidFill>
            <a:prstDash val="dash"/>
            <a:tailEnd type="none"/>
          </a:ln>
        </p:spPr>
      </p:sp>
      <p:sp>
        <p:nvSpPr>
          <p:cNvPr id="38" name="Shape 35"/>
          <p:cNvSpPr/>
          <p:nvPr/>
        </p:nvSpPr>
        <p:spPr>
          <a:xfrm>
            <a:off x="640080" y="3931920"/>
            <a:ext cx="10881360" cy="713232"/>
          </a:xfrm>
          <a:prstGeom prst="roundRect">
            <a:avLst>
              <a:gd name="adj" fmla="val 7692"/>
            </a:avLst>
          </a:prstGeom>
          <a:solidFill>
            <a:schemeClr val="tx1"/>
          </a:solidFill>
          <a:ln w="12700">
            <a:solidFill>
              <a:schemeClr val="tx1"/>
            </a:solidFill>
            <a:prstDash val="solid"/>
          </a:ln>
        </p:spPr>
      </p:sp>
      <p:sp>
        <p:nvSpPr>
          <p:cNvPr id="39" name="Text 36"/>
          <p:cNvSpPr txBox="1"/>
          <p:nvPr/>
        </p:nvSpPr>
        <p:spPr>
          <a:xfrm>
            <a:off x="868680" y="3931920"/>
            <a:ext cx="10424160" cy="713232"/>
          </a:xfrm>
          <a:prstGeom prst="rect">
            <a:avLst/>
          </a:prstGeom>
          <a:noFill/>
          <a:ln/>
        </p:spPr>
        <p:txBody>
          <a:bodyPr wrap="square" lIns="0" tIns="0" rIns="0" bIns="0" rtlCol="0" anchor="ctr"/>
          <a:lstStyle/>
          <a:p>
            <a:pPr indent="0" marL="0">
              <a:buNone/>
            </a:pPr>
            <a:r>
              <a:rPr lang="en-US" sz="1500" b="1" dirty="0">
                <a:solidFill>
                  <a:schemeClr val="bg1"/>
                </a:solidFill>
                <a:latin typeface="+mj-lt" pitchFamily="34" charset="0"/>
                <a:ea typeface="+mj-lt" pitchFamily="34" charset="-122"/>
                <a:cs typeface="+mj-lt" pitchFamily="34" charset="-120"/>
              </a:rPr>
              <a:t>Transparency record   </a:t>
            </a:r>
            <a:pPr indent="0" marL="0">
              <a:buNone/>
            </a:pPr>
            <a:r>
              <a:rPr lang="en-US" sz="1200" dirty="0">
                <a:solidFill>
                  <a:schemeClr val="accent2"/>
                </a:solidFill>
              </a:rPr>
              <a:t>written by every stage: model and latency, sources kept and rejected, sentences kept and dropped, verified dates</a:t>
            </a:r>
            <a:endParaRPr lang="en-US" sz="1250" dirty="0"/>
          </a:p>
        </p:txBody>
      </p:sp>
      <p:sp>
        <p:nvSpPr>
          <p:cNvPr id="40" name="Shape 37"/>
          <p:cNvSpPr/>
          <p:nvPr/>
        </p:nvSpPr>
        <p:spPr>
          <a:xfrm>
            <a:off x="6094476" y="4663440"/>
            <a:ext cx="0" cy="228600"/>
          </a:xfrm>
          <a:prstGeom prst="line">
            <a:avLst/>
          </a:prstGeom>
          <a:noFill/>
          <a:ln w="15875">
            <a:solidFill>
              <a:schemeClr val="tx2"/>
            </a:solidFill>
            <a:prstDash val="solid"/>
            <a:tailEnd type="triangle"/>
          </a:ln>
        </p:spPr>
      </p:sp>
      <p:sp>
        <p:nvSpPr>
          <p:cNvPr id="41" name="Shape 38"/>
          <p:cNvSpPr/>
          <p:nvPr/>
        </p:nvSpPr>
        <p:spPr>
          <a:xfrm>
            <a:off x="640080" y="4937760"/>
            <a:ext cx="3474720" cy="868680"/>
          </a:xfrm>
          <a:prstGeom prst="roundRect">
            <a:avLst>
              <a:gd name="adj" fmla="val 6316"/>
            </a:avLst>
          </a:prstGeom>
          <a:solidFill>
            <a:schemeClr val="bg1"/>
          </a:solidFill>
          <a:ln w="9525">
            <a:solidFill>
              <a:schemeClr val="tx2"/>
            </a:solidFill>
            <a:prstDash val="solid"/>
          </a:ln>
        </p:spPr>
      </p:sp>
      <p:sp>
        <p:nvSpPr>
          <p:cNvPr id="42" name="Text 39"/>
          <p:cNvSpPr txBox="1"/>
          <p:nvPr/>
        </p:nvSpPr>
        <p:spPr>
          <a:xfrm>
            <a:off x="841248" y="5001768"/>
            <a:ext cx="3108960" cy="347472"/>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Source card</a:t>
            </a:r>
            <a:endParaRPr lang="en-US" sz="1400" dirty="0"/>
          </a:p>
        </p:txBody>
      </p:sp>
      <p:sp>
        <p:nvSpPr>
          <p:cNvPr id="43" name="Text 40"/>
          <p:cNvSpPr txBox="1"/>
          <p:nvPr/>
        </p:nvSpPr>
        <p:spPr>
          <a:xfrm>
            <a:off x="841248" y="5358384"/>
            <a:ext cx="3108960" cy="365760"/>
          </a:xfrm>
          <a:prstGeom prst="rect">
            <a:avLst/>
          </a:prstGeom>
          <a:noFill/>
          <a:ln/>
        </p:spPr>
        <p:txBody>
          <a:bodyPr wrap="square" lIns="0" tIns="0" rIns="0" bIns="0" rtlCol="0" anchor="ctr"/>
          <a:lstStyle/>
          <a:p>
            <a:pPr indent="0" marL="0">
              <a:buNone/>
            </a:pPr>
            <a:r>
              <a:rPr lang="en-US" sz="1200" dirty="0">
                <a:solidFill>
                  <a:schemeClr val="tx2"/>
                </a:solidFill>
              </a:rPr>
              <a:t>What the records say, cited to primary sources.</a:t>
            </a:r>
            <a:endParaRPr lang="en-US" sz="1200" dirty="0"/>
          </a:p>
        </p:txBody>
      </p:sp>
      <p:sp>
        <p:nvSpPr>
          <p:cNvPr id="44" name="Shape 41"/>
          <p:cNvSpPr/>
          <p:nvPr/>
        </p:nvSpPr>
        <p:spPr>
          <a:xfrm>
            <a:off x="4343400" y="4937760"/>
            <a:ext cx="3474720" cy="868680"/>
          </a:xfrm>
          <a:prstGeom prst="roundRect">
            <a:avLst>
              <a:gd name="adj" fmla="val 6316"/>
            </a:avLst>
          </a:prstGeom>
          <a:solidFill>
            <a:schemeClr val="bg1"/>
          </a:solidFill>
          <a:ln w="9525">
            <a:solidFill>
              <a:schemeClr val="tx2"/>
            </a:solidFill>
            <a:prstDash val="solid"/>
          </a:ln>
        </p:spPr>
      </p:sp>
      <p:sp>
        <p:nvSpPr>
          <p:cNvPr id="45" name="Text 42"/>
          <p:cNvSpPr txBox="1"/>
          <p:nvPr/>
        </p:nvSpPr>
        <p:spPr>
          <a:xfrm>
            <a:off x="4544568" y="5001768"/>
            <a:ext cx="3108960" cy="347472"/>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Civic invitation</a:t>
            </a:r>
            <a:endParaRPr lang="en-US" sz="1400" dirty="0"/>
          </a:p>
        </p:txBody>
      </p:sp>
      <p:sp>
        <p:nvSpPr>
          <p:cNvPr id="46" name="Text 43"/>
          <p:cNvSpPr txBox="1"/>
          <p:nvPr/>
        </p:nvSpPr>
        <p:spPr>
          <a:xfrm>
            <a:off x="4544568" y="5358384"/>
            <a:ext cx="3108960" cy="365760"/>
          </a:xfrm>
          <a:prstGeom prst="rect">
            <a:avLst/>
          </a:prstGeom>
          <a:noFill/>
          <a:ln/>
        </p:spPr>
        <p:txBody>
          <a:bodyPr wrap="square" lIns="0" tIns="0" rIns="0" bIns="0" rtlCol="0" anchor="ctr"/>
          <a:lstStyle/>
          <a:p>
            <a:pPr indent="0" marL="0">
              <a:buNone/>
            </a:pPr>
            <a:r>
              <a:rPr lang="en-US" sz="1200" dirty="0">
                <a:solidFill>
                  <a:schemeClr val="tx2"/>
                </a:solidFill>
              </a:rPr>
              <a:t>Who to contact and where to show up.</a:t>
            </a:r>
            <a:endParaRPr lang="en-US" sz="1200" dirty="0"/>
          </a:p>
        </p:txBody>
      </p:sp>
      <p:sp>
        <p:nvSpPr>
          <p:cNvPr id="47" name="Shape 44"/>
          <p:cNvSpPr/>
          <p:nvPr/>
        </p:nvSpPr>
        <p:spPr>
          <a:xfrm>
            <a:off x="8046720" y="4937760"/>
            <a:ext cx="3474720" cy="868680"/>
          </a:xfrm>
          <a:prstGeom prst="roundRect">
            <a:avLst>
              <a:gd name="adj" fmla="val 6316"/>
            </a:avLst>
          </a:prstGeom>
          <a:solidFill>
            <a:schemeClr val="bg1"/>
          </a:solidFill>
          <a:ln w="9525">
            <a:solidFill>
              <a:schemeClr val="tx2"/>
            </a:solidFill>
            <a:prstDash val="solid"/>
          </a:ln>
        </p:spPr>
      </p:sp>
      <p:sp>
        <p:nvSpPr>
          <p:cNvPr id="48" name="Text 45"/>
          <p:cNvSpPr txBox="1"/>
          <p:nvPr/>
        </p:nvSpPr>
        <p:spPr>
          <a:xfrm>
            <a:off x="8247888" y="5001768"/>
            <a:ext cx="3108960" cy="347472"/>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Transparency panel</a:t>
            </a:r>
            <a:endParaRPr lang="en-US" sz="1400" dirty="0"/>
          </a:p>
        </p:txBody>
      </p:sp>
      <p:sp>
        <p:nvSpPr>
          <p:cNvPr id="49" name="Text 46"/>
          <p:cNvSpPr txBox="1"/>
          <p:nvPr/>
        </p:nvSpPr>
        <p:spPr>
          <a:xfrm>
            <a:off x="8247888" y="5358384"/>
            <a:ext cx="3108960" cy="365760"/>
          </a:xfrm>
          <a:prstGeom prst="rect">
            <a:avLst/>
          </a:prstGeom>
          <a:noFill/>
          <a:ln/>
        </p:spPr>
        <p:txBody>
          <a:bodyPr wrap="square" lIns="0" tIns="0" rIns="0" bIns="0" rtlCol="0" anchor="ctr"/>
          <a:lstStyle/>
          <a:p>
            <a:pPr indent="0" marL="0">
              <a:buNone/>
            </a:pPr>
            <a:r>
              <a:rPr lang="en-US" sz="1200" dirty="0">
                <a:solidFill>
                  <a:schemeClr val="tx2"/>
                </a:solidFill>
              </a:rPr>
              <a:t>How the answer was assembled, stage by stage.</a:t>
            </a:r>
            <a:endParaRPr lang="en-US" sz="1200" dirty="0"/>
          </a:p>
        </p:txBody>
      </p:sp>
      <p:sp>
        <p:nvSpPr>
          <p:cNvPr id="50" name="Text 47"/>
          <p:cNvSpPr txBox="1"/>
          <p:nvPr/>
        </p:nvSpPr>
        <p:spPr>
          <a:xfrm>
            <a:off x="640080" y="5943600"/>
            <a:ext cx="10881360" cy="320040"/>
          </a:xfrm>
          <a:prstGeom prst="rect">
            <a:avLst/>
          </a:prstGeom>
          <a:noFill/>
          <a:ln/>
        </p:spPr>
        <p:txBody>
          <a:bodyPr wrap="square" lIns="0" tIns="0" rIns="0" bIns="0" rtlCol="0" anchor="ctr"/>
          <a:lstStyle/>
          <a:p>
            <a:pPr algn="ctr" indent="0" marL="0">
              <a:buNone/>
            </a:pPr>
            <a:r>
              <a:rPr lang="en-US" sz="1250" i="1" dirty="0">
                <a:solidFill>
                  <a:schemeClr val="tx2"/>
                </a:solidFill>
              </a:rPr>
              <a:t>Then the session evaporates. No profiles, no tracking, no ads.</a:t>
            </a:r>
            <a:endParaRPr lang="en-US" sz="125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The data: one county, by hand</a:t>
            </a:r>
            <a:endParaRPr lang="en-US" sz="3800" dirty="0"/>
          </a:p>
        </p:txBody>
      </p:sp>
      <p:sp>
        <p:nvSpPr>
          <p:cNvPr id="4" name="Shape 1"/>
          <p:cNvSpPr/>
          <p:nvPr/>
        </p:nvSpPr>
        <p:spPr>
          <a:xfrm>
            <a:off x="640080" y="1417320"/>
            <a:ext cx="2340864" cy="1115568"/>
          </a:xfrm>
          <a:prstGeom prst="roundRect">
            <a:avLst>
              <a:gd name="adj" fmla="val 4918"/>
            </a:avLst>
          </a:prstGeom>
          <a:solidFill>
            <a:schemeClr val="bg2"/>
          </a:solidFill>
          <a:ln w="12700">
            <a:solidFill>
              <a:schemeClr val="bg2"/>
            </a:solidFill>
            <a:prstDash val="solid"/>
          </a:ln>
        </p:spPr>
      </p:sp>
      <p:sp>
        <p:nvSpPr>
          <p:cNvPr id="5" name="Text 2"/>
          <p:cNvSpPr txBox="1"/>
          <p:nvPr/>
        </p:nvSpPr>
        <p:spPr>
          <a:xfrm>
            <a:off x="868680" y="1417320"/>
            <a:ext cx="868680" cy="1115568"/>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18</a:t>
            </a:r>
            <a:endParaRPr lang="en-US" sz="4000" dirty="0"/>
          </a:p>
        </p:txBody>
      </p:sp>
      <p:sp>
        <p:nvSpPr>
          <p:cNvPr id="6" name="Text 3"/>
          <p:cNvSpPr txBox="1"/>
          <p:nvPr/>
        </p:nvSpPr>
        <p:spPr>
          <a:xfrm>
            <a:off x="1737360" y="1417320"/>
            <a:ext cx="1188720" cy="1115568"/>
          </a:xfrm>
          <a:prstGeom prst="rect">
            <a:avLst/>
          </a:prstGeom>
          <a:noFill/>
          <a:ln/>
        </p:spPr>
        <p:txBody>
          <a:bodyPr wrap="square" lIns="0" tIns="0" rIns="0" bIns="0" rtlCol="0" anchor="ctr"/>
          <a:lstStyle/>
          <a:p>
            <a:pPr indent="0" marL="0">
              <a:buNone/>
            </a:pPr>
            <a:r>
              <a:rPr lang="en-US" sz="1400" dirty="0">
                <a:solidFill>
                  <a:schemeClr val="tx1"/>
                </a:solidFill>
              </a:rPr>
              <a:t>officials</a:t>
            </a:r>
            <a:endParaRPr lang="en-US" sz="1400" dirty="0"/>
          </a:p>
        </p:txBody>
      </p:sp>
      <p:sp>
        <p:nvSpPr>
          <p:cNvPr id="7" name="Shape 4"/>
          <p:cNvSpPr/>
          <p:nvPr/>
        </p:nvSpPr>
        <p:spPr>
          <a:xfrm>
            <a:off x="3127248" y="1417320"/>
            <a:ext cx="2340864" cy="1115568"/>
          </a:xfrm>
          <a:prstGeom prst="roundRect">
            <a:avLst>
              <a:gd name="adj" fmla="val 4918"/>
            </a:avLst>
          </a:prstGeom>
          <a:solidFill>
            <a:schemeClr val="bg2"/>
          </a:solidFill>
          <a:ln w="12700">
            <a:solidFill>
              <a:schemeClr val="bg2"/>
            </a:solidFill>
            <a:prstDash val="solid"/>
          </a:ln>
        </p:spPr>
      </p:sp>
      <p:sp>
        <p:nvSpPr>
          <p:cNvPr id="8" name="Text 5"/>
          <p:cNvSpPr txBox="1"/>
          <p:nvPr/>
        </p:nvSpPr>
        <p:spPr>
          <a:xfrm>
            <a:off x="3355848" y="1417320"/>
            <a:ext cx="868680" cy="1115568"/>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4</a:t>
            </a:r>
            <a:endParaRPr lang="en-US" sz="4000" dirty="0"/>
          </a:p>
        </p:txBody>
      </p:sp>
      <p:sp>
        <p:nvSpPr>
          <p:cNvPr id="9" name="Text 6"/>
          <p:cNvSpPr txBox="1"/>
          <p:nvPr/>
        </p:nvSpPr>
        <p:spPr>
          <a:xfrm>
            <a:off x="4224528" y="1417320"/>
            <a:ext cx="1188720" cy="1115568"/>
          </a:xfrm>
          <a:prstGeom prst="rect">
            <a:avLst/>
          </a:prstGeom>
          <a:noFill/>
          <a:ln/>
        </p:spPr>
        <p:txBody>
          <a:bodyPr wrap="square" lIns="0" tIns="0" rIns="0" bIns="0" rtlCol="0" anchor="ctr"/>
          <a:lstStyle/>
          <a:p>
            <a:pPr indent="0" marL="0">
              <a:buNone/>
            </a:pPr>
            <a:r>
              <a:rPr lang="en-US" sz="1400" dirty="0">
                <a:solidFill>
                  <a:schemeClr val="tx1"/>
                </a:solidFill>
              </a:rPr>
              <a:t>public meetings</a:t>
            </a:r>
            <a:endParaRPr lang="en-US" sz="1400" dirty="0"/>
          </a:p>
        </p:txBody>
      </p:sp>
      <p:sp>
        <p:nvSpPr>
          <p:cNvPr id="10" name="Shape 7"/>
          <p:cNvSpPr/>
          <p:nvPr/>
        </p:nvSpPr>
        <p:spPr>
          <a:xfrm>
            <a:off x="640080" y="2670048"/>
            <a:ext cx="2340864" cy="1115568"/>
          </a:xfrm>
          <a:prstGeom prst="roundRect">
            <a:avLst>
              <a:gd name="adj" fmla="val 4918"/>
            </a:avLst>
          </a:prstGeom>
          <a:solidFill>
            <a:schemeClr val="bg2"/>
          </a:solidFill>
          <a:ln w="12700">
            <a:solidFill>
              <a:schemeClr val="bg2"/>
            </a:solidFill>
            <a:prstDash val="solid"/>
          </a:ln>
        </p:spPr>
      </p:sp>
      <p:sp>
        <p:nvSpPr>
          <p:cNvPr id="11" name="Text 8"/>
          <p:cNvSpPr txBox="1"/>
          <p:nvPr/>
        </p:nvSpPr>
        <p:spPr>
          <a:xfrm>
            <a:off x="868680" y="2670048"/>
            <a:ext cx="868680" cy="1115568"/>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4</a:t>
            </a:r>
            <a:endParaRPr lang="en-US" sz="4000" dirty="0"/>
          </a:p>
        </p:txBody>
      </p:sp>
      <p:sp>
        <p:nvSpPr>
          <p:cNvPr id="12" name="Text 9"/>
          <p:cNvSpPr txBox="1"/>
          <p:nvPr/>
        </p:nvSpPr>
        <p:spPr>
          <a:xfrm>
            <a:off x="1737360" y="2670048"/>
            <a:ext cx="1188720" cy="1115568"/>
          </a:xfrm>
          <a:prstGeom prst="rect">
            <a:avLst/>
          </a:prstGeom>
          <a:noFill/>
          <a:ln/>
        </p:spPr>
        <p:txBody>
          <a:bodyPr wrap="square" lIns="0" tIns="0" rIns="0" bIns="0" rtlCol="0" anchor="ctr"/>
          <a:lstStyle/>
          <a:p>
            <a:pPr indent="0" marL="0">
              <a:buNone/>
            </a:pPr>
            <a:r>
              <a:rPr lang="en-US" sz="1400" dirty="0">
                <a:solidFill>
                  <a:schemeClr val="tx1"/>
                </a:solidFill>
              </a:rPr>
              <a:t>organizations</a:t>
            </a:r>
            <a:endParaRPr lang="en-US" sz="1400" dirty="0"/>
          </a:p>
        </p:txBody>
      </p:sp>
      <p:sp>
        <p:nvSpPr>
          <p:cNvPr id="13" name="Shape 10"/>
          <p:cNvSpPr/>
          <p:nvPr/>
        </p:nvSpPr>
        <p:spPr>
          <a:xfrm>
            <a:off x="3127248" y="2670048"/>
            <a:ext cx="2340864" cy="1115568"/>
          </a:xfrm>
          <a:prstGeom prst="roundRect">
            <a:avLst>
              <a:gd name="adj" fmla="val 4918"/>
            </a:avLst>
          </a:prstGeom>
          <a:solidFill>
            <a:schemeClr val="bg2"/>
          </a:solidFill>
          <a:ln w="12700">
            <a:solidFill>
              <a:schemeClr val="bg2"/>
            </a:solidFill>
            <a:prstDash val="solid"/>
          </a:ln>
        </p:spPr>
      </p:sp>
      <p:sp>
        <p:nvSpPr>
          <p:cNvPr id="14" name="Text 11"/>
          <p:cNvSpPr txBox="1"/>
          <p:nvPr/>
        </p:nvSpPr>
        <p:spPr>
          <a:xfrm>
            <a:off x="3355848" y="2670048"/>
            <a:ext cx="868680" cy="1115568"/>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6</a:t>
            </a:r>
            <a:endParaRPr lang="en-US" sz="4000" dirty="0"/>
          </a:p>
        </p:txBody>
      </p:sp>
      <p:sp>
        <p:nvSpPr>
          <p:cNvPr id="15" name="Text 12"/>
          <p:cNvSpPr txBox="1"/>
          <p:nvPr/>
        </p:nvSpPr>
        <p:spPr>
          <a:xfrm>
            <a:off x="4224528" y="2670048"/>
            <a:ext cx="1188720" cy="1115568"/>
          </a:xfrm>
          <a:prstGeom prst="rect">
            <a:avLst/>
          </a:prstGeom>
          <a:noFill/>
          <a:ln/>
        </p:spPr>
        <p:txBody>
          <a:bodyPr wrap="square" lIns="0" tIns="0" rIns="0" bIns="0" rtlCol="0" anchor="ctr"/>
          <a:lstStyle/>
          <a:p>
            <a:pPr indent="0" marL="0">
              <a:buNone/>
            </a:pPr>
            <a:r>
              <a:rPr lang="en-US" sz="1400" dirty="0">
                <a:solidFill>
                  <a:schemeClr val="tx1"/>
                </a:solidFill>
              </a:rPr>
              <a:t>resources</a:t>
            </a:r>
            <a:endParaRPr lang="en-US" sz="1400" dirty="0"/>
          </a:p>
        </p:txBody>
      </p:sp>
      <p:sp>
        <p:nvSpPr>
          <p:cNvPr id="16" name="Shape 13"/>
          <p:cNvSpPr/>
          <p:nvPr/>
        </p:nvSpPr>
        <p:spPr>
          <a:xfrm>
            <a:off x="640080" y="3931920"/>
            <a:ext cx="4828032" cy="1005840"/>
          </a:xfrm>
          <a:prstGeom prst="roundRect">
            <a:avLst>
              <a:gd name="adj" fmla="val 5455"/>
            </a:avLst>
          </a:prstGeom>
          <a:solidFill>
            <a:schemeClr val="bg1"/>
          </a:solidFill>
          <a:ln w="15875">
            <a:solidFill>
              <a:schemeClr val="accent1"/>
            </a:solidFill>
            <a:prstDash val="solid"/>
          </a:ln>
        </p:spPr>
      </p:sp>
      <p:sp>
        <p:nvSpPr>
          <p:cNvPr id="17" name="Text 14"/>
          <p:cNvSpPr txBox="1"/>
          <p:nvPr/>
        </p:nvSpPr>
        <p:spPr>
          <a:xfrm>
            <a:off x="868680" y="3931920"/>
            <a:ext cx="4389120" cy="1005840"/>
          </a:xfrm>
          <a:prstGeom prst="rect">
            <a:avLst/>
          </a:prstGeom>
          <a:noFill/>
          <a:ln/>
        </p:spPr>
        <p:txBody>
          <a:bodyPr wrap="square" lIns="0" tIns="0" rIns="0" bIns="0" rtlCol="0" anchor="ctr"/>
          <a:lstStyle/>
          <a:p>
            <a:pPr indent="0" marL="0">
              <a:buNone/>
            </a:pPr>
            <a:r>
              <a:rPr lang="en-US" sz="1250" b="1" dirty="0">
                <a:solidFill>
                  <a:schemeClr val="accent1"/>
                </a:solidFill>
              </a:rPr>
              <a:t>Every entry carries: </a:t>
            </a:r>
            <a:pPr indent="0" marL="0">
              <a:buNone/>
            </a:pPr>
            <a:r>
              <a:rPr lang="en-US" sz="1250" dirty="0">
                <a:solidFill>
                  <a:schemeClr val="tx1"/>
                </a:solidFill>
              </a:rPr>
              <a:t>its source link, the date it was verified, and its tier. Staleness is displayed, never hidden. The git history is the audit log.</a:t>
            </a:r>
            <a:endParaRPr lang="en-US" sz="1250" dirty="0"/>
          </a:p>
        </p:txBody>
      </p:sp>
      <p:sp>
        <p:nvSpPr>
          <p:cNvPr id="18" name="Shape 15"/>
          <p:cNvSpPr/>
          <p:nvPr/>
        </p:nvSpPr>
        <p:spPr>
          <a:xfrm>
            <a:off x="6291072" y="1417320"/>
            <a:ext cx="5248656" cy="3339418"/>
          </a:xfrm>
          <a:prstGeom prst="rect">
            <a:avLst/>
          </a:prstGeom>
          <a:solidFill>
            <a:schemeClr val="bg1"/>
          </a:solidFill>
          <a:ln w="9525">
            <a:solidFill>
              <a:schemeClr val="tx2"/>
            </a:solidFill>
            <a:prstDash val="solid"/>
          </a:ln>
        </p:spPr>
      </p:sp>
      <p:pic>
        <p:nvPicPr>
          <p:cNvPr id="19" name="Image 0" descr="Screenshot of the civic invitation for Delaware County, Ohio. The Olentangy school board is listed first, and each meeting shows a source link, days since verification, and tier.">    </p:cNvPr>
          <p:cNvPicPr>
            <a:picLocks noChangeAspect="1"/>
          </p:cNvPicPr>
          <p:nvPr/>
        </p:nvPicPr>
        <p:blipFill>
          <a:blip r:embed="rId1"/>
          <a:stretch>
            <a:fillRect/>
          </a:stretch>
        </p:blipFill>
        <p:spPr>
          <a:xfrm>
            <a:off x="6309360" y="1435608"/>
            <a:ext cx="5212080" cy="3302842"/>
          </a:xfrm>
          <a:prstGeom prst="rect">
            <a:avLst/>
          </a:prstGeom>
        </p:spPr>
      </p:pic>
      <p:sp>
        <p:nvSpPr>
          <p:cNvPr id="20" name="Text 16"/>
          <p:cNvSpPr txBox="1"/>
          <p:nvPr/>
        </p:nvSpPr>
        <p:spPr>
          <a:xfrm>
            <a:off x="6309360" y="4811602"/>
            <a:ext cx="5212080" cy="274320"/>
          </a:xfrm>
          <a:prstGeom prst="rect">
            <a:avLst/>
          </a:prstGeom>
          <a:noFill/>
          <a:ln/>
        </p:spPr>
        <p:txBody>
          <a:bodyPr wrap="square" lIns="0" tIns="0" rIns="0" bIns="0" rtlCol="0" anchor="t"/>
          <a:lstStyle/>
          <a:p>
            <a:pPr indent="0" marL="0">
              <a:buNone/>
            </a:pPr>
            <a:r>
              <a:rPr lang="en-US" sz="1100" i="1" dirty="0">
                <a:solidFill>
                  <a:schemeClr val="tx2"/>
                </a:solidFill>
              </a:rPr>
              <a:t>Live site, 2026-10-07. The school board leads because the claim is about the levy.</a:t>
            </a:r>
            <a:endParaRPr lang="en-US" sz="1100" dirty="0"/>
          </a:p>
        </p:txBody>
      </p:sp>
      <p:sp>
        <p:nvSpPr>
          <p:cNvPr id="21" name="Shape 17"/>
          <p:cNvSpPr/>
          <p:nvPr/>
        </p:nvSpPr>
        <p:spPr>
          <a:xfrm>
            <a:off x="640080" y="5166360"/>
            <a:ext cx="10881360" cy="960120"/>
          </a:xfrm>
          <a:prstGeom prst="roundRect">
            <a:avLst>
              <a:gd name="adj" fmla="val 5714"/>
            </a:avLst>
          </a:prstGeom>
          <a:solidFill>
            <a:schemeClr val="tx1"/>
          </a:solidFill>
          <a:ln w="12700">
            <a:solidFill>
              <a:schemeClr val="tx1"/>
            </a:solidFill>
            <a:prstDash val="solid"/>
          </a:ln>
        </p:spPr>
      </p:sp>
      <p:sp>
        <p:nvSpPr>
          <p:cNvPr id="22" name="Text 18"/>
          <p:cNvSpPr txBox="1"/>
          <p:nvPr/>
        </p:nvSpPr>
        <p:spPr>
          <a:xfrm>
            <a:off x="914400" y="5166360"/>
            <a:ext cx="10332720" cy="960120"/>
          </a:xfrm>
          <a:prstGeom prst="rect">
            <a:avLst/>
          </a:prstGeom>
          <a:noFill/>
          <a:ln/>
        </p:spPr>
        <p:txBody>
          <a:bodyPr wrap="square" lIns="0" tIns="0" rIns="0" bIns="0" rtlCol="0" anchor="ctr"/>
          <a:lstStyle/>
          <a:p>
            <a:pPr algn="ctr" indent="0" marL="0">
              <a:buNone/>
            </a:pPr>
            <a:r>
              <a:rPr lang="en-US" sz="1700" b="1" dirty="0">
                <a:solidFill>
                  <a:schemeClr val="bg1"/>
                </a:solidFill>
              </a:rPr>
              <a:t>The promise is not “the data is true.”  </a:t>
            </a:r>
            <a:pPr algn="ctr" indent="0" marL="0">
              <a:buNone/>
            </a:pPr>
            <a:r>
              <a:rPr lang="en-US" sz="1700" dirty="0">
                <a:solidFill>
                  <a:schemeClr val="bg1"/>
                </a:solidFill>
              </a:rPr>
              <a:t>It’s “you can always see where it came from and when it was checked.”</a:t>
            </a:r>
            <a:endParaRPr lang="en-US" sz="17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The model writes, code decides</a:t>
            </a:r>
            <a:endParaRPr lang="en-US" sz="3800" dirty="0"/>
          </a:p>
        </p:txBody>
      </p:sp>
      <p:sp>
        <p:nvSpPr>
          <p:cNvPr id="4" name="Shape 1"/>
          <p:cNvSpPr/>
          <p:nvPr/>
        </p:nvSpPr>
        <p:spPr>
          <a:xfrm>
            <a:off x="640080" y="1417320"/>
            <a:ext cx="4754880" cy="1097280"/>
          </a:xfrm>
          <a:prstGeom prst="roundRect">
            <a:avLst>
              <a:gd name="adj" fmla="val 5000"/>
            </a:avLst>
          </a:prstGeom>
          <a:solidFill>
            <a:schemeClr val="bg2"/>
          </a:solidFill>
          <a:ln w="12700">
            <a:solidFill>
              <a:schemeClr val="bg2"/>
            </a:solidFill>
            <a:prstDash val="solid"/>
          </a:ln>
        </p:spPr>
      </p:sp>
      <p:sp>
        <p:nvSpPr>
          <p:cNvPr id="5" name="Shape 2"/>
          <p:cNvSpPr/>
          <p:nvPr/>
        </p:nvSpPr>
        <p:spPr>
          <a:xfrm>
            <a:off x="841248" y="1773936"/>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841248" y="17739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389888" y="1508760"/>
            <a:ext cx="3840480" cy="329184"/>
          </a:xfrm>
          <a:prstGeom prst="rect">
            <a:avLst/>
          </a:prstGeom>
          <a:noFill/>
          <a:ln/>
        </p:spPr>
        <p:txBody>
          <a:bodyPr wrap="square" lIns="0" tIns="0" rIns="0" bIns="0" rtlCol="0" anchor="ctr"/>
          <a:lstStyle/>
          <a:p>
            <a:pPr indent="0" marL="0">
              <a:buNone/>
            </a:pPr>
            <a:r>
              <a:rPr lang="en-US" sz="1500" b="1" dirty="0">
                <a:solidFill>
                  <a:schemeClr val="tx1"/>
                </a:solidFill>
              </a:rPr>
              <a:t>The draft</a:t>
            </a:r>
            <a:endParaRPr lang="en-US" sz="1500" dirty="0"/>
          </a:p>
        </p:txBody>
      </p:sp>
      <p:sp>
        <p:nvSpPr>
          <p:cNvPr id="8" name="Text 5"/>
          <p:cNvSpPr txBox="1"/>
          <p:nvPr/>
        </p:nvSpPr>
        <p:spPr>
          <a:xfrm>
            <a:off x="1389888" y="1837944"/>
            <a:ext cx="3840480" cy="621792"/>
          </a:xfrm>
          <a:prstGeom prst="rect">
            <a:avLst/>
          </a:prstGeom>
          <a:noFill/>
          <a:ln/>
        </p:spPr>
        <p:txBody>
          <a:bodyPr wrap="square" lIns="0" tIns="0" rIns="0" bIns="0" rtlCol="0" anchor="t"/>
          <a:lstStyle/>
          <a:p>
            <a:pPr indent="0" marL="0">
              <a:buNone/>
            </a:pPr>
            <a:r>
              <a:rPr lang="en-US" sz="1250" dirty="0">
                <a:solidFill>
                  <a:schemeClr val="tx2"/>
                </a:solidFill>
              </a:rPr>
              <a:t>Haiku gets the claim and the kept sources, and returns sentences, each tagged with the source it cites.</a:t>
            </a:r>
            <a:endParaRPr lang="en-US" sz="1250" dirty="0"/>
          </a:p>
        </p:txBody>
      </p:sp>
      <p:sp>
        <p:nvSpPr>
          <p:cNvPr id="9" name="Shape 6"/>
          <p:cNvSpPr/>
          <p:nvPr/>
        </p:nvSpPr>
        <p:spPr>
          <a:xfrm>
            <a:off x="640080" y="2624328"/>
            <a:ext cx="4754880" cy="1097280"/>
          </a:xfrm>
          <a:prstGeom prst="roundRect">
            <a:avLst>
              <a:gd name="adj" fmla="val 5000"/>
            </a:avLst>
          </a:prstGeom>
          <a:solidFill>
            <a:schemeClr val="bg2"/>
          </a:solidFill>
          <a:ln w="12700">
            <a:solidFill>
              <a:schemeClr val="bg2"/>
            </a:solidFill>
            <a:prstDash val="solid"/>
          </a:ln>
        </p:spPr>
      </p:sp>
      <p:sp>
        <p:nvSpPr>
          <p:cNvPr id="10" name="Shape 7"/>
          <p:cNvSpPr/>
          <p:nvPr/>
        </p:nvSpPr>
        <p:spPr>
          <a:xfrm>
            <a:off x="841248" y="2980944"/>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841248" y="29809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1389888" y="2715768"/>
            <a:ext cx="3840480" cy="329184"/>
          </a:xfrm>
          <a:prstGeom prst="rect">
            <a:avLst/>
          </a:prstGeom>
          <a:noFill/>
          <a:ln/>
        </p:spPr>
        <p:txBody>
          <a:bodyPr wrap="square" lIns="0" tIns="0" rIns="0" bIns="0" rtlCol="0" anchor="ctr"/>
          <a:lstStyle/>
          <a:p>
            <a:pPr indent="0" marL="0">
              <a:buNone/>
            </a:pPr>
            <a:r>
              <a:rPr lang="en-US" sz="1500" b="1" dirty="0">
                <a:solidFill>
                  <a:schemeClr val="tx1"/>
                </a:solidFill>
              </a:rPr>
              <a:t>The first run</a:t>
            </a:r>
            <a:endParaRPr lang="en-US" sz="1500" dirty="0"/>
          </a:p>
        </p:txBody>
      </p:sp>
      <p:sp>
        <p:nvSpPr>
          <p:cNvPr id="13" name="Text 10"/>
          <p:cNvSpPr txBox="1"/>
          <p:nvPr/>
        </p:nvSpPr>
        <p:spPr>
          <a:xfrm>
            <a:off x="1389888" y="3044952"/>
            <a:ext cx="3840480" cy="621792"/>
          </a:xfrm>
          <a:prstGeom prst="rect">
            <a:avLst/>
          </a:prstGeom>
          <a:noFill/>
          <a:ln/>
        </p:spPr>
        <p:txBody>
          <a:bodyPr wrap="square" lIns="0" tIns="0" rIns="0" bIns="0" rtlCol="0" anchor="t"/>
          <a:lstStyle/>
          <a:p>
            <a:pPr indent="0" marL="0">
              <a:buNone/>
            </a:pPr>
            <a:r>
              <a:rPr lang="en-US" sz="1250" dirty="0">
                <a:solidFill>
                  <a:schemeClr val="tx2"/>
                </a:solidFill>
              </a:rPr>
              <a:t>It wrote that voters “approved” the levy, citing the ballot. The ballot lists the question, not the result.</a:t>
            </a:r>
            <a:endParaRPr lang="en-US" sz="1250" dirty="0"/>
          </a:p>
        </p:txBody>
      </p:sp>
      <p:sp>
        <p:nvSpPr>
          <p:cNvPr id="14" name="Shape 11"/>
          <p:cNvSpPr/>
          <p:nvPr/>
        </p:nvSpPr>
        <p:spPr>
          <a:xfrm>
            <a:off x="640080" y="3831336"/>
            <a:ext cx="4754880" cy="1097280"/>
          </a:xfrm>
          <a:prstGeom prst="roundRect">
            <a:avLst>
              <a:gd name="adj" fmla="val 5000"/>
            </a:avLst>
          </a:prstGeom>
          <a:solidFill>
            <a:schemeClr val="bg2"/>
          </a:solidFill>
          <a:ln w="12700">
            <a:solidFill>
              <a:schemeClr val="bg2"/>
            </a:solidFill>
            <a:prstDash val="solid"/>
          </a:ln>
        </p:spPr>
      </p:sp>
      <p:sp>
        <p:nvSpPr>
          <p:cNvPr id="15" name="Shape 12"/>
          <p:cNvSpPr/>
          <p:nvPr/>
        </p:nvSpPr>
        <p:spPr>
          <a:xfrm>
            <a:off x="841248" y="4187952"/>
            <a:ext cx="384048" cy="384048"/>
          </a:xfrm>
          <a:prstGeom prst="ellipse">
            <a:avLst/>
          </a:prstGeom>
          <a:solidFill>
            <a:schemeClr val="accent1"/>
          </a:solidFill>
          <a:ln w="12700">
            <a:solidFill>
              <a:schemeClr val="accent1"/>
            </a:solidFill>
            <a:prstDash val="solid"/>
          </a:ln>
        </p:spPr>
      </p:sp>
      <p:sp>
        <p:nvSpPr>
          <p:cNvPr id="16" name="Text 13"/>
          <p:cNvSpPr txBox="1"/>
          <p:nvPr/>
        </p:nvSpPr>
        <p:spPr>
          <a:xfrm>
            <a:off x="841248" y="41879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1389888" y="3922776"/>
            <a:ext cx="3840480" cy="329184"/>
          </a:xfrm>
          <a:prstGeom prst="rect">
            <a:avLst/>
          </a:prstGeom>
          <a:noFill/>
          <a:ln/>
        </p:spPr>
        <p:txBody>
          <a:bodyPr wrap="square" lIns="0" tIns="0" rIns="0" bIns="0" rtlCol="0" anchor="ctr"/>
          <a:lstStyle/>
          <a:p>
            <a:pPr indent="0" marL="0">
              <a:buNone/>
            </a:pPr>
            <a:r>
              <a:rPr lang="en-US" sz="1500" b="1" dirty="0">
                <a:solidFill>
                  <a:schemeClr val="tx1"/>
                </a:solidFill>
              </a:rPr>
              <a:t>The fix: four rules, plain code</a:t>
            </a:r>
            <a:endParaRPr lang="en-US" sz="1500" dirty="0"/>
          </a:p>
        </p:txBody>
      </p:sp>
      <p:sp>
        <p:nvSpPr>
          <p:cNvPr id="18" name="Text 15"/>
          <p:cNvSpPr txBox="1"/>
          <p:nvPr/>
        </p:nvSpPr>
        <p:spPr>
          <a:xfrm>
            <a:off x="1389888" y="4251960"/>
            <a:ext cx="3840480" cy="621792"/>
          </a:xfrm>
          <a:prstGeom prst="rect">
            <a:avLst/>
          </a:prstGeom>
          <a:noFill/>
          <a:ln/>
        </p:spPr>
        <p:txBody>
          <a:bodyPr wrap="square" lIns="0" tIns="0" rIns="0" bIns="0" rtlCol="0" anchor="t"/>
          <a:lstStyle/>
          <a:p>
            <a:pPr indent="0" marL="0">
              <a:buNone/>
            </a:pPr>
            <a:r>
              <a:rPr lang="en-US" sz="1250" dirty="0">
                <a:solidFill>
                  <a:schemeClr val="tx2"/>
                </a:solidFill>
              </a:rPr>
              <a:t>Cites a kept source · every figure appears in that source · no verdict language · no outcome word the source does not use.</a:t>
            </a:r>
            <a:endParaRPr lang="en-US" sz="1250" dirty="0"/>
          </a:p>
        </p:txBody>
      </p:sp>
      <p:sp>
        <p:nvSpPr>
          <p:cNvPr id="19" name="Text 16"/>
          <p:cNvSpPr txBox="1"/>
          <p:nvPr/>
        </p:nvSpPr>
        <p:spPr>
          <a:xfrm>
            <a:off x="5760720" y="1371600"/>
            <a:ext cx="5760720" cy="329184"/>
          </a:xfrm>
          <a:prstGeom prst="rect">
            <a:avLst/>
          </a:prstGeom>
          <a:noFill/>
          <a:ln/>
        </p:spPr>
        <p:txBody>
          <a:bodyPr wrap="square" lIns="0" tIns="0" rIns="0" bIns="0" rtlCol="0" anchor="ctr"/>
          <a:lstStyle/>
          <a:p>
            <a:pPr indent="0" marL="0">
              <a:buNone/>
            </a:pPr>
            <a:r>
              <a:rPr lang="en-US" sz="1400" b="1" dirty="0">
                <a:solidFill>
                  <a:schemeClr val="tx1"/>
                </a:solidFill>
              </a:rPr>
              <a:t>Checker test run: six sentences, two kept, four dropped</a:t>
            </a:r>
            <a:endParaRPr lang="en-US" sz="1400" dirty="0"/>
          </a:p>
        </p:txBody>
      </p:sp>
      <p:sp>
        <p:nvSpPr>
          <p:cNvPr id="20" name="Shape 17"/>
          <p:cNvSpPr/>
          <p:nvPr/>
        </p:nvSpPr>
        <p:spPr>
          <a:xfrm>
            <a:off x="5760720" y="1783080"/>
            <a:ext cx="5760720" cy="484632"/>
          </a:xfrm>
          <a:prstGeom prst="roundRect">
            <a:avLst>
              <a:gd name="adj" fmla="val 11321"/>
            </a:avLst>
          </a:prstGeom>
          <a:solidFill>
            <a:schemeClr val="bg2"/>
          </a:solidFill>
          <a:ln w="12700">
            <a:solidFill>
              <a:schemeClr val="bg2"/>
            </a:solidFill>
            <a:prstDash val="solid"/>
          </a:ln>
        </p:spPr>
      </p:sp>
      <p:sp>
        <p:nvSpPr>
          <p:cNvPr id="21" name="Shape 18"/>
          <p:cNvSpPr/>
          <p:nvPr/>
        </p:nvSpPr>
        <p:spPr>
          <a:xfrm>
            <a:off x="5888736" y="1897380"/>
            <a:ext cx="841248" cy="256032"/>
          </a:xfrm>
          <a:prstGeom prst="roundRect">
            <a:avLst>
              <a:gd name="adj" fmla="val 50000"/>
            </a:avLst>
          </a:prstGeom>
          <a:solidFill>
            <a:schemeClr val="tx1"/>
          </a:solidFill>
          <a:ln w="12700">
            <a:solidFill>
              <a:schemeClr val="tx1"/>
            </a:solidFill>
            <a:prstDash val="solid"/>
          </a:ln>
        </p:spPr>
      </p:sp>
      <p:sp>
        <p:nvSpPr>
          <p:cNvPr id="22" name="Text 19"/>
          <p:cNvSpPr txBox="1"/>
          <p:nvPr/>
        </p:nvSpPr>
        <p:spPr>
          <a:xfrm>
            <a:off x="5888736" y="1897380"/>
            <a:ext cx="841248" cy="256032"/>
          </a:xfrm>
          <a:prstGeom prst="rect">
            <a:avLst/>
          </a:prstGeom>
          <a:noFill/>
          <a:ln/>
        </p:spPr>
        <p:txBody>
          <a:bodyPr wrap="square" lIns="0" tIns="0" rIns="0" bIns="0" rtlCol="0" anchor="ctr"/>
          <a:lstStyle/>
          <a:p>
            <a:pPr algn="ctr" indent="0" marL="0">
              <a:buNone/>
            </a:pPr>
            <a:r>
              <a:rPr lang="en-US" sz="950" b="1" dirty="0">
                <a:solidFill>
                  <a:schemeClr val="bg1"/>
                </a:solidFill>
              </a:rPr>
              <a:t>KEPT</a:t>
            </a:r>
            <a:endParaRPr lang="en-US" sz="950" dirty="0"/>
          </a:p>
        </p:txBody>
      </p:sp>
      <p:sp>
        <p:nvSpPr>
          <p:cNvPr id="23" name="Text 20"/>
          <p:cNvSpPr txBox="1"/>
          <p:nvPr/>
        </p:nvSpPr>
        <p:spPr>
          <a:xfrm>
            <a:off x="6858000" y="1783080"/>
            <a:ext cx="4572000" cy="484632"/>
          </a:xfrm>
          <a:prstGeom prst="rect">
            <a:avLst/>
          </a:prstGeom>
          <a:noFill/>
          <a:ln/>
        </p:spPr>
        <p:txBody>
          <a:bodyPr wrap="square" lIns="0" tIns="0" rIns="0" bIns="0" rtlCol="0" anchor="ctr"/>
          <a:lstStyle/>
          <a:p>
            <a:pPr indent="0" marL="0">
              <a:buNone/>
            </a:pPr>
            <a:r>
              <a:rPr lang="en-US" sz="1200" dirty="0">
                <a:solidFill>
                  <a:schemeClr val="tx1"/>
                </a:solidFill>
              </a:rPr>
              <a:t>“The district spent $265,380,561 on instruction.”</a:t>
            </a:r>
            <a:endParaRPr lang="en-US" sz="1250" dirty="0"/>
          </a:p>
          <a:p>
            <a:pPr indent="0" marL="0">
              <a:buNone/>
            </a:pPr>
            <a:r>
              <a:rPr lang="en-US" sz="1050" i="1" dirty="0">
                <a:solidFill>
                  <a:schemeClr val="tx2"/>
                </a:solidFill>
              </a:rPr>
              <a:t>cites the financial report · figure found in the source</a:t>
            </a:r>
            <a:endParaRPr lang="en-US" sz="1250" dirty="0"/>
          </a:p>
        </p:txBody>
      </p:sp>
      <p:sp>
        <p:nvSpPr>
          <p:cNvPr id="24" name="Shape 21"/>
          <p:cNvSpPr/>
          <p:nvPr/>
        </p:nvSpPr>
        <p:spPr>
          <a:xfrm>
            <a:off x="5760720" y="2331720"/>
            <a:ext cx="5760720" cy="484632"/>
          </a:xfrm>
          <a:prstGeom prst="roundRect">
            <a:avLst>
              <a:gd name="adj" fmla="val 11321"/>
            </a:avLst>
          </a:prstGeom>
          <a:solidFill>
            <a:schemeClr val="bg2"/>
          </a:solidFill>
          <a:ln w="12700">
            <a:solidFill>
              <a:schemeClr val="bg2"/>
            </a:solidFill>
            <a:prstDash val="solid"/>
          </a:ln>
        </p:spPr>
      </p:sp>
      <p:sp>
        <p:nvSpPr>
          <p:cNvPr id="25" name="Shape 22"/>
          <p:cNvSpPr/>
          <p:nvPr/>
        </p:nvSpPr>
        <p:spPr>
          <a:xfrm>
            <a:off x="5888736" y="2446020"/>
            <a:ext cx="841248" cy="256032"/>
          </a:xfrm>
          <a:prstGeom prst="roundRect">
            <a:avLst>
              <a:gd name="adj" fmla="val 50000"/>
            </a:avLst>
          </a:prstGeom>
          <a:solidFill>
            <a:schemeClr val="bg1"/>
          </a:solidFill>
          <a:ln w="12700">
            <a:solidFill>
              <a:schemeClr val="accent1"/>
            </a:solidFill>
            <a:prstDash val="solid"/>
          </a:ln>
        </p:spPr>
      </p:sp>
      <p:sp>
        <p:nvSpPr>
          <p:cNvPr id="26" name="Text 23"/>
          <p:cNvSpPr txBox="1"/>
          <p:nvPr/>
        </p:nvSpPr>
        <p:spPr>
          <a:xfrm>
            <a:off x="5888736" y="2446020"/>
            <a:ext cx="841248" cy="256032"/>
          </a:xfrm>
          <a:prstGeom prst="rect">
            <a:avLst/>
          </a:prstGeom>
          <a:noFill/>
          <a:ln/>
        </p:spPr>
        <p:txBody>
          <a:bodyPr wrap="square" lIns="0" tIns="0" rIns="0" bIns="0" rtlCol="0" anchor="ctr"/>
          <a:lstStyle/>
          <a:p>
            <a:pPr algn="ctr" indent="0" marL="0">
              <a:buNone/>
            </a:pPr>
            <a:r>
              <a:rPr lang="en-US" sz="950" b="1" dirty="0">
                <a:solidFill>
                  <a:schemeClr val="accent1"/>
                </a:solidFill>
              </a:rPr>
              <a:t>DROPPED</a:t>
            </a:r>
            <a:endParaRPr lang="en-US" sz="950" dirty="0"/>
          </a:p>
        </p:txBody>
      </p:sp>
      <p:sp>
        <p:nvSpPr>
          <p:cNvPr id="27" name="Text 24"/>
          <p:cNvSpPr txBox="1"/>
          <p:nvPr/>
        </p:nvSpPr>
        <p:spPr>
          <a:xfrm>
            <a:off x="6858000" y="2331720"/>
            <a:ext cx="4572000" cy="484632"/>
          </a:xfrm>
          <a:prstGeom prst="rect">
            <a:avLst/>
          </a:prstGeom>
          <a:noFill/>
          <a:ln/>
        </p:spPr>
        <p:txBody>
          <a:bodyPr wrap="square" lIns="0" tIns="0" rIns="0" bIns="0" rtlCol="0" anchor="ctr"/>
          <a:lstStyle/>
          <a:p>
            <a:pPr indent="0" marL="0">
              <a:buNone/>
            </a:pPr>
            <a:r>
              <a:rPr lang="en-US" sz="1200" dirty="0">
                <a:solidFill>
                  <a:schemeClr val="tx1"/>
                </a:solidFill>
              </a:rPr>
              <a:t>“The district spent $300,000,000 on instruction.”</a:t>
            </a:r>
            <a:endParaRPr lang="en-US" sz="1250" dirty="0"/>
          </a:p>
          <a:p>
            <a:pPr indent="0" marL="0">
              <a:buNone/>
            </a:pPr>
            <a:r>
              <a:rPr lang="en-US" sz="1050" i="1" dirty="0">
                <a:solidFill>
                  <a:schemeClr val="tx2"/>
                </a:solidFill>
              </a:rPr>
              <a:t>cites the financial report · figure not in source</a:t>
            </a:r>
            <a:endParaRPr lang="en-US" sz="1250" dirty="0"/>
          </a:p>
        </p:txBody>
      </p:sp>
      <p:sp>
        <p:nvSpPr>
          <p:cNvPr id="28" name="Shape 25"/>
          <p:cNvSpPr/>
          <p:nvPr/>
        </p:nvSpPr>
        <p:spPr>
          <a:xfrm>
            <a:off x="5760720" y="2880360"/>
            <a:ext cx="5760720" cy="484632"/>
          </a:xfrm>
          <a:prstGeom prst="roundRect">
            <a:avLst>
              <a:gd name="adj" fmla="val 11321"/>
            </a:avLst>
          </a:prstGeom>
          <a:solidFill>
            <a:schemeClr val="bg2"/>
          </a:solidFill>
          <a:ln w="12700">
            <a:solidFill>
              <a:schemeClr val="bg2"/>
            </a:solidFill>
            <a:prstDash val="solid"/>
          </a:ln>
        </p:spPr>
      </p:sp>
      <p:sp>
        <p:nvSpPr>
          <p:cNvPr id="29" name="Shape 26"/>
          <p:cNvSpPr/>
          <p:nvPr/>
        </p:nvSpPr>
        <p:spPr>
          <a:xfrm>
            <a:off x="5888736" y="2994660"/>
            <a:ext cx="841248" cy="256032"/>
          </a:xfrm>
          <a:prstGeom prst="roundRect">
            <a:avLst>
              <a:gd name="adj" fmla="val 50000"/>
            </a:avLst>
          </a:prstGeom>
          <a:solidFill>
            <a:schemeClr val="bg1"/>
          </a:solidFill>
          <a:ln w="12700">
            <a:solidFill>
              <a:schemeClr val="accent1"/>
            </a:solidFill>
            <a:prstDash val="solid"/>
          </a:ln>
        </p:spPr>
      </p:sp>
      <p:sp>
        <p:nvSpPr>
          <p:cNvPr id="30" name="Text 27"/>
          <p:cNvSpPr txBox="1"/>
          <p:nvPr/>
        </p:nvSpPr>
        <p:spPr>
          <a:xfrm>
            <a:off x="5888736" y="2994660"/>
            <a:ext cx="841248" cy="256032"/>
          </a:xfrm>
          <a:prstGeom prst="rect">
            <a:avLst/>
          </a:prstGeom>
          <a:noFill/>
          <a:ln/>
        </p:spPr>
        <p:txBody>
          <a:bodyPr wrap="square" lIns="0" tIns="0" rIns="0" bIns="0" rtlCol="0" anchor="ctr"/>
          <a:lstStyle/>
          <a:p>
            <a:pPr algn="ctr" indent="0" marL="0">
              <a:buNone/>
            </a:pPr>
            <a:r>
              <a:rPr lang="en-US" sz="950" b="1" dirty="0">
                <a:solidFill>
                  <a:schemeClr val="accent1"/>
                </a:solidFill>
              </a:rPr>
              <a:t>DROPPED</a:t>
            </a:r>
            <a:endParaRPr lang="en-US" sz="950" dirty="0"/>
          </a:p>
        </p:txBody>
      </p:sp>
      <p:sp>
        <p:nvSpPr>
          <p:cNvPr id="31" name="Text 28"/>
          <p:cNvSpPr txBox="1"/>
          <p:nvPr/>
        </p:nvSpPr>
        <p:spPr>
          <a:xfrm>
            <a:off x="6858000" y="2880360"/>
            <a:ext cx="4572000" cy="484632"/>
          </a:xfrm>
          <a:prstGeom prst="rect">
            <a:avLst/>
          </a:prstGeom>
          <a:noFill/>
          <a:ln/>
        </p:spPr>
        <p:txBody>
          <a:bodyPr wrap="square" lIns="0" tIns="0" rIns="0" bIns="0" rtlCol="0" anchor="ctr"/>
          <a:lstStyle/>
          <a:p>
            <a:pPr indent="0" marL="0">
              <a:buNone/>
            </a:pPr>
            <a:r>
              <a:rPr lang="en-US" sz="1200" dirty="0">
                <a:solidFill>
                  <a:schemeClr val="tx1"/>
                </a:solidFill>
              </a:rPr>
              <a:t>“Voters approved the levy.”</a:t>
            </a:r>
            <a:endParaRPr lang="en-US" sz="1250" dirty="0"/>
          </a:p>
          <a:p>
            <a:pPr indent="0" marL="0">
              <a:buNone/>
            </a:pPr>
            <a:r>
              <a:rPr lang="en-US" sz="1050" i="1" dirty="0">
                <a:solidFill>
                  <a:schemeClr val="tx2"/>
                </a:solidFill>
              </a:rPr>
              <a:t>cites the ballot · outcome not stated in source</a:t>
            </a:r>
            <a:endParaRPr lang="en-US" sz="1250" dirty="0"/>
          </a:p>
        </p:txBody>
      </p:sp>
      <p:sp>
        <p:nvSpPr>
          <p:cNvPr id="32" name="Shape 29"/>
          <p:cNvSpPr/>
          <p:nvPr/>
        </p:nvSpPr>
        <p:spPr>
          <a:xfrm>
            <a:off x="5760720" y="3429000"/>
            <a:ext cx="5760720" cy="484632"/>
          </a:xfrm>
          <a:prstGeom prst="roundRect">
            <a:avLst>
              <a:gd name="adj" fmla="val 11321"/>
            </a:avLst>
          </a:prstGeom>
          <a:solidFill>
            <a:schemeClr val="bg2"/>
          </a:solidFill>
          <a:ln w="12700">
            <a:solidFill>
              <a:schemeClr val="bg2"/>
            </a:solidFill>
            <a:prstDash val="solid"/>
          </a:ln>
        </p:spPr>
      </p:sp>
      <p:sp>
        <p:nvSpPr>
          <p:cNvPr id="33" name="Shape 30"/>
          <p:cNvSpPr/>
          <p:nvPr/>
        </p:nvSpPr>
        <p:spPr>
          <a:xfrm>
            <a:off x="5888736" y="3543300"/>
            <a:ext cx="841248" cy="256032"/>
          </a:xfrm>
          <a:prstGeom prst="roundRect">
            <a:avLst>
              <a:gd name="adj" fmla="val 50000"/>
            </a:avLst>
          </a:prstGeom>
          <a:solidFill>
            <a:schemeClr val="tx1"/>
          </a:solidFill>
          <a:ln w="12700">
            <a:solidFill>
              <a:schemeClr val="tx1"/>
            </a:solidFill>
            <a:prstDash val="solid"/>
          </a:ln>
        </p:spPr>
      </p:sp>
      <p:sp>
        <p:nvSpPr>
          <p:cNvPr id="34" name="Text 31"/>
          <p:cNvSpPr txBox="1"/>
          <p:nvPr/>
        </p:nvSpPr>
        <p:spPr>
          <a:xfrm>
            <a:off x="5888736" y="3543300"/>
            <a:ext cx="841248" cy="256032"/>
          </a:xfrm>
          <a:prstGeom prst="rect">
            <a:avLst/>
          </a:prstGeom>
          <a:noFill/>
          <a:ln/>
        </p:spPr>
        <p:txBody>
          <a:bodyPr wrap="square" lIns="0" tIns="0" rIns="0" bIns="0" rtlCol="0" anchor="ctr"/>
          <a:lstStyle/>
          <a:p>
            <a:pPr algn="ctr" indent="0" marL="0">
              <a:buNone/>
            </a:pPr>
            <a:r>
              <a:rPr lang="en-US" sz="950" b="1" dirty="0">
                <a:solidFill>
                  <a:schemeClr val="bg1"/>
                </a:solidFill>
              </a:rPr>
              <a:t>KEPT</a:t>
            </a:r>
            <a:endParaRPr lang="en-US" sz="950" dirty="0"/>
          </a:p>
        </p:txBody>
      </p:sp>
      <p:sp>
        <p:nvSpPr>
          <p:cNvPr id="35" name="Text 32"/>
          <p:cNvSpPr txBox="1"/>
          <p:nvPr/>
        </p:nvSpPr>
        <p:spPr>
          <a:xfrm>
            <a:off x="6858000" y="3429000"/>
            <a:ext cx="4572000" cy="484632"/>
          </a:xfrm>
          <a:prstGeom prst="rect">
            <a:avLst/>
          </a:prstGeom>
          <a:noFill/>
          <a:ln/>
        </p:spPr>
        <p:txBody>
          <a:bodyPr wrap="square" lIns="0" tIns="0" rIns="0" bIns="0" rtlCol="0" anchor="ctr"/>
          <a:lstStyle/>
          <a:p>
            <a:pPr indent="0" marL="0">
              <a:buNone/>
            </a:pPr>
            <a:r>
              <a:rPr lang="en-US" sz="1200" dirty="0">
                <a:solidFill>
                  <a:schemeClr val="tx1"/>
                </a:solidFill>
              </a:rPr>
              <a:t>“The board approved the financial forecast.”</a:t>
            </a:r>
            <a:endParaRPr lang="en-US" sz="1250" dirty="0"/>
          </a:p>
          <a:p>
            <a:pPr indent="0" marL="0">
              <a:buNone/>
            </a:pPr>
            <a:r>
              <a:rPr lang="en-US" sz="1050" i="1" dirty="0">
                <a:solidFill>
                  <a:schemeClr val="tx2"/>
                </a:solidFill>
              </a:rPr>
              <a:t>cites the board minutes · the minutes use that word</a:t>
            </a:r>
            <a:endParaRPr lang="en-US" sz="1250" dirty="0"/>
          </a:p>
        </p:txBody>
      </p:sp>
      <p:sp>
        <p:nvSpPr>
          <p:cNvPr id="36" name="Shape 33"/>
          <p:cNvSpPr/>
          <p:nvPr/>
        </p:nvSpPr>
        <p:spPr>
          <a:xfrm>
            <a:off x="5760720" y="3977640"/>
            <a:ext cx="5760720" cy="484632"/>
          </a:xfrm>
          <a:prstGeom prst="roundRect">
            <a:avLst>
              <a:gd name="adj" fmla="val 11321"/>
            </a:avLst>
          </a:prstGeom>
          <a:solidFill>
            <a:schemeClr val="bg2"/>
          </a:solidFill>
          <a:ln w="12700">
            <a:solidFill>
              <a:schemeClr val="bg2"/>
            </a:solidFill>
            <a:prstDash val="solid"/>
          </a:ln>
        </p:spPr>
      </p:sp>
      <p:sp>
        <p:nvSpPr>
          <p:cNvPr id="37" name="Shape 34"/>
          <p:cNvSpPr/>
          <p:nvPr/>
        </p:nvSpPr>
        <p:spPr>
          <a:xfrm>
            <a:off x="5888736" y="4091940"/>
            <a:ext cx="841248" cy="256032"/>
          </a:xfrm>
          <a:prstGeom prst="roundRect">
            <a:avLst>
              <a:gd name="adj" fmla="val 50000"/>
            </a:avLst>
          </a:prstGeom>
          <a:solidFill>
            <a:schemeClr val="bg1"/>
          </a:solidFill>
          <a:ln w="12700">
            <a:solidFill>
              <a:schemeClr val="accent1"/>
            </a:solidFill>
            <a:prstDash val="solid"/>
          </a:ln>
        </p:spPr>
      </p:sp>
      <p:sp>
        <p:nvSpPr>
          <p:cNvPr id="38" name="Text 35"/>
          <p:cNvSpPr txBox="1"/>
          <p:nvPr/>
        </p:nvSpPr>
        <p:spPr>
          <a:xfrm>
            <a:off x="5888736" y="4091940"/>
            <a:ext cx="841248" cy="256032"/>
          </a:xfrm>
          <a:prstGeom prst="rect">
            <a:avLst/>
          </a:prstGeom>
          <a:noFill/>
          <a:ln/>
        </p:spPr>
        <p:txBody>
          <a:bodyPr wrap="square" lIns="0" tIns="0" rIns="0" bIns="0" rtlCol="0" anchor="ctr"/>
          <a:lstStyle/>
          <a:p>
            <a:pPr algn="ctr" indent="0" marL="0">
              <a:buNone/>
            </a:pPr>
            <a:r>
              <a:rPr lang="en-US" sz="950" b="1" dirty="0">
                <a:solidFill>
                  <a:schemeClr val="accent1"/>
                </a:solidFill>
              </a:rPr>
              <a:t>DROPPED</a:t>
            </a:r>
            <a:endParaRPr lang="en-US" sz="950" dirty="0"/>
          </a:p>
        </p:txBody>
      </p:sp>
      <p:sp>
        <p:nvSpPr>
          <p:cNvPr id="39" name="Text 36"/>
          <p:cNvSpPr txBox="1"/>
          <p:nvPr/>
        </p:nvSpPr>
        <p:spPr>
          <a:xfrm>
            <a:off x="6858000" y="3977640"/>
            <a:ext cx="4572000" cy="484632"/>
          </a:xfrm>
          <a:prstGeom prst="rect">
            <a:avLst/>
          </a:prstGeom>
          <a:noFill/>
          <a:ln/>
        </p:spPr>
        <p:txBody>
          <a:bodyPr wrap="square" lIns="0" tIns="0" rIns="0" bIns="0" rtlCol="0" anchor="ctr"/>
          <a:lstStyle/>
          <a:p>
            <a:pPr indent="0" marL="0">
              <a:buNone/>
            </a:pPr>
            <a:r>
              <a:rPr lang="en-US" sz="1200" dirty="0">
                <a:solidFill>
                  <a:schemeClr val="tx1"/>
                </a:solidFill>
              </a:rPr>
              <a:t>“This proves the levy money is misused.”</a:t>
            </a:r>
            <a:endParaRPr lang="en-US" sz="1250" dirty="0"/>
          </a:p>
          <a:p>
            <a:pPr indent="0" marL="0">
              <a:buNone/>
            </a:pPr>
            <a:r>
              <a:rPr lang="en-US" sz="1050" i="1" dirty="0">
                <a:solidFill>
                  <a:schemeClr val="tx2"/>
                </a:solidFill>
              </a:rPr>
              <a:t>contains verdict language</a:t>
            </a:r>
            <a:endParaRPr lang="en-US" sz="1250" dirty="0"/>
          </a:p>
        </p:txBody>
      </p:sp>
      <p:sp>
        <p:nvSpPr>
          <p:cNvPr id="40" name="Shape 37"/>
          <p:cNvSpPr/>
          <p:nvPr/>
        </p:nvSpPr>
        <p:spPr>
          <a:xfrm>
            <a:off x="5760720" y="4526280"/>
            <a:ext cx="5760720" cy="484632"/>
          </a:xfrm>
          <a:prstGeom prst="roundRect">
            <a:avLst>
              <a:gd name="adj" fmla="val 11321"/>
            </a:avLst>
          </a:prstGeom>
          <a:solidFill>
            <a:schemeClr val="bg2"/>
          </a:solidFill>
          <a:ln w="12700">
            <a:solidFill>
              <a:schemeClr val="bg2"/>
            </a:solidFill>
            <a:prstDash val="solid"/>
          </a:ln>
        </p:spPr>
      </p:sp>
      <p:sp>
        <p:nvSpPr>
          <p:cNvPr id="41" name="Shape 38"/>
          <p:cNvSpPr/>
          <p:nvPr/>
        </p:nvSpPr>
        <p:spPr>
          <a:xfrm>
            <a:off x="5888736" y="4640580"/>
            <a:ext cx="841248" cy="256032"/>
          </a:xfrm>
          <a:prstGeom prst="roundRect">
            <a:avLst>
              <a:gd name="adj" fmla="val 50000"/>
            </a:avLst>
          </a:prstGeom>
          <a:solidFill>
            <a:schemeClr val="bg1"/>
          </a:solidFill>
          <a:ln w="12700">
            <a:solidFill>
              <a:schemeClr val="accent1"/>
            </a:solidFill>
            <a:prstDash val="solid"/>
          </a:ln>
        </p:spPr>
      </p:sp>
      <p:sp>
        <p:nvSpPr>
          <p:cNvPr id="42" name="Text 39"/>
          <p:cNvSpPr txBox="1"/>
          <p:nvPr/>
        </p:nvSpPr>
        <p:spPr>
          <a:xfrm>
            <a:off x="5888736" y="4640580"/>
            <a:ext cx="841248" cy="256032"/>
          </a:xfrm>
          <a:prstGeom prst="rect">
            <a:avLst/>
          </a:prstGeom>
          <a:noFill/>
          <a:ln/>
        </p:spPr>
        <p:txBody>
          <a:bodyPr wrap="square" lIns="0" tIns="0" rIns="0" bIns="0" rtlCol="0" anchor="ctr"/>
          <a:lstStyle/>
          <a:p>
            <a:pPr algn="ctr" indent="0" marL="0">
              <a:buNone/>
            </a:pPr>
            <a:r>
              <a:rPr lang="en-US" sz="950" b="1" dirty="0">
                <a:solidFill>
                  <a:schemeClr val="accent1"/>
                </a:solidFill>
              </a:rPr>
              <a:t>DROPPED</a:t>
            </a:r>
            <a:endParaRPr lang="en-US" sz="950" dirty="0"/>
          </a:p>
        </p:txBody>
      </p:sp>
      <p:sp>
        <p:nvSpPr>
          <p:cNvPr id="43" name="Text 40"/>
          <p:cNvSpPr txBox="1"/>
          <p:nvPr/>
        </p:nvSpPr>
        <p:spPr>
          <a:xfrm>
            <a:off x="6858000" y="4526280"/>
            <a:ext cx="4572000" cy="484632"/>
          </a:xfrm>
          <a:prstGeom prst="rect">
            <a:avLst/>
          </a:prstGeom>
          <a:noFill/>
          <a:ln/>
        </p:spPr>
        <p:txBody>
          <a:bodyPr wrap="square" lIns="0" tIns="0" rIns="0" bIns="0" rtlCol="0" anchor="ctr"/>
          <a:lstStyle/>
          <a:p>
            <a:pPr indent="0" marL="0">
              <a:buNone/>
            </a:pPr>
            <a:r>
              <a:rPr lang="en-US" sz="1200" dirty="0">
                <a:solidFill>
                  <a:schemeClr val="tx1"/>
                </a:solidFill>
              </a:rPr>
              <a:t>“The county reported a surplus.”</a:t>
            </a:r>
            <a:endParaRPr lang="en-US" sz="1250" dirty="0"/>
          </a:p>
          <a:p>
            <a:pPr indent="0" marL="0">
              <a:buNone/>
            </a:pPr>
            <a:r>
              <a:rPr lang="en-US" sz="1050" i="1" dirty="0">
                <a:solidFill>
                  <a:schemeClr val="tx2"/>
                </a:solidFill>
              </a:rPr>
              <a:t>cites source 7 · does not point to a kept source</a:t>
            </a:r>
            <a:endParaRPr lang="en-US" sz="1250" dirty="0"/>
          </a:p>
        </p:txBody>
      </p:sp>
      <p:sp>
        <p:nvSpPr>
          <p:cNvPr id="44" name="Shape 41"/>
          <p:cNvSpPr/>
          <p:nvPr/>
        </p:nvSpPr>
        <p:spPr>
          <a:xfrm>
            <a:off x="640080" y="5230368"/>
            <a:ext cx="10881360" cy="896112"/>
          </a:xfrm>
          <a:prstGeom prst="roundRect">
            <a:avLst>
              <a:gd name="adj" fmla="val 6122"/>
            </a:avLst>
          </a:prstGeom>
          <a:solidFill>
            <a:schemeClr val="tx1"/>
          </a:solidFill>
          <a:ln w="12700">
            <a:solidFill>
              <a:schemeClr val="tx1"/>
            </a:solidFill>
            <a:prstDash val="solid"/>
          </a:ln>
        </p:spPr>
      </p:sp>
      <p:sp>
        <p:nvSpPr>
          <p:cNvPr id="45" name="Text 42"/>
          <p:cNvSpPr txBox="1"/>
          <p:nvPr/>
        </p:nvSpPr>
        <p:spPr>
          <a:xfrm>
            <a:off x="914400" y="5230368"/>
            <a:ext cx="10332720" cy="896112"/>
          </a:xfrm>
          <a:prstGeom prst="rect">
            <a:avLst/>
          </a:prstGeom>
          <a:noFill/>
          <a:ln/>
        </p:spPr>
        <p:txBody>
          <a:bodyPr wrap="square" lIns="0" tIns="0" rIns="0" bIns="0" rtlCol="0" anchor="ctr"/>
          <a:lstStyle/>
          <a:p>
            <a:pPr algn="ctr" indent="0" marL="0">
              <a:buNone/>
            </a:pPr>
            <a:r>
              <a:rPr lang="en-US" sz="1900" b="1" dirty="0">
                <a:solidFill>
                  <a:schemeClr val="bg1"/>
                </a:solidFill>
              </a:rPr>
              <a:t>The model writes the summary.  </a:t>
            </a:r>
            <a:pPr algn="ctr" indent="0" marL="0">
              <a:buNone/>
            </a:pPr>
            <a:r>
              <a:rPr lang="en-US" sz="1900" b="1" dirty="0">
                <a:solidFill>
                  <a:schemeClr val="accent3"/>
                </a:solidFill>
              </a:rPr>
              <a:t>Code decides what you see.</a:t>
            </a:r>
            <a:endParaRPr lang="en-US" sz="19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Tech stack: what is running</a:t>
            </a:r>
            <a:endParaRPr lang="en-US" sz="3800" dirty="0"/>
          </a:p>
        </p:txBody>
      </p:sp>
      <p:sp>
        <p:nvSpPr>
          <p:cNvPr id="4" name="Shape 1"/>
          <p:cNvSpPr/>
          <p:nvPr/>
        </p:nvSpPr>
        <p:spPr>
          <a:xfrm>
            <a:off x="640080" y="1371600"/>
            <a:ext cx="10881360" cy="731520"/>
          </a:xfrm>
          <a:prstGeom prst="roundRect">
            <a:avLst>
              <a:gd name="adj" fmla="val 7500"/>
            </a:avLst>
          </a:prstGeom>
          <a:solidFill>
            <a:schemeClr val="bg2"/>
          </a:solidFill>
          <a:ln w="12700">
            <a:solidFill>
              <a:schemeClr val="bg2"/>
            </a:solidFill>
            <a:prstDash val="solid"/>
          </a:ln>
        </p:spPr>
      </p:sp>
      <p:sp>
        <p:nvSpPr>
          <p:cNvPr id="5" name="Shape 2"/>
          <p:cNvSpPr/>
          <p:nvPr/>
        </p:nvSpPr>
        <p:spPr>
          <a:xfrm>
            <a:off x="868680" y="1545336"/>
            <a:ext cx="384048" cy="384048"/>
          </a:xfrm>
          <a:prstGeom prst="ellipse">
            <a:avLst/>
          </a:prstGeom>
          <a:solidFill>
            <a:schemeClr val="tx1"/>
          </a:solidFill>
          <a:ln w="12700">
            <a:solidFill>
              <a:schemeClr val="tx1"/>
            </a:solidFill>
            <a:prstDash val="solid"/>
          </a:ln>
        </p:spPr>
      </p:sp>
      <p:sp>
        <p:nvSpPr>
          <p:cNvPr id="6" name="Text 3"/>
          <p:cNvSpPr txBox="1"/>
          <p:nvPr/>
        </p:nvSpPr>
        <p:spPr>
          <a:xfrm>
            <a:off x="868680" y="1545336"/>
            <a:ext cx="384048" cy="384048"/>
          </a:xfrm>
          <a:prstGeom prst="rect">
            <a:avLst/>
          </a:prstGeom>
          <a:noFill/>
          <a:ln/>
        </p:spPr>
        <p:txBody>
          <a:bodyPr wrap="square" lIns="0" tIns="0" rIns="0" bIns="0" rtlCol="0" anchor="ctr"/>
          <a:lstStyle/>
          <a:p>
            <a:pPr algn="ctr" indent="0" marL="0">
              <a:buNone/>
            </a:pPr>
            <a:r>
              <a:rPr lang="en-US" sz="850" b="1" dirty="0">
                <a:solidFill>
                  <a:schemeClr val="bg1"/>
                </a:solidFill>
              </a:rPr>
              <a:t>FE</a:t>
            </a:r>
            <a:endParaRPr lang="en-US" sz="850" dirty="0"/>
          </a:p>
        </p:txBody>
      </p:sp>
      <p:sp>
        <p:nvSpPr>
          <p:cNvPr id="7" name="Text 4"/>
          <p:cNvSpPr txBox="1"/>
          <p:nvPr/>
        </p:nvSpPr>
        <p:spPr>
          <a:xfrm>
            <a:off x="1481328" y="1371600"/>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Frontend</a:t>
            </a:r>
            <a:endParaRPr lang="en-US" sz="1500" dirty="0"/>
          </a:p>
        </p:txBody>
      </p:sp>
      <p:sp>
        <p:nvSpPr>
          <p:cNvPr id="8" name="Text 5"/>
          <p:cNvSpPr txBox="1"/>
          <p:nvPr/>
        </p:nvSpPr>
        <p:spPr>
          <a:xfrm>
            <a:off x="3291840" y="1371600"/>
            <a:ext cx="8046720" cy="731520"/>
          </a:xfrm>
          <a:prstGeom prst="rect">
            <a:avLst/>
          </a:prstGeom>
          <a:noFill/>
          <a:ln/>
        </p:spPr>
        <p:txBody>
          <a:bodyPr wrap="square" lIns="0" tIns="0" rIns="0" bIns="0" rtlCol="0" anchor="ctr"/>
          <a:lstStyle/>
          <a:p>
            <a:pPr indent="0" marL="0">
              <a:buNone/>
            </a:pPr>
            <a:r>
              <a:rPr lang="en-US" sz="1250" dirty="0">
                <a:solidFill>
                  <a:schemeClr val="tx2"/>
                </a:solidFill>
              </a:rPr>
              <a:t>React 19 (Vite) · single-page web app for phone and desktop</a:t>
            </a:r>
            <a:endParaRPr lang="en-US" sz="1250" dirty="0"/>
          </a:p>
        </p:txBody>
      </p:sp>
      <p:sp>
        <p:nvSpPr>
          <p:cNvPr id="9" name="Shape 6"/>
          <p:cNvSpPr/>
          <p:nvPr/>
        </p:nvSpPr>
        <p:spPr>
          <a:xfrm>
            <a:off x="640080" y="2221992"/>
            <a:ext cx="10881360" cy="731520"/>
          </a:xfrm>
          <a:prstGeom prst="roundRect">
            <a:avLst>
              <a:gd name="adj" fmla="val 7500"/>
            </a:avLst>
          </a:prstGeom>
          <a:solidFill>
            <a:schemeClr val="bg2"/>
          </a:solidFill>
          <a:ln w="12700">
            <a:solidFill>
              <a:schemeClr val="bg2"/>
            </a:solidFill>
            <a:prstDash val="solid"/>
          </a:ln>
        </p:spPr>
      </p:sp>
      <p:sp>
        <p:nvSpPr>
          <p:cNvPr id="10" name="Shape 7"/>
          <p:cNvSpPr/>
          <p:nvPr/>
        </p:nvSpPr>
        <p:spPr>
          <a:xfrm>
            <a:off x="868680" y="2395728"/>
            <a:ext cx="384048" cy="384048"/>
          </a:xfrm>
          <a:prstGeom prst="ellipse">
            <a:avLst/>
          </a:prstGeom>
          <a:solidFill>
            <a:schemeClr val="tx1"/>
          </a:solidFill>
          <a:ln w="12700">
            <a:solidFill>
              <a:schemeClr val="tx1"/>
            </a:solidFill>
            <a:prstDash val="solid"/>
          </a:ln>
        </p:spPr>
      </p:sp>
      <p:sp>
        <p:nvSpPr>
          <p:cNvPr id="11" name="Text 8"/>
          <p:cNvSpPr txBox="1"/>
          <p:nvPr/>
        </p:nvSpPr>
        <p:spPr>
          <a:xfrm>
            <a:off x="868680" y="2395728"/>
            <a:ext cx="384048" cy="384048"/>
          </a:xfrm>
          <a:prstGeom prst="rect">
            <a:avLst/>
          </a:prstGeom>
          <a:noFill/>
          <a:ln/>
        </p:spPr>
        <p:txBody>
          <a:bodyPr wrap="square" lIns="0" tIns="0" rIns="0" bIns="0" rtlCol="0" anchor="ctr"/>
          <a:lstStyle/>
          <a:p>
            <a:pPr algn="ctr" indent="0" marL="0">
              <a:buNone/>
            </a:pPr>
            <a:r>
              <a:rPr lang="en-US" sz="850" b="1" dirty="0">
                <a:solidFill>
                  <a:schemeClr val="bg1"/>
                </a:solidFill>
              </a:rPr>
              <a:t>API</a:t>
            </a:r>
            <a:endParaRPr lang="en-US" sz="850" dirty="0"/>
          </a:p>
        </p:txBody>
      </p:sp>
      <p:sp>
        <p:nvSpPr>
          <p:cNvPr id="12" name="Text 9"/>
          <p:cNvSpPr txBox="1"/>
          <p:nvPr/>
        </p:nvSpPr>
        <p:spPr>
          <a:xfrm>
            <a:off x="1481328" y="2221992"/>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Backend</a:t>
            </a:r>
            <a:endParaRPr lang="en-US" sz="1500" dirty="0"/>
          </a:p>
        </p:txBody>
      </p:sp>
      <p:sp>
        <p:nvSpPr>
          <p:cNvPr id="13" name="Text 10"/>
          <p:cNvSpPr txBox="1"/>
          <p:nvPr/>
        </p:nvSpPr>
        <p:spPr>
          <a:xfrm>
            <a:off x="3291840" y="2221992"/>
            <a:ext cx="8046720" cy="731520"/>
          </a:xfrm>
          <a:prstGeom prst="rect">
            <a:avLst/>
          </a:prstGeom>
          <a:noFill/>
          <a:ln/>
        </p:spPr>
        <p:txBody>
          <a:bodyPr wrap="square" lIns="0" tIns="0" rIns="0" bIns="0" rtlCol="0" anchor="ctr"/>
          <a:lstStyle/>
          <a:p>
            <a:pPr indent="0" marL="0">
              <a:buNone/>
            </a:pPr>
            <a:r>
              <a:rPr lang="en-US" sz="1250" dirty="0">
                <a:solidFill>
                  <a:schemeClr val="tx2"/>
                </a:solidFill>
              </a:rPr>
              <a:t>Node.js + Express 5 REST API · four pipeline stages as separate modules (classify → source → policy → invite)</a:t>
            </a:r>
            <a:endParaRPr lang="en-US" sz="1250" dirty="0"/>
          </a:p>
        </p:txBody>
      </p:sp>
      <p:sp>
        <p:nvSpPr>
          <p:cNvPr id="14" name="Shape 11"/>
          <p:cNvSpPr/>
          <p:nvPr/>
        </p:nvSpPr>
        <p:spPr>
          <a:xfrm>
            <a:off x="640080" y="3072384"/>
            <a:ext cx="10881360" cy="731520"/>
          </a:xfrm>
          <a:prstGeom prst="roundRect">
            <a:avLst>
              <a:gd name="adj" fmla="val 7500"/>
            </a:avLst>
          </a:prstGeom>
          <a:solidFill>
            <a:schemeClr val="bg2"/>
          </a:solidFill>
          <a:ln w="12700">
            <a:solidFill>
              <a:schemeClr val="bg2"/>
            </a:solidFill>
            <a:prstDash val="solid"/>
          </a:ln>
        </p:spPr>
      </p:sp>
      <p:sp>
        <p:nvSpPr>
          <p:cNvPr id="15" name="Shape 12"/>
          <p:cNvSpPr/>
          <p:nvPr/>
        </p:nvSpPr>
        <p:spPr>
          <a:xfrm>
            <a:off x="868680" y="3246120"/>
            <a:ext cx="384048" cy="384048"/>
          </a:xfrm>
          <a:prstGeom prst="ellipse">
            <a:avLst/>
          </a:prstGeom>
          <a:solidFill>
            <a:schemeClr val="tx1"/>
          </a:solidFill>
          <a:ln w="12700">
            <a:solidFill>
              <a:schemeClr val="tx1"/>
            </a:solidFill>
            <a:prstDash val="solid"/>
          </a:ln>
        </p:spPr>
      </p:sp>
      <p:sp>
        <p:nvSpPr>
          <p:cNvPr id="16" name="Text 13"/>
          <p:cNvSpPr txBox="1"/>
          <p:nvPr/>
        </p:nvSpPr>
        <p:spPr>
          <a:xfrm>
            <a:off x="868680" y="3246120"/>
            <a:ext cx="384048" cy="384048"/>
          </a:xfrm>
          <a:prstGeom prst="rect">
            <a:avLst/>
          </a:prstGeom>
          <a:noFill/>
          <a:ln/>
        </p:spPr>
        <p:txBody>
          <a:bodyPr wrap="square" lIns="0" tIns="0" rIns="0" bIns="0" rtlCol="0" anchor="ctr"/>
          <a:lstStyle/>
          <a:p>
            <a:pPr algn="ctr" indent="0" marL="0">
              <a:buNone/>
            </a:pPr>
            <a:r>
              <a:rPr lang="en-US" sz="850" b="1" dirty="0">
                <a:solidFill>
                  <a:schemeClr val="bg1"/>
                </a:solidFill>
              </a:rPr>
              <a:t>DATA</a:t>
            </a:r>
            <a:endParaRPr lang="en-US" sz="850" dirty="0"/>
          </a:p>
        </p:txBody>
      </p:sp>
      <p:sp>
        <p:nvSpPr>
          <p:cNvPr id="17" name="Text 14"/>
          <p:cNvSpPr txBox="1"/>
          <p:nvPr/>
        </p:nvSpPr>
        <p:spPr>
          <a:xfrm>
            <a:off x="1481328" y="3072384"/>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Data</a:t>
            </a:r>
            <a:endParaRPr lang="en-US" sz="1500" dirty="0"/>
          </a:p>
        </p:txBody>
      </p:sp>
      <p:sp>
        <p:nvSpPr>
          <p:cNvPr id="18" name="Text 15"/>
          <p:cNvSpPr txBox="1"/>
          <p:nvPr/>
        </p:nvSpPr>
        <p:spPr>
          <a:xfrm>
            <a:off x="3291840" y="3072384"/>
            <a:ext cx="8046720" cy="731520"/>
          </a:xfrm>
          <a:prstGeom prst="rect">
            <a:avLst/>
          </a:prstGeom>
          <a:noFill/>
          <a:ln/>
        </p:spPr>
        <p:txBody>
          <a:bodyPr wrap="square" lIns="0" tIns="0" rIns="0" bIns="0" rtlCol="0" anchor="ctr"/>
          <a:lstStyle/>
          <a:p>
            <a:pPr indent="0" marL="0">
              <a:buNone/>
            </a:pPr>
            <a:r>
              <a:rPr lang="en-US" sz="1250" dirty="0">
                <a:solidFill>
                  <a:schemeClr val="tx2"/>
                </a:solidFill>
              </a:rPr>
              <a:t>Civic locality package as version-controlled YAML · every entry has a source, a tier, and a verified date · sessions are not stored</a:t>
            </a:r>
            <a:endParaRPr lang="en-US" sz="1250" dirty="0"/>
          </a:p>
        </p:txBody>
      </p:sp>
      <p:sp>
        <p:nvSpPr>
          <p:cNvPr id="19" name="Shape 16"/>
          <p:cNvSpPr/>
          <p:nvPr/>
        </p:nvSpPr>
        <p:spPr>
          <a:xfrm>
            <a:off x="640080" y="3922776"/>
            <a:ext cx="10881360" cy="731520"/>
          </a:xfrm>
          <a:prstGeom prst="roundRect">
            <a:avLst>
              <a:gd name="adj" fmla="val 7500"/>
            </a:avLst>
          </a:prstGeom>
          <a:solidFill>
            <a:schemeClr val="bg2"/>
          </a:solidFill>
          <a:ln w="12700">
            <a:solidFill>
              <a:schemeClr val="bg2"/>
            </a:solidFill>
            <a:prstDash val="solid"/>
          </a:ln>
        </p:spPr>
      </p:sp>
      <p:sp>
        <p:nvSpPr>
          <p:cNvPr id="20" name="Shape 17"/>
          <p:cNvSpPr/>
          <p:nvPr/>
        </p:nvSpPr>
        <p:spPr>
          <a:xfrm>
            <a:off x="868680" y="4096512"/>
            <a:ext cx="384048" cy="384048"/>
          </a:xfrm>
          <a:prstGeom prst="ellipse">
            <a:avLst/>
          </a:prstGeom>
          <a:solidFill>
            <a:schemeClr val="tx1"/>
          </a:solidFill>
          <a:ln w="12700">
            <a:solidFill>
              <a:schemeClr val="tx1"/>
            </a:solidFill>
            <a:prstDash val="solid"/>
          </a:ln>
        </p:spPr>
      </p:sp>
      <p:sp>
        <p:nvSpPr>
          <p:cNvPr id="21" name="Text 18"/>
          <p:cNvSpPr txBox="1"/>
          <p:nvPr/>
        </p:nvSpPr>
        <p:spPr>
          <a:xfrm>
            <a:off x="868680" y="4096512"/>
            <a:ext cx="384048" cy="384048"/>
          </a:xfrm>
          <a:prstGeom prst="rect">
            <a:avLst/>
          </a:prstGeom>
          <a:noFill/>
          <a:ln/>
        </p:spPr>
        <p:txBody>
          <a:bodyPr wrap="square" lIns="0" tIns="0" rIns="0" bIns="0" rtlCol="0" anchor="ctr"/>
          <a:lstStyle/>
          <a:p>
            <a:pPr algn="ctr" indent="0" marL="0">
              <a:buNone/>
            </a:pPr>
            <a:r>
              <a:rPr lang="en-US" sz="850" b="1" dirty="0">
                <a:solidFill>
                  <a:schemeClr val="bg1"/>
                </a:solidFill>
              </a:rPr>
              <a:t>AI</a:t>
            </a:r>
            <a:endParaRPr lang="en-US" sz="850" dirty="0"/>
          </a:p>
        </p:txBody>
      </p:sp>
      <p:sp>
        <p:nvSpPr>
          <p:cNvPr id="22" name="Text 19"/>
          <p:cNvSpPr txBox="1"/>
          <p:nvPr/>
        </p:nvSpPr>
        <p:spPr>
          <a:xfrm>
            <a:off x="1481328" y="3922776"/>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Model layer</a:t>
            </a:r>
            <a:endParaRPr lang="en-US" sz="1500" dirty="0"/>
          </a:p>
        </p:txBody>
      </p:sp>
      <p:sp>
        <p:nvSpPr>
          <p:cNvPr id="23" name="Text 20"/>
          <p:cNvSpPr txBox="1"/>
          <p:nvPr/>
        </p:nvSpPr>
        <p:spPr>
          <a:xfrm>
            <a:off x="3291840" y="3922776"/>
            <a:ext cx="8046720" cy="731520"/>
          </a:xfrm>
          <a:prstGeom prst="rect">
            <a:avLst/>
          </a:prstGeom>
          <a:noFill/>
          <a:ln/>
        </p:spPr>
        <p:txBody>
          <a:bodyPr wrap="square" lIns="0" tIns="0" rIns="0" bIns="0" rtlCol="0" anchor="ctr"/>
          <a:lstStyle/>
          <a:p>
            <a:pPr indent="0" marL="0">
              <a:buNone/>
            </a:pPr>
            <a:r>
              <a:rPr lang="en-US" sz="1250" dirty="0">
                <a:solidFill>
                  <a:schemeClr val="tx2"/>
                </a:solidFill>
              </a:rPr>
              <a:t>Claude Haiku 4.5 in two stages, classification and summary draft · one swappable adapter · clean fallback · every call logged to the transparency record</a:t>
            </a:r>
            <a:endParaRPr lang="en-US" sz="1250" dirty="0"/>
          </a:p>
        </p:txBody>
      </p:sp>
      <p:sp>
        <p:nvSpPr>
          <p:cNvPr id="24" name="Shape 21"/>
          <p:cNvSpPr/>
          <p:nvPr/>
        </p:nvSpPr>
        <p:spPr>
          <a:xfrm>
            <a:off x="640080" y="4773168"/>
            <a:ext cx="10881360" cy="731520"/>
          </a:xfrm>
          <a:prstGeom prst="roundRect">
            <a:avLst>
              <a:gd name="adj" fmla="val 7500"/>
            </a:avLst>
          </a:prstGeom>
          <a:solidFill>
            <a:schemeClr val="bg2"/>
          </a:solidFill>
          <a:ln w="12700">
            <a:solidFill>
              <a:schemeClr val="bg2"/>
            </a:solidFill>
            <a:prstDash val="solid"/>
          </a:ln>
        </p:spPr>
      </p:sp>
      <p:sp>
        <p:nvSpPr>
          <p:cNvPr id="25" name="Shape 22"/>
          <p:cNvSpPr/>
          <p:nvPr/>
        </p:nvSpPr>
        <p:spPr>
          <a:xfrm>
            <a:off x="868680" y="4946904"/>
            <a:ext cx="384048" cy="384048"/>
          </a:xfrm>
          <a:prstGeom prst="ellipse">
            <a:avLst/>
          </a:prstGeom>
          <a:solidFill>
            <a:schemeClr val="tx1"/>
          </a:solidFill>
          <a:ln w="12700">
            <a:solidFill>
              <a:schemeClr val="tx1"/>
            </a:solidFill>
            <a:prstDash val="solid"/>
          </a:ln>
        </p:spPr>
      </p:sp>
      <p:sp>
        <p:nvSpPr>
          <p:cNvPr id="26" name="Text 23"/>
          <p:cNvSpPr txBox="1"/>
          <p:nvPr/>
        </p:nvSpPr>
        <p:spPr>
          <a:xfrm>
            <a:off x="868680" y="4946904"/>
            <a:ext cx="384048" cy="384048"/>
          </a:xfrm>
          <a:prstGeom prst="rect">
            <a:avLst/>
          </a:prstGeom>
          <a:noFill/>
          <a:ln/>
        </p:spPr>
        <p:txBody>
          <a:bodyPr wrap="square" lIns="0" tIns="0" rIns="0" bIns="0" rtlCol="0" anchor="ctr"/>
          <a:lstStyle/>
          <a:p>
            <a:pPr algn="ctr" indent="0" marL="0">
              <a:buNone/>
            </a:pPr>
            <a:r>
              <a:rPr lang="en-US" sz="850" b="1" dirty="0">
                <a:solidFill>
                  <a:schemeClr val="bg1"/>
                </a:solidFill>
              </a:rPr>
              <a:t>OPS</a:t>
            </a:r>
            <a:endParaRPr lang="en-US" sz="850" dirty="0"/>
          </a:p>
        </p:txBody>
      </p:sp>
      <p:sp>
        <p:nvSpPr>
          <p:cNvPr id="27" name="Text 24"/>
          <p:cNvSpPr txBox="1"/>
          <p:nvPr/>
        </p:nvSpPr>
        <p:spPr>
          <a:xfrm>
            <a:off x="1481328" y="4773168"/>
            <a:ext cx="1737360" cy="731520"/>
          </a:xfrm>
          <a:prstGeom prst="rect">
            <a:avLst/>
          </a:prstGeom>
          <a:noFill/>
          <a:ln/>
        </p:spPr>
        <p:txBody>
          <a:bodyPr wrap="square" lIns="0" tIns="0" rIns="0" bIns="0" rtlCol="0" anchor="ctr"/>
          <a:lstStyle/>
          <a:p>
            <a:pPr indent="0" marL="0">
              <a:buNone/>
            </a:pPr>
            <a:r>
              <a:rPr lang="en-US" sz="1500" b="1" dirty="0">
                <a:solidFill>
                  <a:schemeClr val="tx1"/>
                </a:solidFill>
              </a:rPr>
              <a:t>Infra &amp; process</a:t>
            </a:r>
            <a:endParaRPr lang="en-US" sz="1500" dirty="0"/>
          </a:p>
        </p:txBody>
      </p:sp>
      <p:sp>
        <p:nvSpPr>
          <p:cNvPr id="28" name="Text 25"/>
          <p:cNvSpPr txBox="1"/>
          <p:nvPr/>
        </p:nvSpPr>
        <p:spPr>
          <a:xfrm>
            <a:off x="3291840" y="4773168"/>
            <a:ext cx="8046720" cy="731520"/>
          </a:xfrm>
          <a:prstGeom prst="rect">
            <a:avLst/>
          </a:prstGeom>
          <a:noFill/>
          <a:ln/>
        </p:spPr>
        <p:txBody>
          <a:bodyPr wrap="square" lIns="0" tIns="0" rIns="0" bIns="0" rtlCol="0" anchor="ctr"/>
          <a:lstStyle/>
          <a:p>
            <a:pPr indent="0" marL="0">
              <a:buNone/>
            </a:pPr>
            <a:r>
              <a:rPr lang="en-US" sz="1250" dirty="0">
                <a:solidFill>
                  <a:schemeClr val="tx2"/>
                </a:solidFill>
              </a:rPr>
              <a:t>AWS EC2 + nginx + pm2, HTTPS via Let’s Encrypt · pull requests into a protected main · dated decisions log</a:t>
            </a:r>
            <a:endParaRPr lang="en-US" sz="1250" dirty="0"/>
          </a:p>
        </p:txBody>
      </p:sp>
      <p:sp>
        <p:nvSpPr>
          <p:cNvPr id="29" name="Shape 26"/>
          <p:cNvSpPr/>
          <p:nvPr/>
        </p:nvSpPr>
        <p:spPr>
          <a:xfrm>
            <a:off x="640080" y="5623560"/>
            <a:ext cx="10881360" cy="640080"/>
          </a:xfrm>
          <a:prstGeom prst="roundRect">
            <a:avLst>
              <a:gd name="adj" fmla="val 8571"/>
            </a:avLst>
          </a:prstGeom>
          <a:solidFill>
            <a:schemeClr val="bg1"/>
          </a:solidFill>
          <a:ln w="15875">
            <a:solidFill>
              <a:schemeClr val="accent1"/>
            </a:solidFill>
            <a:prstDash val="solid"/>
          </a:ln>
        </p:spPr>
      </p:sp>
      <p:sp>
        <p:nvSpPr>
          <p:cNvPr id="30" name="Text 27"/>
          <p:cNvSpPr txBox="1"/>
          <p:nvPr/>
        </p:nvSpPr>
        <p:spPr>
          <a:xfrm>
            <a:off x="868680" y="5623560"/>
            <a:ext cx="10424160" cy="640080"/>
          </a:xfrm>
          <a:prstGeom prst="rect">
            <a:avLst/>
          </a:prstGeom>
          <a:noFill/>
          <a:ln/>
        </p:spPr>
        <p:txBody>
          <a:bodyPr wrap="square" lIns="0" tIns="0" rIns="0" bIns="0" rtlCol="0" anchor="ctr"/>
          <a:lstStyle/>
          <a:p>
            <a:pPr indent="0" marL="0">
              <a:buNone/>
            </a:pPr>
            <a:r>
              <a:rPr lang="en-US" sz="1250" b="1" dirty="0">
                <a:solidFill>
                  <a:schemeClr val="accent1"/>
                </a:solidFill>
              </a:rPr>
              <a:t>Changed since August: </a:t>
            </a:r>
            <a:pPr indent="0" marL="0">
              <a:buNone/>
            </a:pPr>
            <a:r>
              <a:rPr lang="en-US" sz="1250" dirty="0">
                <a:solidFill>
                  <a:schemeClr val="tx1"/>
                </a:solidFill>
              </a:rPr>
              <a:t>no PostgreSQL and no CI pipeline yet. Nothing about a session is kept, so there is nothing to store. Both are on the roadmap.</a:t>
            </a:r>
            <a:endParaRPr lang="en-US" sz="125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Your feedback, and honest limits</a:t>
            </a:r>
            <a:endParaRPr lang="en-US" sz="3800" dirty="0"/>
          </a:p>
        </p:txBody>
      </p:sp>
      <p:sp>
        <p:nvSpPr>
          <p:cNvPr id="4" name="Shape 1"/>
          <p:cNvSpPr/>
          <p:nvPr/>
        </p:nvSpPr>
        <p:spPr>
          <a:xfrm>
            <a:off x="640080" y="1417320"/>
            <a:ext cx="6400800" cy="640080"/>
          </a:xfrm>
          <a:prstGeom prst="roundRect">
            <a:avLst>
              <a:gd name="adj" fmla="val 8571"/>
            </a:avLst>
          </a:prstGeom>
          <a:solidFill>
            <a:schemeClr val="bg2"/>
          </a:solidFill>
          <a:ln w="12700">
            <a:solidFill>
              <a:schemeClr val="bg2"/>
            </a:solidFill>
            <a:prstDash val="solid"/>
          </a:ln>
        </p:spPr>
        <p:txBody>
          <a:bodyPr/>
          <a:p/>
        </p:txBody>
      </p:sp>
      <p:sp>
        <p:nvSpPr>
          <p:cNvPr id="5" name="Shape 2"/>
          <p:cNvSpPr/>
          <p:nvPr/>
        </p:nvSpPr>
        <p:spPr>
          <a:xfrm>
            <a:off x="841248" y="1545336"/>
            <a:ext cx="384048" cy="384048"/>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841248" y="1545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389888" y="1463040"/>
            <a:ext cx="4114800" cy="292608"/>
          </a:xfrm>
          <a:prstGeom prst="rect">
            <a:avLst/>
          </a:prstGeom>
          <a:noFill/>
          <a:ln/>
        </p:spPr>
        <p:txBody>
          <a:bodyPr wrap="square" lIns="0" tIns="0" rIns="0" bIns="0" rtlCol="0" anchor="ctr"/>
          <a:lstStyle/>
          <a:p>
            <a:pPr indent="0" marL="0">
              <a:buNone/>
            </a:pPr>
            <a:r>
              <a:rPr lang="en-US" sz="1500" b="1" dirty="0">
                <a:solidFill>
                  <a:schemeClr val="tx1"/>
                </a:solidFill>
              </a:rPr>
              <a:t>A diagram of how a claim flows</a:t>
            </a:r>
            <a:endParaRPr lang="en-US" sz="1500" dirty="0"/>
          </a:p>
        </p:txBody>
      </p:sp>
      <p:sp>
        <p:nvSpPr>
          <p:cNvPr id="8" name="Text 5"/>
          <p:cNvSpPr txBox="1"/>
          <p:nvPr/>
        </p:nvSpPr>
        <p:spPr>
          <a:xfrm>
            <a:off x="1389888" y="1755648"/>
            <a:ext cx="4206240" cy="256032"/>
          </a:xfrm>
          <a:prstGeom prst="rect">
            <a:avLst/>
          </a:prstGeom>
          <a:noFill/>
          <a:ln/>
        </p:spPr>
        <p:txBody>
          <a:bodyPr wrap="square" lIns="0" tIns="0" rIns="0" bIns="0" rtlCol="0" anchor="ctr"/>
          <a:lstStyle/>
          <a:p>
            <a:pPr indent="0" marL="0">
              <a:buNone/>
            </a:pPr>
            <a:r>
              <a:rPr lang="en-US" sz="1200" dirty="0">
                <a:solidFill>
                  <a:schemeClr val="tx2"/>
                </a:solidFill>
              </a:rPr>
              <a:t>In this deck and on the repo front page.</a:t>
            </a:r>
            <a:endParaRPr lang="en-US" sz="1200" dirty="0"/>
          </a:p>
        </p:txBody>
      </p:sp>
      <p:sp>
        <p:nvSpPr>
          <p:cNvPr id="9" name="Shape 6"/>
          <p:cNvSpPr/>
          <p:nvPr/>
        </p:nvSpPr>
        <p:spPr>
          <a:xfrm>
            <a:off x="5669280" y="1609344"/>
            <a:ext cx="1188720" cy="256032"/>
          </a:xfrm>
          <a:prstGeom prst="roundRect">
            <a:avLst>
              <a:gd name="adj" fmla="val 50000"/>
            </a:avLst>
          </a:prstGeom>
          <a:solidFill>
            <a:schemeClr val="tx1"/>
          </a:solidFill>
          <a:ln w="12700">
            <a:solidFill>
              <a:schemeClr val="tx1"/>
            </a:solidFill>
            <a:prstDash val="solid"/>
          </a:ln>
        </p:spPr>
        <p:txBody>
          <a:bodyPr/>
          <a:p/>
        </p:txBody>
      </p:sp>
      <p:sp>
        <p:nvSpPr>
          <p:cNvPr id="10" name="Text 7"/>
          <p:cNvSpPr txBox="1"/>
          <p:nvPr/>
        </p:nvSpPr>
        <p:spPr>
          <a:xfrm>
            <a:off x="5669280" y="1609344"/>
            <a:ext cx="1188720" cy="256032"/>
          </a:xfrm>
          <a:prstGeom prst="rect">
            <a:avLst/>
          </a:prstGeom>
          <a:noFill/>
          <a:ln/>
        </p:spPr>
        <p:txBody>
          <a:bodyPr wrap="square" lIns="0" tIns="0" rIns="0" bIns="0" rtlCol="0" anchor="ctr"/>
          <a:lstStyle/>
          <a:p>
            <a:pPr algn="ctr" indent="0" marL="0">
              <a:buNone/>
            </a:pPr>
            <a:r>
              <a:rPr lang="en-US" sz="950" b="1" dirty="0">
                <a:solidFill>
                  <a:schemeClr val="bg1"/>
                </a:solidFill>
              </a:rPr>
              <a:t>DONE</a:t>
            </a:r>
            <a:endParaRPr lang="en-US" sz="950" dirty="0"/>
          </a:p>
        </p:txBody>
      </p:sp>
      <p:sp>
        <p:nvSpPr>
          <p:cNvPr id="11" name="Shape 8"/>
          <p:cNvSpPr/>
          <p:nvPr/>
        </p:nvSpPr>
        <p:spPr>
          <a:xfrm>
            <a:off x="640080" y="2139696"/>
            <a:ext cx="6400800" cy="640080"/>
          </a:xfrm>
          <a:prstGeom prst="roundRect">
            <a:avLst>
              <a:gd name="adj" fmla="val 8571"/>
            </a:avLst>
          </a:prstGeom>
          <a:solidFill>
            <a:schemeClr val="bg2"/>
          </a:solidFill>
          <a:ln w="12700">
            <a:solidFill>
              <a:schemeClr val="bg2"/>
            </a:solidFill>
            <a:prstDash val="solid"/>
          </a:ln>
        </p:spPr>
        <p:txBody>
          <a:bodyPr/>
          <a:p/>
        </p:txBody>
      </p:sp>
      <p:sp>
        <p:nvSpPr>
          <p:cNvPr id="12" name="Shape 9"/>
          <p:cNvSpPr/>
          <p:nvPr/>
        </p:nvSpPr>
        <p:spPr>
          <a:xfrm>
            <a:off x="841248" y="2267712"/>
            <a:ext cx="384048" cy="384048"/>
          </a:xfrm>
          <a:prstGeom prst="ellipse">
            <a:avLst/>
          </a:prstGeom>
          <a:solidFill>
            <a:schemeClr val="accent1"/>
          </a:solidFill>
          <a:ln w="12700">
            <a:solidFill>
              <a:schemeClr val="accent1"/>
            </a:solidFill>
            <a:prstDash val="solid"/>
          </a:ln>
        </p:spPr>
        <p:txBody>
          <a:bodyPr/>
          <a:p/>
        </p:txBody>
      </p:sp>
      <p:sp>
        <p:nvSpPr>
          <p:cNvPr id="13" name="Text 10"/>
          <p:cNvSpPr txBox="1"/>
          <p:nvPr/>
        </p:nvSpPr>
        <p:spPr>
          <a:xfrm>
            <a:off x="841248" y="22677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1389888" y="2185416"/>
            <a:ext cx="4114800" cy="292608"/>
          </a:xfrm>
          <a:prstGeom prst="rect">
            <a:avLst/>
          </a:prstGeom>
          <a:noFill/>
          <a:ln/>
        </p:spPr>
        <p:txBody>
          <a:bodyPr wrap="square" lIns="0" tIns="0" rIns="0" bIns="0" rtlCol="0" anchor="ctr"/>
          <a:lstStyle/>
          <a:p>
            <a:pPr indent="0" marL="0">
              <a:buNone/>
            </a:pPr>
            <a:r>
              <a:rPr lang="en-US" sz="1500" b="1" dirty="0">
                <a:solidFill>
                  <a:schemeClr val="tx1"/>
                </a:solidFill>
              </a:rPr>
              <a:t>Build out the data for one locality</a:t>
            </a:r>
            <a:endParaRPr lang="en-US" sz="1500" dirty="0"/>
          </a:p>
        </p:txBody>
      </p:sp>
      <p:sp>
        <p:nvSpPr>
          <p:cNvPr id="15" name="Text 12"/>
          <p:cNvSpPr txBox="1"/>
          <p:nvPr/>
        </p:nvSpPr>
        <p:spPr>
          <a:xfrm>
            <a:off x="1389888" y="2478024"/>
            <a:ext cx="4206240" cy="256032"/>
          </a:xfrm>
          <a:prstGeom prst="rect">
            <a:avLst/>
          </a:prstGeom>
          <a:noFill/>
          <a:ln/>
        </p:spPr>
        <p:txBody>
          <a:bodyPr wrap="square" lIns="0" tIns="0" rIns="0" bIns="0" rtlCol="0" anchor="ctr"/>
          <a:lstStyle/>
          <a:p>
            <a:pPr indent="0" marL="0">
              <a:buNone/>
            </a:pPr>
            <a:r>
              <a:rPr lang="en-US" sz="1200" dirty="0">
                <a:solidFill>
                  <a:schemeClr val="tx2"/>
                </a:solidFill>
              </a:rPr>
              <a:t>Delaware County v1, plus three real source records.</a:t>
            </a:r>
            <a:endParaRPr lang="en-US" sz="1200" dirty="0"/>
          </a:p>
        </p:txBody>
      </p:sp>
      <p:sp>
        <p:nvSpPr>
          <p:cNvPr id="16" name="Shape 13"/>
          <p:cNvSpPr/>
          <p:nvPr/>
        </p:nvSpPr>
        <p:spPr>
          <a:xfrm>
            <a:off x="5669280" y="2331720"/>
            <a:ext cx="1188720" cy="256032"/>
          </a:xfrm>
          <a:prstGeom prst="roundRect">
            <a:avLst>
              <a:gd name="adj" fmla="val 50000"/>
            </a:avLst>
          </a:prstGeom>
          <a:solidFill>
            <a:schemeClr val="tx1"/>
          </a:solidFill>
          <a:ln w="12700">
            <a:solidFill>
              <a:schemeClr val="tx1"/>
            </a:solidFill>
            <a:prstDash val="solid"/>
          </a:ln>
        </p:spPr>
        <p:txBody>
          <a:bodyPr/>
          <a:p/>
        </p:txBody>
      </p:sp>
      <p:sp>
        <p:nvSpPr>
          <p:cNvPr id="17" name="Text 14"/>
          <p:cNvSpPr txBox="1"/>
          <p:nvPr/>
        </p:nvSpPr>
        <p:spPr>
          <a:xfrm>
            <a:off x="5669280" y="2331720"/>
            <a:ext cx="1188720" cy="256032"/>
          </a:xfrm>
          <a:prstGeom prst="rect">
            <a:avLst/>
          </a:prstGeom>
          <a:noFill/>
          <a:ln/>
        </p:spPr>
        <p:txBody>
          <a:bodyPr wrap="square" lIns="0" tIns="0" rIns="0" bIns="0" rtlCol="0" anchor="ctr"/>
          <a:lstStyle/>
          <a:p>
            <a:pPr algn="ctr" indent="0" marL="0">
              <a:buNone/>
            </a:pPr>
            <a:r>
              <a:rPr lang="en-US" sz="950" b="1" dirty="0">
                <a:solidFill>
                  <a:schemeClr val="bg1"/>
                </a:solidFill>
              </a:rPr>
              <a:t>DONE</a:t>
            </a:r>
            <a:endParaRPr lang="en-US" sz="950" dirty="0"/>
          </a:p>
        </p:txBody>
      </p:sp>
      <p:sp>
        <p:nvSpPr>
          <p:cNvPr id="18" name="Shape 15"/>
          <p:cNvSpPr/>
          <p:nvPr/>
        </p:nvSpPr>
        <p:spPr>
          <a:xfrm>
            <a:off x="640080" y="2862072"/>
            <a:ext cx="6400800" cy="640080"/>
          </a:xfrm>
          <a:prstGeom prst="roundRect">
            <a:avLst>
              <a:gd name="adj" fmla="val 8571"/>
            </a:avLst>
          </a:prstGeom>
          <a:solidFill>
            <a:schemeClr val="bg2"/>
          </a:solidFill>
          <a:ln w="12700">
            <a:solidFill>
              <a:schemeClr val="bg2"/>
            </a:solidFill>
            <a:prstDash val="solid"/>
          </a:ln>
        </p:spPr>
        <p:txBody>
          <a:bodyPr/>
          <a:p/>
        </p:txBody>
      </p:sp>
      <p:sp>
        <p:nvSpPr>
          <p:cNvPr id="19" name="Shape 16"/>
          <p:cNvSpPr/>
          <p:nvPr/>
        </p:nvSpPr>
        <p:spPr>
          <a:xfrm>
            <a:off x="841248" y="2990088"/>
            <a:ext cx="384048" cy="384048"/>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841248" y="29900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8"/>
          <p:cNvSpPr txBox="1"/>
          <p:nvPr/>
        </p:nvSpPr>
        <p:spPr>
          <a:xfrm>
            <a:off x="1389888" y="2907792"/>
            <a:ext cx="4114800" cy="292608"/>
          </a:xfrm>
          <a:prstGeom prst="rect">
            <a:avLst/>
          </a:prstGeom>
          <a:noFill/>
          <a:ln/>
        </p:spPr>
        <p:txBody>
          <a:bodyPr wrap="square" lIns="0" tIns="0" rIns="0" bIns="0" rtlCol="0" anchor="ctr"/>
          <a:lstStyle/>
          <a:p>
            <a:pPr indent="0" marL="0">
              <a:buNone/>
            </a:pPr>
            <a:r>
              <a:rPr lang="en-US" sz="1500" b="1" dirty="0">
                <a:solidFill>
                  <a:schemeClr val="tx1"/>
                </a:solidFill>
              </a:rPr>
              <a:t>Keep using GitHub</a:t>
            </a:r>
            <a:endParaRPr lang="en-US" sz="1500" dirty="0"/>
          </a:p>
        </p:txBody>
      </p:sp>
      <p:sp>
        <p:nvSpPr>
          <p:cNvPr id="22" name="Text 19"/>
          <p:cNvSpPr txBox="1"/>
          <p:nvPr/>
        </p:nvSpPr>
        <p:spPr>
          <a:xfrm>
            <a:off x="1389888" y="3200400"/>
            <a:ext cx="4206240" cy="256032"/>
          </a:xfrm>
          <a:prstGeom prst="rect">
            <a:avLst/>
          </a:prstGeom>
          <a:noFill/>
          <a:ln/>
        </p:spPr>
        <p:txBody>
          <a:bodyPr wrap="square" lIns="0" tIns="0" rIns="0" bIns="0" rtlCol="0" anchor="ctr"/>
          <a:lstStyle/>
          <a:p>
            <a:pPr indent="0" marL="0">
              <a:buNone/>
            </a:pPr>
            <a:r>
              <a:rPr lang="en-US" sz="1200" dirty="0">
                <a:solidFill>
                  <a:schemeClr val="tx2"/>
                </a:solidFill>
              </a:rPr>
              <a:t>Branch, pull request, protected main, decisions log.</a:t>
            </a:r>
            <a:endParaRPr lang="en-US" sz="1200" dirty="0"/>
          </a:p>
        </p:txBody>
      </p:sp>
      <p:sp>
        <p:nvSpPr>
          <p:cNvPr id="23" name="Shape 20"/>
          <p:cNvSpPr/>
          <p:nvPr/>
        </p:nvSpPr>
        <p:spPr>
          <a:xfrm>
            <a:off x="5669280" y="3054096"/>
            <a:ext cx="1188720" cy="256032"/>
          </a:xfrm>
          <a:prstGeom prst="roundRect">
            <a:avLst>
              <a:gd name="adj" fmla="val 50000"/>
            </a:avLst>
          </a:prstGeom>
          <a:solidFill>
            <a:schemeClr val="tx1"/>
          </a:solidFill>
          <a:ln w="12700">
            <a:solidFill>
              <a:schemeClr val="tx1"/>
            </a:solidFill>
            <a:prstDash val="solid"/>
          </a:ln>
        </p:spPr>
        <p:txBody>
          <a:bodyPr/>
          <a:p/>
        </p:txBody>
      </p:sp>
      <p:sp>
        <p:nvSpPr>
          <p:cNvPr id="24" name="Text 21"/>
          <p:cNvSpPr txBox="1"/>
          <p:nvPr/>
        </p:nvSpPr>
        <p:spPr>
          <a:xfrm>
            <a:off x="5669280" y="3054096"/>
            <a:ext cx="1188720" cy="256032"/>
          </a:xfrm>
          <a:prstGeom prst="rect">
            <a:avLst/>
          </a:prstGeom>
          <a:noFill/>
          <a:ln/>
        </p:spPr>
        <p:txBody>
          <a:bodyPr wrap="square" lIns="0" tIns="0" rIns="0" bIns="0" rtlCol="0" anchor="ctr"/>
          <a:lstStyle/>
          <a:p>
            <a:pPr algn="ctr" indent="0" marL="0">
              <a:buNone/>
            </a:pPr>
            <a:r>
              <a:rPr lang="en-US" sz="950" b="1" dirty="0">
                <a:solidFill>
                  <a:schemeClr val="bg1"/>
                </a:solidFill>
              </a:rPr>
              <a:t>DONE</a:t>
            </a:r>
            <a:endParaRPr lang="en-US" sz="950" dirty="0"/>
          </a:p>
        </p:txBody>
      </p:sp>
      <p:sp>
        <p:nvSpPr>
          <p:cNvPr id="25" name="Shape 22"/>
          <p:cNvSpPr/>
          <p:nvPr/>
        </p:nvSpPr>
        <p:spPr>
          <a:xfrm>
            <a:off x="640080" y="3584448"/>
            <a:ext cx="6400800" cy="640080"/>
          </a:xfrm>
          <a:prstGeom prst="roundRect">
            <a:avLst>
              <a:gd name="adj" fmla="val 8571"/>
            </a:avLst>
          </a:prstGeom>
          <a:solidFill>
            <a:schemeClr val="bg2"/>
          </a:solidFill>
          <a:ln w="12700">
            <a:solidFill>
              <a:schemeClr val="bg2"/>
            </a:solidFill>
            <a:prstDash val="solid"/>
          </a:ln>
        </p:spPr>
        <p:txBody>
          <a:bodyPr/>
          <a:p/>
        </p:txBody>
      </p:sp>
      <p:sp>
        <p:nvSpPr>
          <p:cNvPr id="26" name="Shape 23"/>
          <p:cNvSpPr/>
          <p:nvPr/>
        </p:nvSpPr>
        <p:spPr>
          <a:xfrm>
            <a:off x="841248" y="3712464"/>
            <a:ext cx="384048" cy="384048"/>
          </a:xfrm>
          <a:prstGeom prst="ellipse">
            <a:avLst/>
          </a:prstGeom>
          <a:solidFill>
            <a:schemeClr val="accent1"/>
          </a:solidFill>
          <a:ln w="12700">
            <a:solidFill>
              <a:schemeClr val="accent1"/>
            </a:solidFill>
            <a:prstDash val="solid"/>
          </a:ln>
        </p:spPr>
        <p:txBody>
          <a:bodyPr/>
          <a:p/>
        </p:txBody>
      </p:sp>
      <p:sp>
        <p:nvSpPr>
          <p:cNvPr id="27" name="Text 24"/>
          <p:cNvSpPr txBox="1"/>
          <p:nvPr/>
        </p:nvSpPr>
        <p:spPr>
          <a:xfrm>
            <a:off x="841248" y="371246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1389888" y="3630168"/>
            <a:ext cx="4114800" cy="292608"/>
          </a:xfrm>
          <a:prstGeom prst="rect">
            <a:avLst/>
          </a:prstGeom>
          <a:noFill/>
          <a:ln/>
        </p:spPr>
        <p:txBody>
          <a:bodyPr wrap="square" lIns="0" tIns="0" rIns="0" bIns="0" rtlCol="0" anchor="ctr"/>
          <a:lstStyle/>
          <a:p>
            <a:pPr indent="0" marL="0">
              <a:buNone/>
            </a:pPr>
            <a:r>
              <a:rPr lang="en-US" sz="1500" b="1" dirty="0">
                <a:solidFill>
                  <a:schemeClr val="tx1"/>
                </a:solidFill>
              </a:rPr>
              <a:t>More interviews</a:t>
            </a:r>
            <a:endParaRPr lang="en-US" sz="1500" dirty="0"/>
          </a:p>
        </p:txBody>
      </p:sp>
      <p:sp>
        <p:nvSpPr>
          <p:cNvPr id="29" name="Text 26"/>
          <p:cNvSpPr txBox="1"/>
          <p:nvPr/>
        </p:nvSpPr>
        <p:spPr>
          <a:xfrm>
            <a:off x="1389888" y="3922776"/>
            <a:ext cx="4206240" cy="256032"/>
          </a:xfrm>
          <a:prstGeom prst="rect">
            <a:avLst/>
          </a:prstGeom>
          <a:noFill/>
          <a:ln/>
        </p:spPr>
        <p:txBody>
          <a:bodyPr wrap="square" lIns="0" tIns="0" rIns="0" bIns="0" rtlCol="0" anchor="ctr"/>
          <a:lstStyle/>
          <a:p>
            <a:pPr indent="0" marL="0">
              <a:buNone/>
            </a:pPr>
            <a:r>
              <a:rPr lang="en-US" sz="1200" dirty="0">
                <a:solidFill>
                  <a:schemeClr val="tx2"/>
                </a:solidFill>
              </a:rPr>
              <a:t>Round 1: attorney, librarian, student. Round 2 is underway.</a:t>
            </a:r>
            <a:endParaRPr lang="en-US" sz="1200" dirty="0"/>
          </a:p>
        </p:txBody>
      </p:sp>
      <p:sp>
        <p:nvSpPr>
          <p:cNvPr id="30" name="Shape 27"/>
          <p:cNvSpPr/>
          <p:nvPr/>
        </p:nvSpPr>
        <p:spPr>
          <a:xfrm>
            <a:off x="5669280" y="3776472"/>
            <a:ext cx="1188720" cy="256032"/>
          </a:xfrm>
          <a:prstGeom prst="roundRect">
            <a:avLst>
              <a:gd name="adj" fmla="val 50000"/>
            </a:avLst>
          </a:prstGeom>
          <a:solidFill>
            <a:schemeClr val="bg1"/>
          </a:solidFill>
          <a:ln w="12700">
            <a:solidFill>
              <a:schemeClr val="accent1"/>
            </a:solidFill>
            <a:prstDash val="solid"/>
          </a:ln>
        </p:spPr>
        <p:txBody>
          <a:bodyPr/>
          <a:p/>
        </p:txBody>
      </p:sp>
      <p:sp>
        <p:nvSpPr>
          <p:cNvPr id="31" name="Text 28"/>
          <p:cNvSpPr txBox="1"/>
          <p:nvPr/>
        </p:nvSpPr>
        <p:spPr>
          <a:xfrm>
            <a:off x="5669280" y="3776472"/>
            <a:ext cx="1188720" cy="256032"/>
          </a:xfrm>
          <a:prstGeom prst="rect">
            <a:avLst/>
          </a:prstGeom>
          <a:noFill/>
          <a:ln/>
        </p:spPr>
        <p:txBody>
          <a:bodyPr wrap="square" lIns="0" tIns="0" rIns="0" bIns="0" rtlCol="0" anchor="ctr"/>
          <a:lstStyle/>
          <a:p>
            <a:pPr algn="ctr" indent="0" marL="0">
              <a:buNone/>
            </a:pPr>
            <a:r>
              <a:rPr lang="en-US" sz="950" b="1" dirty="0">
                <a:solidFill>
                  <a:schemeClr val="accent1"/>
                </a:solidFill>
              </a:rPr>
              <a:t>IN PROGRESS</a:t>
            </a:r>
            <a:endParaRPr lang="en-US" sz="950" dirty="0"/>
          </a:p>
        </p:txBody>
      </p:sp>
      <p:sp>
        <p:nvSpPr>
          <p:cNvPr id="32" name="Shape 29"/>
          <p:cNvSpPr/>
          <p:nvPr/>
        </p:nvSpPr>
        <p:spPr>
          <a:xfrm>
            <a:off x="640080" y="4306824"/>
            <a:ext cx="6400800" cy="640080"/>
          </a:xfrm>
          <a:prstGeom prst="roundRect">
            <a:avLst>
              <a:gd name="adj" fmla="val 8571"/>
            </a:avLst>
          </a:prstGeom>
          <a:solidFill>
            <a:schemeClr val="bg2"/>
          </a:solidFill>
          <a:ln w="12700">
            <a:solidFill>
              <a:schemeClr val="bg2"/>
            </a:solidFill>
            <a:prstDash val="solid"/>
          </a:ln>
        </p:spPr>
        <p:txBody>
          <a:bodyPr/>
          <a:p/>
        </p:txBody>
      </p:sp>
      <p:sp>
        <p:nvSpPr>
          <p:cNvPr id="33" name="Shape 30"/>
          <p:cNvSpPr/>
          <p:nvPr/>
        </p:nvSpPr>
        <p:spPr>
          <a:xfrm>
            <a:off x="841248" y="4434840"/>
            <a:ext cx="384048" cy="384048"/>
          </a:xfrm>
          <a:prstGeom prst="ellipse">
            <a:avLst/>
          </a:prstGeom>
          <a:solidFill>
            <a:schemeClr val="accent1"/>
          </a:solidFill>
          <a:ln w="12700">
            <a:solidFill>
              <a:schemeClr val="accent1"/>
            </a:solidFill>
            <a:prstDash val="solid"/>
          </a:ln>
        </p:spPr>
        <p:txBody>
          <a:bodyPr/>
          <a:p/>
        </p:txBody>
      </p:sp>
      <p:sp>
        <p:nvSpPr>
          <p:cNvPr id="34" name="Text 31"/>
          <p:cNvSpPr txBox="1"/>
          <p:nvPr/>
        </p:nvSpPr>
        <p:spPr>
          <a:xfrm>
            <a:off x="841248" y="4434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5" name="Text 32"/>
          <p:cNvSpPr txBox="1"/>
          <p:nvPr/>
        </p:nvSpPr>
        <p:spPr>
          <a:xfrm>
            <a:off x="1389888" y="4352544"/>
            <a:ext cx="4114800" cy="292608"/>
          </a:xfrm>
          <a:prstGeom prst="rect">
            <a:avLst/>
          </a:prstGeom>
          <a:noFill/>
          <a:ln/>
        </p:spPr>
        <p:txBody>
          <a:bodyPr wrap="square" lIns="0" tIns="0" rIns="0" bIns="0" rtlCol="0" anchor="ctr"/>
          <a:lstStyle/>
          <a:p>
            <a:pPr indent="0" marL="0">
              <a:buNone/>
            </a:pPr>
            <a:r>
              <a:rPr lang="en-US" sz="1500" b="1" dirty="0">
                <a:solidFill>
                  <a:schemeClr val="tx1"/>
                </a:solidFill>
              </a:rPr>
              <a:t>README, server, interface polish</a:t>
            </a:r>
            <a:endParaRPr lang="en-US" sz="1500" dirty="0"/>
          </a:p>
        </p:txBody>
      </p:sp>
      <p:sp>
        <p:nvSpPr>
          <p:cNvPr id="36" name="Text 33"/>
          <p:cNvSpPr txBox="1"/>
          <p:nvPr/>
        </p:nvSpPr>
        <p:spPr>
          <a:xfrm>
            <a:off x="1389888" y="4645152"/>
            <a:ext cx="4206240" cy="256032"/>
          </a:xfrm>
          <a:prstGeom prst="rect">
            <a:avLst/>
          </a:prstGeom>
          <a:noFill/>
          <a:ln/>
        </p:spPr>
        <p:txBody>
          <a:bodyPr wrap="square" lIns="0" tIns="0" rIns="0" bIns="0" rtlCol="0" anchor="ctr"/>
          <a:lstStyle/>
          <a:p>
            <a:pPr indent="0" marL="0">
              <a:buNone/>
            </a:pPr>
            <a:r>
              <a:rPr lang="en-US" sz="1200" dirty="0">
                <a:solidFill>
                  <a:schemeClr val="tx2"/>
                </a:solidFill>
              </a:rPr>
              <a:t>Instructor feedback in October. All three are live.</a:t>
            </a:r>
            <a:endParaRPr lang="en-US" sz="1200" dirty="0"/>
          </a:p>
        </p:txBody>
      </p:sp>
      <p:sp>
        <p:nvSpPr>
          <p:cNvPr id="37" name="Shape 34"/>
          <p:cNvSpPr/>
          <p:nvPr/>
        </p:nvSpPr>
        <p:spPr>
          <a:xfrm>
            <a:off x="5669280" y="4498848"/>
            <a:ext cx="1188720" cy="256032"/>
          </a:xfrm>
          <a:prstGeom prst="roundRect">
            <a:avLst>
              <a:gd name="adj" fmla="val 50000"/>
            </a:avLst>
          </a:prstGeom>
          <a:solidFill>
            <a:schemeClr val="tx1"/>
          </a:solidFill>
          <a:ln w="12700">
            <a:solidFill>
              <a:schemeClr val="tx1"/>
            </a:solidFill>
            <a:prstDash val="solid"/>
          </a:ln>
        </p:spPr>
        <p:txBody>
          <a:bodyPr/>
          <a:p/>
        </p:txBody>
      </p:sp>
      <p:sp>
        <p:nvSpPr>
          <p:cNvPr id="38" name="Text 35"/>
          <p:cNvSpPr txBox="1"/>
          <p:nvPr/>
        </p:nvSpPr>
        <p:spPr>
          <a:xfrm>
            <a:off x="5669280" y="4498848"/>
            <a:ext cx="1188720" cy="256032"/>
          </a:xfrm>
          <a:prstGeom prst="rect">
            <a:avLst/>
          </a:prstGeom>
          <a:noFill/>
          <a:ln/>
        </p:spPr>
        <p:txBody>
          <a:bodyPr wrap="square" lIns="0" tIns="0" rIns="0" bIns="0" rtlCol="0" anchor="ctr"/>
          <a:lstStyle/>
          <a:p>
            <a:pPr algn="ctr" indent="0" marL="0">
              <a:buNone/>
            </a:pPr>
            <a:r>
              <a:rPr lang="en-US" sz="950" b="1" dirty="0">
                <a:solidFill>
                  <a:schemeClr val="bg1"/>
                </a:solidFill>
              </a:rPr>
              <a:t>DONE</a:t>
            </a:r>
            <a:endParaRPr lang="en-US" sz="950" dirty="0"/>
          </a:p>
        </p:txBody>
      </p:sp>
      <p:sp>
        <p:nvSpPr>
          <p:cNvPr id="39" name="Shape 36"/>
          <p:cNvSpPr/>
          <p:nvPr/>
        </p:nvSpPr>
        <p:spPr>
          <a:xfrm>
            <a:off x="7315200" y="1417320"/>
            <a:ext cx="4206240" cy="3547872"/>
          </a:xfrm>
          <a:prstGeom prst="roundRect">
            <a:avLst>
              <a:gd name="adj" fmla="val 1546"/>
            </a:avLst>
          </a:prstGeom>
          <a:solidFill>
            <a:schemeClr val="bg1"/>
          </a:solidFill>
          <a:ln w="15875">
            <a:solidFill>
              <a:schemeClr val="tx2"/>
            </a:solidFill>
            <a:prstDash val="solid"/>
          </a:ln>
        </p:spPr>
        <p:txBody>
          <a:bodyPr/>
          <a:p/>
        </p:txBody>
      </p:sp>
      <p:sp>
        <p:nvSpPr>
          <p:cNvPr id="40" name="Text 37"/>
          <p:cNvSpPr txBox="1"/>
          <p:nvPr/>
        </p:nvSpPr>
        <p:spPr>
          <a:xfrm>
            <a:off x="7543800" y="1554480"/>
            <a:ext cx="3749040" cy="365760"/>
          </a:xfrm>
          <a:prstGeom prst="rect">
            <a:avLst/>
          </a:prstGeom>
          <a:noFill/>
          <a:ln/>
        </p:spPr>
        <p:txBody>
          <a:bodyPr wrap="square" lIns="0" tIns="0" rIns="0" bIns="0" rtlCol="0" anchor="ctr"/>
          <a:lstStyle/>
          <a:p>
            <a:pPr indent="0" marL="0">
              <a:buNone/>
            </a:pPr>
            <a:r>
              <a:rPr lang="en-US" sz="1500" b="1" dirty="0">
                <a:solidFill>
                  <a:schemeClr val="accent1"/>
                </a:solidFill>
              </a:rPr>
              <a:t>What it cannot do yet</a:t>
            </a:r>
            <a:endParaRPr lang="en-US" sz="1500" dirty="0"/>
          </a:p>
        </p:txBody>
      </p:sp>
      <p:sp>
        <p:nvSpPr>
          <p:cNvPr id="41" name="Text 38"/>
          <p:cNvSpPr txBox="1"/>
          <p:nvPr/>
        </p:nvSpPr>
        <p:spPr>
          <a:xfrm>
            <a:off x="7543800" y="1965960"/>
            <a:ext cx="3749040" cy="288036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chemeClr val="tx1"/>
                </a:solidFill>
              </a:rPr>
              <a:t>The checker verifies attribution, figures, and wording. It does not yet verify that a paraphrase keeps the source’s meaning.</a:t>
            </a:r>
            <a:endParaRPr lang="en-US" sz="1450" dirty="0"/>
          </a:p>
          <a:p>
            <a:pPr marL="342900" indent="-342900">
              <a:spcAft>
                <a:spcPts val="1200"/>
              </a:spcAft>
              <a:buSzPct val="100000"/>
              <a:buChar char="•"/>
            </a:pPr>
            <a:r>
              <a:rPr lang="en-US" sz="1450" dirty="0">
                <a:solidFill>
                  <a:schemeClr val="tx1"/>
                </a:solidFill>
              </a:rPr>
              <a:t>It has records for one question, the levy. Any other claim, even one its own data could answer, gets a “not yet covered” card until that context is built out.</a:t>
            </a:r>
            <a:endParaRPr lang="en-US" sz="1450" dirty="0"/>
          </a:p>
          <a:p>
            <a:pPr marL="342900" indent="-342900">
              <a:spcAft>
                <a:spcPts val="1200"/>
              </a:spcAft>
              <a:buSzPct val="100000"/>
              <a:buChar char="•"/>
            </a:pPr>
            <a:r>
              <a:rPr lang="en-US" sz="1450" dirty="0">
                <a:solidFill>
                  <a:schemeClr val="tx1"/>
                </a:solidFill>
              </a:rPr>
              <a:t>One county, maintained by hand.</a:t>
            </a:r>
            <a:endParaRPr lang="en-US" sz="1450" dirty="0"/>
          </a:p>
        </p:txBody>
      </p:sp>
      <p:sp>
        <p:nvSpPr>
          <p:cNvPr id="42" name="Shape 39"/>
          <p:cNvSpPr/>
          <p:nvPr/>
        </p:nvSpPr>
        <p:spPr>
          <a:xfrm>
            <a:off x="640080" y="5166360"/>
            <a:ext cx="10881360" cy="960120"/>
          </a:xfrm>
          <a:prstGeom prst="roundRect">
            <a:avLst>
              <a:gd name="adj" fmla="val 5714"/>
            </a:avLst>
          </a:prstGeom>
          <a:solidFill>
            <a:schemeClr val="tx1"/>
          </a:solidFill>
          <a:ln w="12700">
            <a:solidFill>
              <a:schemeClr val="tx1"/>
            </a:solidFill>
            <a:prstDash val="solid"/>
          </a:ln>
        </p:spPr>
      </p:sp>
      <p:sp>
        <p:nvSpPr>
          <p:cNvPr id="43" name="Text 40"/>
          <p:cNvSpPr txBox="1"/>
          <p:nvPr/>
        </p:nvSpPr>
        <p:spPr>
          <a:xfrm>
            <a:off x="914400" y="5166360"/>
            <a:ext cx="10332720" cy="960120"/>
          </a:xfrm>
          <a:prstGeom prst="rect">
            <a:avLst/>
          </a:prstGeom>
          <a:noFill/>
          <a:ln/>
        </p:spPr>
        <p:txBody>
          <a:bodyPr wrap="square" lIns="0" tIns="0" rIns="0" bIns="0" rtlCol="0" anchor="ctr"/>
          <a:lstStyle/>
          <a:p>
            <a:pPr algn="ctr" indent="0" marL="0">
              <a:buNone/>
            </a:pPr>
            <a:r>
              <a:rPr lang="en-US" sz="1900" dirty="0">
                <a:solidFill>
                  <a:schemeClr val="bg1"/>
                </a:solidFill>
              </a:rPr>
              <a:t>A tool about trust has to be honest about its own edges.</a:t>
            </a:r>
            <a:endParaRPr lang="en-US" sz="19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Beyond the capstone: what comes next</a:t>
            </a:r>
            <a:endParaRPr lang="en-US" sz="3800" dirty="0"/>
          </a:p>
        </p:txBody>
      </p:sp>
      <p:sp>
        <p:nvSpPr>
          <p:cNvPr id="4" name="Shape 1"/>
          <p:cNvSpPr/>
          <p:nvPr/>
        </p:nvSpPr>
        <p:spPr>
          <a:xfrm>
            <a:off x="640080" y="1371600"/>
            <a:ext cx="10881360" cy="822960"/>
          </a:xfrm>
          <a:prstGeom prst="roundRect">
            <a:avLst>
              <a:gd name="adj" fmla="val 6667"/>
            </a:avLst>
          </a:prstGeom>
          <a:solidFill>
            <a:schemeClr val="bg2"/>
          </a:solidFill>
          <a:ln w="12700">
            <a:solidFill>
              <a:schemeClr val="bg2"/>
            </a:solidFill>
            <a:prstDash val="solid"/>
          </a:ln>
        </p:spPr>
        <p:txBody>
          <a:bodyPr/>
          <a:p/>
        </p:txBody>
      </p:sp>
      <p:sp>
        <p:nvSpPr>
          <p:cNvPr id="5" name="Shape 2"/>
          <p:cNvSpPr/>
          <p:nvPr/>
        </p:nvSpPr>
        <p:spPr>
          <a:xfrm>
            <a:off x="868680" y="1591056"/>
            <a:ext cx="384048" cy="384048"/>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868680" y="15910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463040" y="1371600"/>
            <a:ext cx="2926080" cy="822960"/>
          </a:xfrm>
          <a:prstGeom prst="rect">
            <a:avLst/>
          </a:prstGeom>
          <a:noFill/>
          <a:ln/>
        </p:spPr>
        <p:txBody>
          <a:bodyPr wrap="square" lIns="0" tIns="0" rIns="0" bIns="0" rtlCol="0" anchor="ctr"/>
          <a:lstStyle/>
          <a:p>
            <a:pPr indent="0" marL="0">
              <a:buNone/>
            </a:pPr>
            <a:r>
              <a:rPr lang="en-US" sz="1500" b="1" dirty="0">
                <a:solidFill>
                  <a:schemeClr val="tx1"/>
                </a:solidFill>
              </a:rPr>
              <a:t>Next in the build</a:t>
            </a:r>
            <a:endParaRPr lang="en-US" sz="1500" dirty="0"/>
          </a:p>
        </p:txBody>
      </p:sp>
      <p:sp>
        <p:nvSpPr>
          <p:cNvPr id="8" name="Text 5"/>
          <p:cNvSpPr txBox="1"/>
          <p:nvPr/>
        </p:nvSpPr>
        <p:spPr>
          <a:xfrm>
            <a:off x="4480560" y="1371600"/>
            <a:ext cx="6858000" cy="822960"/>
          </a:xfrm>
          <a:prstGeom prst="rect">
            <a:avLst/>
          </a:prstGeom>
          <a:noFill/>
          <a:ln/>
        </p:spPr>
        <p:txBody>
          <a:bodyPr wrap="square" lIns="0" tIns="0" rIns="0" bIns="0" rtlCol="0" anchor="ctr"/>
          <a:lstStyle/>
          <a:p>
            <a:pPr indent="0" marL="0">
              <a:buNone/>
            </a:pPr>
            <a:r>
              <a:rPr lang="en-US" sz="1250" dirty="0">
                <a:solidFill>
                  <a:schemeClr val="tx2"/>
                </a:solidFill>
              </a:rPr>
              <a:t>A checker that catches the right number attached to the wrong idea · automated tests for every rule · sources connected to the claims people actually bring.</a:t>
            </a:r>
            <a:endParaRPr lang="en-US" sz="1250" dirty="0"/>
          </a:p>
        </p:txBody>
      </p:sp>
      <p:sp>
        <p:nvSpPr>
          <p:cNvPr id="9" name="Shape 6"/>
          <p:cNvSpPr/>
          <p:nvPr/>
        </p:nvSpPr>
        <p:spPr>
          <a:xfrm>
            <a:off x="640080" y="2313432"/>
            <a:ext cx="10881360" cy="822960"/>
          </a:xfrm>
          <a:prstGeom prst="roundRect">
            <a:avLst>
              <a:gd name="adj" fmla="val 6667"/>
            </a:avLst>
          </a:prstGeom>
          <a:solidFill>
            <a:schemeClr val="bg2"/>
          </a:solidFill>
          <a:ln w="12700">
            <a:solidFill>
              <a:schemeClr val="bg2"/>
            </a:solidFill>
            <a:prstDash val="solid"/>
          </a:ln>
        </p:spPr>
      </p:sp>
      <p:sp>
        <p:nvSpPr>
          <p:cNvPr id="10" name="Shape 7"/>
          <p:cNvSpPr/>
          <p:nvPr/>
        </p:nvSpPr>
        <p:spPr>
          <a:xfrm>
            <a:off x="868680" y="253288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868680" y="25328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1463040" y="2313432"/>
            <a:ext cx="2926080" cy="822960"/>
          </a:xfrm>
          <a:prstGeom prst="rect">
            <a:avLst/>
          </a:prstGeom>
          <a:noFill/>
          <a:ln/>
        </p:spPr>
        <p:txBody>
          <a:bodyPr wrap="square" lIns="0" tIns="0" rIns="0" bIns="0" rtlCol="0" anchor="ctr"/>
          <a:lstStyle/>
          <a:p>
            <a:pPr indent="0" marL="0">
              <a:buNone/>
            </a:pPr>
            <a:r>
              <a:rPr lang="en-US" sz="1500" b="1" dirty="0">
                <a:solidFill>
                  <a:schemeClr val="tx1"/>
                </a:solidFill>
              </a:rPr>
              <a:t>Local stewards</a:t>
            </a:r>
            <a:endParaRPr lang="en-US" sz="1500" dirty="0"/>
          </a:p>
        </p:txBody>
      </p:sp>
      <p:sp>
        <p:nvSpPr>
          <p:cNvPr id="13" name="Text 10"/>
          <p:cNvSpPr txBox="1"/>
          <p:nvPr/>
        </p:nvSpPr>
        <p:spPr>
          <a:xfrm>
            <a:off x="4480560" y="2313432"/>
            <a:ext cx="6858000" cy="822960"/>
          </a:xfrm>
          <a:prstGeom prst="rect">
            <a:avLst/>
          </a:prstGeom>
          <a:noFill/>
          <a:ln/>
        </p:spPr>
        <p:txBody>
          <a:bodyPr wrap="square" lIns="0" tIns="0" rIns="0" bIns="0" rtlCol="0" anchor="ctr"/>
          <a:lstStyle/>
          <a:p>
            <a:pPr indent="0" marL="0">
              <a:buNone/>
            </a:pPr>
            <a:r>
              <a:rPr lang="en-US" sz="1250" dirty="0">
                <a:solidFill>
                  <a:schemeClr val="tx2"/>
                </a:solidFill>
              </a:rPr>
              <a:t>Residents and libraries in each place keep its information current, with the same source-and-date receipt on every entry. Who does this, and how, is the open question.</a:t>
            </a:r>
            <a:endParaRPr lang="en-US" sz="1250" dirty="0"/>
          </a:p>
        </p:txBody>
      </p:sp>
      <p:sp>
        <p:nvSpPr>
          <p:cNvPr id="14" name="Shape 11"/>
          <p:cNvSpPr/>
          <p:nvPr/>
        </p:nvSpPr>
        <p:spPr>
          <a:xfrm>
            <a:off x="640080" y="3255264"/>
            <a:ext cx="10881360" cy="822960"/>
          </a:xfrm>
          <a:prstGeom prst="roundRect">
            <a:avLst>
              <a:gd name="adj" fmla="val 6667"/>
            </a:avLst>
          </a:prstGeom>
          <a:solidFill>
            <a:schemeClr val="bg2"/>
          </a:solidFill>
          <a:ln w="12700">
            <a:solidFill>
              <a:schemeClr val="bg2"/>
            </a:solidFill>
            <a:prstDash val="solid"/>
          </a:ln>
        </p:spPr>
      </p:sp>
      <p:sp>
        <p:nvSpPr>
          <p:cNvPr id="15" name="Shape 12"/>
          <p:cNvSpPr/>
          <p:nvPr/>
        </p:nvSpPr>
        <p:spPr>
          <a:xfrm>
            <a:off x="868680" y="3474720"/>
            <a:ext cx="384048" cy="384048"/>
          </a:xfrm>
          <a:prstGeom prst="ellipse">
            <a:avLst/>
          </a:prstGeom>
          <a:solidFill>
            <a:schemeClr val="accent1"/>
          </a:solidFill>
          <a:ln w="12700">
            <a:solidFill>
              <a:schemeClr val="accent1"/>
            </a:solidFill>
            <a:prstDash val="solid"/>
          </a:ln>
        </p:spPr>
      </p:sp>
      <p:sp>
        <p:nvSpPr>
          <p:cNvPr id="16" name="Text 13"/>
          <p:cNvSpPr txBox="1"/>
          <p:nvPr/>
        </p:nvSpPr>
        <p:spPr>
          <a:xfrm>
            <a:off x="868680" y="3474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1463040" y="3255264"/>
            <a:ext cx="2926080" cy="822960"/>
          </a:xfrm>
          <a:prstGeom prst="rect">
            <a:avLst/>
          </a:prstGeom>
          <a:noFill/>
          <a:ln/>
        </p:spPr>
        <p:txBody>
          <a:bodyPr wrap="square" lIns="0" tIns="0" rIns="0" bIns="0" rtlCol="0" anchor="ctr"/>
          <a:lstStyle/>
          <a:p>
            <a:pPr indent="0" marL="0">
              <a:buNone/>
            </a:pPr>
            <a:r>
              <a:rPr lang="en-US" sz="1500" b="1" dirty="0">
                <a:solidFill>
                  <a:schemeClr val="tx1"/>
                </a:solidFill>
              </a:rPr>
              <a:t>Community source submission</a:t>
            </a:r>
            <a:endParaRPr lang="en-US" sz="1500" dirty="0"/>
          </a:p>
        </p:txBody>
      </p:sp>
      <p:sp>
        <p:nvSpPr>
          <p:cNvPr id="18" name="Text 15"/>
          <p:cNvSpPr txBox="1"/>
          <p:nvPr/>
        </p:nvSpPr>
        <p:spPr>
          <a:xfrm>
            <a:off x="4480560" y="3255264"/>
            <a:ext cx="6858000" cy="822960"/>
          </a:xfrm>
          <a:prstGeom prst="rect">
            <a:avLst/>
          </a:prstGeom>
          <a:noFill/>
          <a:ln/>
        </p:spPr>
        <p:txBody>
          <a:bodyPr wrap="square" lIns="0" tIns="0" rIns="0" bIns="0" rtlCol="0" anchor="ctr"/>
          <a:lstStyle/>
          <a:p>
            <a:pPr indent="0" marL="0">
              <a:buNone/>
            </a:pPr>
            <a:r>
              <a:rPr lang="en-US" sz="1250" dirty="0">
                <a:solidFill>
                  <a:schemeClr val="tx2"/>
                </a:solidFill>
              </a:rPr>
              <a:t>People can hand Footnote evidence; nobody can hand it an opinion. Reviewed pipeline, no posts, no identities, no audience.</a:t>
            </a:r>
            <a:endParaRPr lang="en-US" sz="1250" dirty="0"/>
          </a:p>
        </p:txBody>
      </p:sp>
      <p:sp>
        <p:nvSpPr>
          <p:cNvPr id="19" name="Shape 16"/>
          <p:cNvSpPr/>
          <p:nvPr/>
        </p:nvSpPr>
        <p:spPr>
          <a:xfrm>
            <a:off x="640080" y="4197096"/>
            <a:ext cx="10881360" cy="822960"/>
          </a:xfrm>
          <a:prstGeom prst="roundRect">
            <a:avLst>
              <a:gd name="adj" fmla="val 6667"/>
            </a:avLst>
          </a:prstGeom>
          <a:solidFill>
            <a:schemeClr val="bg2"/>
          </a:solidFill>
          <a:ln w="12700">
            <a:solidFill>
              <a:schemeClr val="bg2"/>
            </a:solidFill>
            <a:prstDash val="solid"/>
          </a:ln>
        </p:spPr>
      </p:sp>
      <p:sp>
        <p:nvSpPr>
          <p:cNvPr id="20" name="Shape 17"/>
          <p:cNvSpPr/>
          <p:nvPr/>
        </p:nvSpPr>
        <p:spPr>
          <a:xfrm>
            <a:off x="868680" y="4416552"/>
            <a:ext cx="384048" cy="384048"/>
          </a:xfrm>
          <a:prstGeom prst="ellipse">
            <a:avLst/>
          </a:prstGeom>
          <a:solidFill>
            <a:schemeClr val="accent1"/>
          </a:solidFill>
          <a:ln w="12700">
            <a:solidFill>
              <a:schemeClr val="accent1"/>
            </a:solidFill>
            <a:prstDash val="solid"/>
          </a:ln>
        </p:spPr>
      </p:sp>
      <p:sp>
        <p:nvSpPr>
          <p:cNvPr id="21" name="Text 18"/>
          <p:cNvSpPr txBox="1"/>
          <p:nvPr/>
        </p:nvSpPr>
        <p:spPr>
          <a:xfrm>
            <a:off x="868680" y="44165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1463040" y="4197096"/>
            <a:ext cx="2926080" cy="822960"/>
          </a:xfrm>
          <a:prstGeom prst="rect">
            <a:avLst/>
          </a:prstGeom>
          <a:noFill/>
          <a:ln/>
        </p:spPr>
        <p:txBody>
          <a:bodyPr wrap="square" lIns="0" tIns="0" rIns="0" bIns="0" rtlCol="0" anchor="ctr"/>
          <a:lstStyle/>
          <a:p>
            <a:pPr indent="0" marL="0">
              <a:buNone/>
            </a:pPr>
            <a:r>
              <a:rPr lang="en-US" sz="1500" b="1" dirty="0">
                <a:solidFill>
                  <a:schemeClr val="tx1"/>
                </a:solidFill>
              </a:rPr>
              <a:t>Topic packages</a:t>
            </a:r>
            <a:endParaRPr lang="en-US" sz="1500" dirty="0"/>
          </a:p>
        </p:txBody>
      </p:sp>
      <p:sp>
        <p:nvSpPr>
          <p:cNvPr id="23" name="Text 20"/>
          <p:cNvSpPr txBox="1"/>
          <p:nvPr/>
        </p:nvSpPr>
        <p:spPr>
          <a:xfrm>
            <a:off x="4480560" y="4197096"/>
            <a:ext cx="6858000" cy="822960"/>
          </a:xfrm>
          <a:prstGeom prst="rect">
            <a:avLst/>
          </a:prstGeom>
          <a:noFill/>
          <a:ln/>
        </p:spPr>
        <p:txBody>
          <a:bodyPr wrap="square" lIns="0" tIns="0" rIns="0" bIns="0" rtlCol="0" anchor="ctr"/>
          <a:lstStyle/>
          <a:p>
            <a:pPr indent="0" marL="0">
              <a:buNone/>
            </a:pPr>
            <a:r>
              <a:rPr lang="en-US" sz="1250" dirty="0">
                <a:solidFill>
                  <a:schemeClr val="tx2"/>
                </a:solidFill>
              </a:rPr>
              <a:t>The same provenance engine aimed at issues residents feel but don’t research: data-center siting, water and power agreements. Cite, never characterize.</a:t>
            </a:r>
            <a:endParaRPr lang="en-US" sz="1250" dirty="0"/>
          </a:p>
        </p:txBody>
      </p:sp>
      <p:sp>
        <p:nvSpPr>
          <p:cNvPr id="24" name="Shape 21"/>
          <p:cNvSpPr/>
          <p:nvPr/>
        </p:nvSpPr>
        <p:spPr>
          <a:xfrm>
            <a:off x="640080" y="5257800"/>
            <a:ext cx="10881360" cy="868680"/>
          </a:xfrm>
          <a:prstGeom prst="roundRect">
            <a:avLst>
              <a:gd name="adj" fmla="val 6316"/>
            </a:avLst>
          </a:prstGeom>
          <a:solidFill>
            <a:schemeClr val="tx1"/>
          </a:solidFill>
          <a:ln w="12700">
            <a:solidFill>
              <a:schemeClr val="tx1"/>
            </a:solidFill>
            <a:prstDash val="solid"/>
          </a:ln>
        </p:spPr>
      </p:sp>
      <p:sp>
        <p:nvSpPr>
          <p:cNvPr id="25" name="Text 22"/>
          <p:cNvSpPr txBox="1"/>
          <p:nvPr/>
        </p:nvSpPr>
        <p:spPr>
          <a:xfrm>
            <a:off x="914400" y="5257800"/>
            <a:ext cx="10332720" cy="868680"/>
          </a:xfrm>
          <a:prstGeom prst="rect">
            <a:avLst/>
          </a:prstGeom>
          <a:noFill/>
          <a:ln/>
        </p:spPr>
        <p:txBody>
          <a:bodyPr wrap="square" lIns="0" tIns="0" rIns="0" bIns="0" rtlCol="0" anchor="ctr"/>
          <a:lstStyle/>
          <a:p>
            <a:pPr algn="ctr" indent="0" marL="0">
              <a:buNone/>
            </a:pPr>
            <a:r>
              <a:rPr lang="en-US" sz="1400" b="1" dirty="0">
                <a:solidFill>
                  <a:schemeClr val="accent3"/>
                </a:solidFill>
              </a:rPr>
              <a:t>Sustainability: </a:t>
            </a:r>
            <a:pPr algn="ctr" indent="0" marL="0">
              <a:buNone/>
            </a:pPr>
            <a:r>
              <a:rPr lang="en-US" sz="1400" dirty="0">
                <a:solidFill>
                  <a:schemeClr val="bg1"/>
                </a:solidFill>
              </a:rPr>
              <a:t>free for citizens, always · institutional licensing (libraries, schools) · engine as an API · grants bridge · no ads, no engagement monetization, ever.</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822960" y="1097280"/>
            <a:ext cx="10515600" cy="914400"/>
          </a:xfrm>
          <a:prstGeom prst="rect">
            <a:avLst/>
          </a:prstGeom>
          <a:noFill/>
          <a:ln/>
        </p:spPr>
        <p:txBody>
          <a:bodyPr wrap="square" lIns="0" tIns="0" rIns="0" bIns="0" rtlCol="0" anchor="ctr"/>
          <a:lstStyle/>
          <a:p>
            <a:pPr indent="0" marL="0">
              <a:buNone/>
            </a:pPr>
            <a:r>
              <a:rPr lang="en-US" sz="4000" b="1" dirty="0">
                <a:solidFill>
                  <a:schemeClr val="bg1"/>
                </a:solidFill>
                <a:latin typeface="+mj-lt" pitchFamily="34" charset="0"/>
                <a:ea typeface="+mj-lt" pitchFamily="34" charset="-122"/>
                <a:cs typeface="+mj-lt" pitchFamily="34" charset="-120"/>
              </a:rPr>
              <a:t>Footnote</a:t>
            </a:r>
            <a:pPr indent="0" marL="0">
              <a:buNone/>
            </a:pPr>
            <a:r>
              <a:rPr lang="en-US" sz="2000" b="1" baseline="30000" dirty="0">
                <a:solidFill>
                  <a:schemeClr val="accent3"/>
                </a:solidFill>
                <a:latin typeface="+mj-lt" pitchFamily="34" charset="0"/>
                <a:ea typeface="+mj-lt" pitchFamily="34" charset="-122"/>
                <a:cs typeface="+mj-lt" pitchFamily="34" charset="-120"/>
              </a:rPr>
              <a:t>1</a:t>
            </a:r>
            <a:endParaRPr lang="en-US" sz="4000" dirty="0"/>
          </a:p>
        </p:txBody>
      </p:sp>
      <p:sp>
        <p:nvSpPr>
          <p:cNvPr id="4" name="Text 1"/>
          <p:cNvSpPr txBox="1"/>
          <p:nvPr/>
        </p:nvSpPr>
        <p:spPr>
          <a:xfrm>
            <a:off x="850392" y="2240280"/>
            <a:ext cx="9509760" cy="1371600"/>
          </a:xfrm>
          <a:prstGeom prst="rect">
            <a:avLst/>
          </a:prstGeom>
          <a:noFill/>
          <a:ln/>
        </p:spPr>
        <p:txBody>
          <a:bodyPr wrap="square" lIns="0" tIns="0" rIns="0" bIns="0" rtlCol="0" anchor="ctr"/>
          <a:lstStyle/>
          <a:p>
            <a:pPr indent="0" marL="0">
              <a:lnSpc>
                <a:spcPct val="115000"/>
              </a:lnSpc>
              <a:buNone/>
            </a:pPr>
            <a:r>
              <a:rPr lang="en-US" sz="2600" i="1" dirty="0">
                <a:solidFill>
                  <a:schemeClr val="accent2"/>
                </a:solidFill>
                <a:latin typeface="+mj-lt" pitchFamily="34" charset="0"/>
                <a:ea typeface="+mj-lt" pitchFamily="34" charset="-122"/>
                <a:cs typeface="+mj-lt" pitchFamily="34" charset="-120"/>
              </a:rPr>
              <a:t>You pick a place. It shows you the records, shows its work, and hands you the next step. Then it forgets you.</a:t>
            </a:r>
            <a:endParaRPr lang="en-US" sz="2600" dirty="0"/>
          </a:p>
        </p:txBody>
      </p:sp>
      <p:sp>
        <p:nvSpPr>
          <p:cNvPr id="5" name="Text 2"/>
          <p:cNvSpPr txBox="1"/>
          <p:nvPr/>
        </p:nvSpPr>
        <p:spPr>
          <a:xfrm>
            <a:off x="850392" y="4114800"/>
            <a:ext cx="10424160" cy="457200"/>
          </a:xfrm>
          <a:prstGeom prst="rect">
            <a:avLst/>
          </a:prstGeom>
          <a:noFill/>
          <a:ln/>
        </p:spPr>
        <p:txBody>
          <a:bodyPr wrap="square" lIns="0" tIns="0" rIns="0" bIns="0" rtlCol="0" anchor="ctr"/>
          <a:lstStyle/>
          <a:p>
            <a:pPr indent="0" marL="0">
              <a:buNone/>
            </a:pPr>
            <a:r>
              <a:rPr lang="en-US" sz="1600" b="1" dirty="0">
                <a:solidFill>
                  <a:schemeClr val="accent3"/>
                </a:solidFill>
              </a:rPr>
              <a:t>Live:  </a:t>
            </a:r>
            <a:pPr indent="0" marL="0">
              <a:buNone/>
            </a:pPr>
            <a:r>
              <a:rPr lang="en-US" sz="1600" dirty="0">
                <a:solidFill>
                  <a:schemeClr val="bg1"/>
                </a:solidFill>
              </a:rPr>
              <a:t>footnote.alessandrarye.com</a:t>
            </a:r>
            <a:pPr indent="0" marL="0">
              <a:buNone/>
            </a:pPr>
            <a:r>
              <a:rPr lang="en-US" sz="1600" b="1" dirty="0">
                <a:solidFill>
                  <a:schemeClr val="accent3"/>
                </a:solidFill>
              </a:rPr>
              <a:t>    Repo:  </a:t>
            </a:r>
            <a:pPr indent="0" marL="0">
              <a:buNone/>
            </a:pPr>
            <a:r>
              <a:rPr lang="en-US" sz="1600" dirty="0">
                <a:solidFill>
                  <a:schemeClr val="bg1"/>
                </a:solidFill>
              </a:rPr>
              <a:t>github.com/Alessandrarye/footnote</a:t>
            </a:r>
            <a:endParaRPr lang="en-US" sz="1600" dirty="0"/>
          </a:p>
        </p:txBody>
      </p:sp>
      <p:sp>
        <p:nvSpPr>
          <p:cNvPr id="6" name="Shape 3"/>
          <p:cNvSpPr/>
          <p:nvPr/>
        </p:nvSpPr>
        <p:spPr>
          <a:xfrm>
            <a:off x="850392" y="5394960"/>
            <a:ext cx="3840480" cy="0"/>
          </a:xfrm>
          <a:prstGeom prst="line">
            <a:avLst/>
          </a:prstGeom>
          <a:noFill/>
          <a:ln w="12700">
            <a:solidFill>
              <a:schemeClr val="tx2"/>
            </a:solidFill>
            <a:prstDash val="solid"/>
          </a:ln>
        </p:spPr>
      </p:sp>
      <p:sp>
        <p:nvSpPr>
          <p:cNvPr id="7" name="Text 4"/>
          <p:cNvSpPr txBox="1"/>
          <p:nvPr/>
        </p:nvSpPr>
        <p:spPr>
          <a:xfrm>
            <a:off x="850392" y="5486400"/>
            <a:ext cx="10058400" cy="457200"/>
          </a:xfrm>
          <a:prstGeom prst="rect">
            <a:avLst/>
          </a:prstGeom>
          <a:noFill/>
          <a:ln/>
        </p:spPr>
        <p:txBody>
          <a:bodyPr wrap="square" lIns="0" tIns="0" rIns="0" bIns="0" rtlCol="0" anchor="ctr"/>
          <a:lstStyle/>
          <a:p>
            <a:pPr indent="0" marL="0">
              <a:buNone/>
            </a:pPr>
            <a:r>
              <a:rPr lang="en-US" sz="1400" dirty="0">
                <a:solidFill>
                  <a:schemeClr val="accent2"/>
                </a:solidFill>
              </a:rPr>
              <a:t>Questions welcome, especially the hard ones. The transparency record applies to me too.</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Backup: competitors</a:t>
            </a:r>
            <a:endParaRPr lang="en-US" sz="3800" dirty="0"/>
          </a:p>
        </p:txBody>
      </p:sp>
      <p:sp>
        <p:nvSpPr>
          <p:cNvPr id="4" name="Shape 1"/>
          <p:cNvSpPr/>
          <p:nvPr/>
        </p:nvSpPr>
        <p:spPr>
          <a:xfrm>
            <a:off x="640080" y="1417320"/>
            <a:ext cx="3511296" cy="2423160"/>
          </a:xfrm>
          <a:prstGeom prst="roundRect">
            <a:avLst>
              <a:gd name="adj" fmla="val 2264"/>
            </a:avLst>
          </a:prstGeom>
          <a:solidFill>
            <a:schemeClr val="bg2"/>
          </a:solidFill>
          <a:ln w="12700">
            <a:solidFill>
              <a:schemeClr val="bg2"/>
            </a:solidFill>
            <a:prstDash val="solid"/>
          </a:ln>
        </p:spPr>
      </p:sp>
      <p:sp>
        <p:nvSpPr>
          <p:cNvPr id="5" name="Text 2"/>
          <p:cNvSpPr txBox="1"/>
          <p:nvPr/>
        </p:nvSpPr>
        <p:spPr>
          <a:xfrm>
            <a:off x="896112" y="1600200"/>
            <a:ext cx="3017520" cy="411480"/>
          </a:xfrm>
          <a:prstGeom prst="rect">
            <a:avLst/>
          </a:prstGeom>
          <a:noFill/>
          <a:ln/>
        </p:spPr>
        <p:txBody>
          <a:bodyPr wrap="square" lIns="0" tIns="0" rIns="0" bIns="0" rtlCol="0" anchor="ctr"/>
          <a:lstStyle/>
          <a:p>
            <a:pPr indent="0" marL="0">
              <a:buNone/>
            </a:pPr>
            <a:r>
              <a:rPr lang="en-US" sz="1600" b="1" dirty="0">
                <a:solidFill>
                  <a:schemeClr val="tx1"/>
                </a:solidFill>
              </a:rPr>
              <a:t>Media trust tools</a:t>
            </a:r>
            <a:endParaRPr lang="en-US" sz="1600" dirty="0"/>
          </a:p>
        </p:txBody>
      </p:sp>
      <p:sp>
        <p:nvSpPr>
          <p:cNvPr id="6" name="Text 3"/>
          <p:cNvSpPr txBox="1"/>
          <p:nvPr/>
        </p:nvSpPr>
        <p:spPr>
          <a:xfrm>
            <a:off x="896112" y="2103120"/>
            <a:ext cx="3017520" cy="777240"/>
          </a:xfrm>
          <a:prstGeom prst="rect">
            <a:avLst/>
          </a:prstGeom>
          <a:noFill/>
          <a:ln/>
        </p:spPr>
        <p:txBody>
          <a:bodyPr wrap="square" lIns="0" tIns="0" rIns="0" bIns="0" rtlCol="0" anchor="t"/>
          <a:lstStyle/>
          <a:p>
            <a:pPr indent="0" marL="0">
              <a:buNone/>
            </a:pPr>
            <a:r>
              <a:rPr lang="en-US" sz="1250" dirty="0">
                <a:solidFill>
                  <a:schemeClr val="tx2"/>
                </a:solidFill>
              </a:rPr>
              <a:t>Ground News · NewsGuard · AI verification APIs (Factiverse, ClaimBuster)</a:t>
            </a:r>
            <a:endParaRPr lang="en-US" sz="1250" dirty="0"/>
          </a:p>
        </p:txBody>
      </p:sp>
      <p:sp>
        <p:nvSpPr>
          <p:cNvPr id="7" name="Text 4"/>
          <p:cNvSpPr txBox="1"/>
          <p:nvPr/>
        </p:nvSpPr>
        <p:spPr>
          <a:xfrm>
            <a:off x="896112" y="2926080"/>
            <a:ext cx="3017520" cy="777240"/>
          </a:xfrm>
          <a:prstGeom prst="rect">
            <a:avLst/>
          </a:prstGeom>
          <a:noFill/>
          <a:ln/>
        </p:spPr>
        <p:txBody>
          <a:bodyPr wrap="square" lIns="0" tIns="0" rIns="0" bIns="0" rtlCol="0" anchor="b"/>
          <a:lstStyle/>
          <a:p>
            <a:pPr indent="0" marL="0">
              <a:buNone/>
            </a:pPr>
            <a:r>
              <a:rPr lang="en-US" sz="1250" i="1" dirty="0">
                <a:solidFill>
                  <a:schemeClr val="accent1"/>
                </a:solidFill>
              </a:rPr>
              <a:t>Stop at the verdict.</a:t>
            </a:r>
            <a:endParaRPr lang="en-US" sz="1250" dirty="0"/>
          </a:p>
        </p:txBody>
      </p:sp>
      <p:sp>
        <p:nvSpPr>
          <p:cNvPr id="8" name="Shape 5"/>
          <p:cNvSpPr/>
          <p:nvPr/>
        </p:nvSpPr>
        <p:spPr>
          <a:xfrm>
            <a:off x="4325112" y="1417320"/>
            <a:ext cx="3511296" cy="2423160"/>
          </a:xfrm>
          <a:prstGeom prst="roundRect">
            <a:avLst>
              <a:gd name="adj" fmla="val 2264"/>
            </a:avLst>
          </a:prstGeom>
          <a:solidFill>
            <a:schemeClr val="bg2"/>
          </a:solidFill>
          <a:ln w="12700">
            <a:solidFill>
              <a:schemeClr val="bg2"/>
            </a:solidFill>
            <a:prstDash val="solid"/>
          </a:ln>
        </p:spPr>
      </p:sp>
      <p:sp>
        <p:nvSpPr>
          <p:cNvPr id="9" name="Text 6"/>
          <p:cNvSpPr txBox="1"/>
          <p:nvPr/>
        </p:nvSpPr>
        <p:spPr>
          <a:xfrm>
            <a:off x="4581144" y="1600200"/>
            <a:ext cx="3017520" cy="411480"/>
          </a:xfrm>
          <a:prstGeom prst="rect">
            <a:avLst/>
          </a:prstGeom>
          <a:noFill/>
          <a:ln/>
        </p:spPr>
        <p:txBody>
          <a:bodyPr wrap="square" lIns="0" tIns="0" rIns="0" bIns="0" rtlCol="0" anchor="ctr"/>
          <a:lstStyle/>
          <a:p>
            <a:pPr indent="0" marL="0">
              <a:buNone/>
            </a:pPr>
            <a:r>
              <a:rPr lang="en-US" sz="1600" b="1" dirty="0">
                <a:solidFill>
                  <a:schemeClr val="tx1"/>
                </a:solidFill>
              </a:rPr>
              <a:t>Gov-side civic platforms</a:t>
            </a:r>
            <a:endParaRPr lang="en-US" sz="1600" dirty="0"/>
          </a:p>
        </p:txBody>
      </p:sp>
      <p:sp>
        <p:nvSpPr>
          <p:cNvPr id="10" name="Text 7"/>
          <p:cNvSpPr txBox="1"/>
          <p:nvPr/>
        </p:nvSpPr>
        <p:spPr>
          <a:xfrm>
            <a:off x="4581144" y="2103120"/>
            <a:ext cx="3017520" cy="777240"/>
          </a:xfrm>
          <a:prstGeom prst="rect">
            <a:avLst/>
          </a:prstGeom>
          <a:noFill/>
          <a:ln/>
        </p:spPr>
        <p:txBody>
          <a:bodyPr wrap="square" lIns="0" tIns="0" rIns="0" bIns="0" rtlCol="0" anchor="t"/>
          <a:lstStyle/>
          <a:p>
            <a:pPr indent="0" marL="0">
              <a:buNone/>
            </a:pPr>
            <a:r>
              <a:rPr lang="en-US" sz="1250" dirty="0">
                <a:solidFill>
                  <a:schemeClr val="tx2"/>
                </a:solidFill>
              </a:rPr>
              <a:t>CivicPlus · OpenGov · Granicus</a:t>
            </a:r>
            <a:endParaRPr lang="en-US" sz="1250" dirty="0"/>
          </a:p>
        </p:txBody>
      </p:sp>
      <p:sp>
        <p:nvSpPr>
          <p:cNvPr id="11" name="Text 8"/>
          <p:cNvSpPr txBox="1"/>
          <p:nvPr/>
        </p:nvSpPr>
        <p:spPr>
          <a:xfrm>
            <a:off x="4581144" y="2926080"/>
            <a:ext cx="3017520" cy="777240"/>
          </a:xfrm>
          <a:prstGeom prst="rect">
            <a:avLst/>
          </a:prstGeom>
          <a:noFill/>
          <a:ln/>
        </p:spPr>
        <p:txBody>
          <a:bodyPr wrap="square" lIns="0" tIns="0" rIns="0" bIns="0" rtlCol="0" anchor="b"/>
          <a:lstStyle/>
          <a:p>
            <a:pPr indent="0" marL="0">
              <a:buNone/>
            </a:pPr>
            <a:r>
              <a:rPr lang="en-US" sz="1250" i="1" dirty="0">
                <a:solidFill>
                  <a:schemeClr val="accent1"/>
                </a:solidFill>
              </a:rPr>
              <a:t>Sold to governments; the citizen isn’t the customer.</a:t>
            </a:r>
            <a:endParaRPr lang="en-US" sz="1250" dirty="0"/>
          </a:p>
        </p:txBody>
      </p:sp>
      <p:sp>
        <p:nvSpPr>
          <p:cNvPr id="12" name="Shape 9"/>
          <p:cNvSpPr/>
          <p:nvPr/>
        </p:nvSpPr>
        <p:spPr>
          <a:xfrm>
            <a:off x="8010144" y="1417320"/>
            <a:ext cx="3511296" cy="2423160"/>
          </a:xfrm>
          <a:prstGeom prst="roundRect">
            <a:avLst>
              <a:gd name="adj" fmla="val 2264"/>
            </a:avLst>
          </a:prstGeom>
          <a:solidFill>
            <a:schemeClr val="bg2"/>
          </a:solidFill>
          <a:ln w="12700">
            <a:solidFill>
              <a:schemeClr val="bg2"/>
            </a:solidFill>
            <a:prstDash val="solid"/>
          </a:ln>
        </p:spPr>
      </p:sp>
      <p:sp>
        <p:nvSpPr>
          <p:cNvPr id="13" name="Text 10"/>
          <p:cNvSpPr txBox="1"/>
          <p:nvPr/>
        </p:nvSpPr>
        <p:spPr>
          <a:xfrm>
            <a:off x="8266176" y="1600200"/>
            <a:ext cx="3017520" cy="411480"/>
          </a:xfrm>
          <a:prstGeom prst="rect">
            <a:avLst/>
          </a:prstGeom>
          <a:noFill/>
          <a:ln/>
        </p:spPr>
        <p:txBody>
          <a:bodyPr wrap="square" lIns="0" tIns="0" rIns="0" bIns="0" rtlCol="0" anchor="ctr"/>
          <a:lstStyle/>
          <a:p>
            <a:pPr indent="0" marL="0">
              <a:buNone/>
            </a:pPr>
            <a:r>
              <a:rPr lang="en-US" sz="1600" b="1" dirty="0">
                <a:solidFill>
                  <a:schemeClr val="tx1"/>
                </a:solidFill>
              </a:rPr>
              <a:t>Community platforms</a:t>
            </a:r>
            <a:endParaRPr lang="en-US" sz="1600" dirty="0"/>
          </a:p>
        </p:txBody>
      </p:sp>
      <p:sp>
        <p:nvSpPr>
          <p:cNvPr id="14" name="Text 11"/>
          <p:cNvSpPr txBox="1"/>
          <p:nvPr/>
        </p:nvSpPr>
        <p:spPr>
          <a:xfrm>
            <a:off x="8266176" y="2103120"/>
            <a:ext cx="3017520" cy="777240"/>
          </a:xfrm>
          <a:prstGeom prst="rect">
            <a:avLst/>
          </a:prstGeom>
          <a:noFill/>
          <a:ln/>
        </p:spPr>
        <p:txBody>
          <a:bodyPr wrap="square" lIns="0" tIns="0" rIns="0" bIns="0" rtlCol="0" anchor="t"/>
          <a:lstStyle/>
          <a:p>
            <a:pPr indent="0" marL="0">
              <a:buNone/>
            </a:pPr>
            <a:r>
              <a:rPr lang="en-US" sz="1250" dirty="0">
                <a:solidFill>
                  <a:schemeClr val="tx2"/>
                </a:solidFill>
              </a:rPr>
              <a:t>Nextdoor · Facebook groups · local forums</a:t>
            </a:r>
            <a:endParaRPr lang="en-US" sz="1250" dirty="0"/>
          </a:p>
        </p:txBody>
      </p:sp>
      <p:sp>
        <p:nvSpPr>
          <p:cNvPr id="15" name="Text 12"/>
          <p:cNvSpPr txBox="1"/>
          <p:nvPr/>
        </p:nvSpPr>
        <p:spPr>
          <a:xfrm>
            <a:off x="8266176" y="2926080"/>
            <a:ext cx="3017520" cy="777240"/>
          </a:xfrm>
          <a:prstGeom prst="rect">
            <a:avLst/>
          </a:prstGeom>
          <a:noFill/>
          <a:ln/>
        </p:spPr>
        <p:txBody>
          <a:bodyPr wrap="square" lIns="0" tIns="0" rIns="0" bIns="0" rtlCol="0" anchor="b"/>
          <a:lstStyle/>
          <a:p>
            <a:pPr indent="0" marL="0">
              <a:buNone/>
            </a:pPr>
            <a:r>
              <a:rPr lang="en-US" sz="1250" i="1" dirty="0">
                <a:solidFill>
                  <a:schemeClr val="accent1"/>
                </a:solidFill>
              </a:rPr>
              <a:t>Own the attention where claims spread. No verification, no path to action.</a:t>
            </a:r>
            <a:endParaRPr lang="en-US" sz="1250" dirty="0"/>
          </a:p>
        </p:txBody>
      </p:sp>
      <p:sp>
        <p:nvSpPr>
          <p:cNvPr id="16" name="Shape 13"/>
          <p:cNvSpPr/>
          <p:nvPr/>
        </p:nvSpPr>
        <p:spPr>
          <a:xfrm>
            <a:off x="640080" y="4005072"/>
            <a:ext cx="10881360" cy="1005840"/>
          </a:xfrm>
          <a:prstGeom prst="roundRect">
            <a:avLst>
              <a:gd name="adj" fmla="val 5455"/>
            </a:avLst>
          </a:prstGeom>
          <a:solidFill>
            <a:schemeClr val="bg1"/>
          </a:solidFill>
          <a:ln w="15875">
            <a:solidFill>
              <a:schemeClr val="tx1"/>
            </a:solidFill>
            <a:prstDash val="solid"/>
          </a:ln>
        </p:spPr>
      </p:sp>
      <p:sp>
        <p:nvSpPr>
          <p:cNvPr id="17" name="Text 14"/>
          <p:cNvSpPr txBox="1"/>
          <p:nvPr/>
        </p:nvSpPr>
        <p:spPr>
          <a:xfrm>
            <a:off x="868680" y="4005072"/>
            <a:ext cx="10424160" cy="1005840"/>
          </a:xfrm>
          <a:prstGeom prst="rect">
            <a:avLst/>
          </a:prstGeom>
          <a:noFill/>
          <a:ln/>
        </p:spPr>
        <p:txBody>
          <a:bodyPr wrap="square" lIns="0" tIns="0" rIns="0" bIns="0" rtlCol="0" anchor="ctr"/>
          <a:lstStyle/>
          <a:p>
            <a:pPr indent="0" marL="0">
              <a:spcAft>
                <a:spcPts val="300"/>
              </a:spcAft>
              <a:buNone/>
            </a:pPr>
            <a:r>
              <a:rPr lang="en-US" sz="1250" b="1" dirty="0">
                <a:solidFill>
                  <a:schemeClr val="accent1"/>
                </a:solidFill>
              </a:rPr>
              <a:t>Google: </a:t>
            </a:r>
            <a:pPr indent="0" marL="0">
              <a:spcAft>
                <a:spcPts val="300"/>
              </a:spcAft>
              <a:buNone/>
            </a:pPr>
            <a:r>
              <a:rPr lang="en-US" sz="1250" dirty="0">
                <a:solidFill>
                  <a:schemeClr val="tx1"/>
                </a:solidFill>
              </a:rPr>
              <a:t>substitutes for the verification half. Ran a Civic Information API for local officials data and shut it down in 2025.</a:t>
            </a:r>
            <a:endParaRPr lang="en-US" sz="1250" dirty="0"/>
          </a:p>
          <a:p>
            <a:pPr indent="0" marL="0">
              <a:spcAft>
                <a:spcPts val="300"/>
              </a:spcAft>
              <a:buNone/>
            </a:pPr>
            <a:r>
              <a:rPr lang="en-US" sz="1250" b="1" dirty="0">
                <a:solidFill>
                  <a:schemeClr val="accent1"/>
                </a:solidFill>
              </a:rPr>
              <a:t>OCLC: </a:t>
            </a:r>
            <a:pPr indent="0" marL="0">
              <a:spcAft>
                <a:spcPts val="300"/>
              </a:spcAft>
              <a:buNone/>
            </a:pPr>
            <a:r>
              <a:rPr lang="en-US" sz="1250" dirty="0">
                <a:solidFill>
                  <a:schemeClr val="tx1"/>
                </a:solidFill>
              </a:rPr>
              <a:t>budget-adjacent in the library market, not functional. Footnote ingests only government primary records.</a:t>
            </a:r>
            <a:endParaRPr lang="en-US" sz="1250" dirty="0"/>
          </a:p>
        </p:txBody>
      </p:sp>
      <p:sp>
        <p:nvSpPr>
          <p:cNvPr id="18" name="Shape 15"/>
          <p:cNvSpPr/>
          <p:nvPr/>
        </p:nvSpPr>
        <p:spPr>
          <a:xfrm>
            <a:off x="640080" y="5166360"/>
            <a:ext cx="10881360" cy="960120"/>
          </a:xfrm>
          <a:prstGeom prst="roundRect">
            <a:avLst>
              <a:gd name="adj" fmla="val 5714"/>
            </a:avLst>
          </a:prstGeom>
          <a:solidFill>
            <a:schemeClr val="tx1"/>
          </a:solidFill>
          <a:ln w="12700">
            <a:solidFill>
              <a:schemeClr val="tx1"/>
            </a:solidFill>
            <a:prstDash val="solid"/>
          </a:ln>
        </p:spPr>
      </p:sp>
      <p:sp>
        <p:nvSpPr>
          <p:cNvPr id="19" name="Text 16"/>
          <p:cNvSpPr txBox="1"/>
          <p:nvPr/>
        </p:nvSpPr>
        <p:spPr>
          <a:xfrm>
            <a:off x="914400" y="5166360"/>
            <a:ext cx="10332720" cy="960120"/>
          </a:xfrm>
          <a:prstGeom prst="rect">
            <a:avLst/>
          </a:prstGeom>
          <a:noFill/>
          <a:ln/>
        </p:spPr>
        <p:txBody>
          <a:bodyPr wrap="square" lIns="0" tIns="0" rIns="0" bIns="0" rtlCol="0" anchor="ctr"/>
          <a:lstStyle/>
          <a:p>
            <a:pPr algn="ctr" indent="0" marL="0">
              <a:buNone/>
            </a:pPr>
            <a:r>
              <a:rPr lang="en-US" sz="1700" b="1" dirty="0">
                <a:solidFill>
                  <a:schemeClr val="bg1"/>
                </a:solidFill>
              </a:rPr>
              <a:t>Footnote occupies the connection: verification → local action.</a:t>
            </a:r>
            <a:endParaRPr lang="en-US" sz="17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Backup: checker test output</a:t>
            </a:r>
            <a:endParaRPr lang="en-US" sz="3800" dirty="0"/>
          </a:p>
        </p:txBody>
      </p:sp>
      <p:sp>
        <p:nvSpPr>
          <p:cNvPr id="4" name="Shape 1"/>
          <p:cNvSpPr/>
          <p:nvPr/>
        </p:nvSpPr>
        <p:spPr>
          <a:xfrm>
            <a:off x="1094080" y="1417320"/>
            <a:ext cx="10003536" cy="4512342"/>
          </a:xfrm>
          <a:prstGeom prst="rect">
            <a:avLst/>
          </a:prstGeom>
          <a:solidFill>
            <a:schemeClr val="bg1"/>
          </a:solidFill>
          <a:ln w="9525">
            <a:solidFill>
              <a:schemeClr val="tx2"/>
            </a:solidFill>
            <a:prstDash val="solid"/>
          </a:ln>
        </p:spPr>
      </p:sp>
      <p:pic>
        <p:nvPicPr>
          <p:cNvPr id="5" name="Image 0" descr="Terminal screenshot of the checker test: six test sentences and the results, two kept and four dropped with a reason for each.">    </p:cNvPr>
          <p:cNvPicPr>
            <a:picLocks noChangeAspect="1"/>
          </p:cNvPicPr>
          <p:nvPr/>
        </p:nvPicPr>
        <p:blipFill>
          <a:blip r:embed="rId1"/>
          <a:stretch>
            <a:fillRect/>
          </a:stretch>
        </p:blipFill>
        <p:spPr>
          <a:xfrm>
            <a:off x="1112368" y="1435608"/>
            <a:ext cx="9966960" cy="4475766"/>
          </a:xfrm>
          <a:prstGeom prst="rect">
            <a:avLst/>
          </a:prstGeom>
        </p:spPr>
      </p:pic>
      <p:sp>
        <p:nvSpPr>
          <p:cNvPr id="6" name="Text 2"/>
          <p:cNvSpPr txBox="1"/>
          <p:nvPr/>
        </p:nvSpPr>
        <p:spPr>
          <a:xfrm>
            <a:off x="1112368" y="6002814"/>
            <a:ext cx="9966960" cy="274320"/>
          </a:xfrm>
          <a:prstGeom prst="rect">
            <a:avLst/>
          </a:prstGeom>
          <a:noFill/>
          <a:ln/>
        </p:spPr>
        <p:txBody>
          <a:bodyPr wrap="square" lIns="0" tIns="0" rIns="0" bIns="0" rtlCol="0" anchor="t"/>
          <a:lstStyle/>
          <a:p>
            <a:pPr indent="0" marL="0">
              <a:buNone/>
            </a:pPr>
            <a:r>
              <a:rPr lang="en-US" sz="1100" i="1" dirty="0">
                <a:solidFill>
                  <a:schemeClr val="tx2"/>
                </a:solidFill>
              </a:rPr>
              <a:t>Run from ~/dev/footnote on 2026-10-04. The last six lines are the results.</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Backup: the transparency record</a:t>
            </a:r>
            <a:endParaRPr lang="en-US" sz="3800" dirty="0"/>
          </a:p>
        </p:txBody>
      </p:sp>
      <p:sp>
        <p:nvSpPr>
          <p:cNvPr id="4" name="Shape 1"/>
          <p:cNvSpPr/>
          <p:nvPr/>
        </p:nvSpPr>
        <p:spPr>
          <a:xfrm>
            <a:off x="2145640" y="1417320"/>
            <a:ext cx="7900416" cy="4452101"/>
          </a:xfrm>
          <a:prstGeom prst="rect">
            <a:avLst/>
          </a:prstGeom>
          <a:solidFill>
            <a:schemeClr val="bg1"/>
          </a:solidFill>
          <a:ln w="9525">
            <a:solidFill>
              <a:schemeClr val="tx2"/>
            </a:solidFill>
            <a:prstDash val="solid"/>
          </a:ln>
        </p:spPr>
      </p:sp>
      <p:pic>
        <p:nvPicPr>
          <p:cNvPr id="5" name="Image 0" descr="Screenshot of the transparency record on the live site: four stages, with model names, call times, the matched record set, and the count of summary sentences drafted, kept, and dropped.">    </p:cNvPr>
          <p:cNvPicPr>
            <a:picLocks noChangeAspect="1"/>
          </p:cNvPicPr>
          <p:nvPr/>
        </p:nvPicPr>
        <p:blipFill>
          <a:blip r:embed="rId1"/>
          <a:stretch>
            <a:fillRect/>
          </a:stretch>
        </p:blipFill>
        <p:spPr>
          <a:xfrm>
            <a:off x="2163928" y="1435608"/>
            <a:ext cx="7863840" cy="4415525"/>
          </a:xfrm>
          <a:prstGeom prst="rect">
            <a:avLst/>
          </a:prstGeom>
        </p:spPr>
      </p:pic>
      <p:sp>
        <p:nvSpPr>
          <p:cNvPr id="6" name="Text 2"/>
          <p:cNvSpPr txBox="1"/>
          <p:nvPr/>
        </p:nvSpPr>
        <p:spPr>
          <a:xfrm>
            <a:off x="2163928" y="5942573"/>
            <a:ext cx="7863840" cy="274320"/>
          </a:xfrm>
          <a:prstGeom prst="rect">
            <a:avLst/>
          </a:prstGeom>
          <a:noFill/>
          <a:ln/>
        </p:spPr>
        <p:txBody>
          <a:bodyPr wrap="square" lIns="0" tIns="0" rIns="0" bIns="0" rtlCol="0" anchor="t"/>
          <a:lstStyle/>
          <a:p>
            <a:pPr indent="0" marL="0">
              <a:buNone/>
            </a:pPr>
            <a:r>
              <a:rPr lang="en-US" sz="1100" i="1" dirty="0">
                <a:solidFill>
                  <a:schemeClr val="tx2"/>
                </a:solidFill>
              </a:rPr>
              <a:t>Live site, 2026-10-07, canonical claim. Every stage says what it did, and whether AI was involved.</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800" b="1" dirty="0">
                <a:solidFill>
                  <a:schemeClr val="tx1"/>
                </a:solidFill>
              </a:rPr>
              <a:t>Backup: a claim it has no records for</a:t>
            </a:r>
            <a:endParaRPr lang="en-US" sz="3800" dirty="0"/>
          </a:p>
        </p:txBody>
      </p:sp>
      <p:sp>
        <p:nvSpPr>
          <p:cNvPr id="4" name="Shape 1"/>
          <p:cNvSpPr/>
          <p:nvPr/>
        </p:nvSpPr>
        <p:spPr>
          <a:xfrm>
            <a:off x="640080" y="1417320"/>
            <a:ext cx="5705856" cy="4735712"/>
          </a:xfrm>
          <a:prstGeom prst="rect">
            <a:avLst/>
          </a:prstGeom>
          <a:solidFill>
            <a:schemeClr val="bg1"/>
          </a:solidFill>
          <a:ln w="9525">
            <a:solidFill>
              <a:schemeClr val="tx2"/>
            </a:solidFill>
            <a:prstDash val="solid"/>
          </a:ln>
        </p:spPr>
      </p:sp>
      <p:pic>
        <p:nvPicPr>
          <p:cNvPr id="5" name="Image 0" descr="Screenshot of the live site for the claim 'Powell is raising water rates next year'. The card reads Not yet covered, and the Delaware County invitation appears below it.">    </p:cNvPr>
          <p:cNvPicPr>
            <a:picLocks noChangeAspect="1"/>
          </p:cNvPicPr>
          <p:nvPr/>
        </p:nvPicPr>
        <p:blipFill>
          <a:blip r:embed="rId1"/>
          <a:stretch>
            <a:fillRect/>
          </a:stretch>
        </p:blipFill>
        <p:spPr>
          <a:xfrm>
            <a:off x="658368" y="1435608"/>
            <a:ext cx="5669280" cy="4699136"/>
          </a:xfrm>
          <a:prstGeom prst="rect">
            <a:avLst/>
          </a:prstGeom>
        </p:spPr>
      </p:pic>
      <p:sp>
        <p:nvSpPr>
          <p:cNvPr id="6" name="Shape 2"/>
          <p:cNvSpPr/>
          <p:nvPr/>
        </p:nvSpPr>
        <p:spPr>
          <a:xfrm>
            <a:off x="6675120" y="1417320"/>
            <a:ext cx="4846320" cy="1417320"/>
          </a:xfrm>
          <a:prstGeom prst="roundRect">
            <a:avLst>
              <a:gd name="adj" fmla="val 3871"/>
            </a:avLst>
          </a:prstGeom>
          <a:solidFill>
            <a:schemeClr val="bg2"/>
          </a:solidFill>
          <a:ln w="12700">
            <a:solidFill>
              <a:schemeClr val="bg2"/>
            </a:solidFill>
            <a:prstDash val="solid"/>
          </a:ln>
        </p:spPr>
      </p:sp>
      <p:sp>
        <p:nvSpPr>
          <p:cNvPr id="7" name="Text 3"/>
          <p:cNvSpPr txBox="1"/>
          <p:nvPr/>
        </p:nvSpPr>
        <p:spPr>
          <a:xfrm>
            <a:off x="6903720" y="1508760"/>
            <a:ext cx="4389120" cy="365760"/>
          </a:xfrm>
          <a:prstGeom prst="rect">
            <a:avLst/>
          </a:prstGeom>
          <a:noFill/>
          <a:ln/>
        </p:spPr>
        <p:txBody>
          <a:bodyPr wrap="square" lIns="0" tIns="0" rIns="0" bIns="0" rtlCol="0" anchor="ctr"/>
          <a:lstStyle/>
          <a:p>
            <a:pPr indent="0" marL="0">
              <a:buNone/>
            </a:pPr>
            <a:r>
              <a:rPr lang="en-US" sz="1500" b="1" dirty="0">
                <a:solidFill>
                  <a:schemeClr val="tx1"/>
                </a:solidFill>
              </a:rPr>
              <a:t>No records beat the wrong records</a:t>
            </a:r>
            <a:endParaRPr lang="en-US" sz="1500" dirty="0"/>
          </a:p>
        </p:txBody>
      </p:sp>
      <p:sp>
        <p:nvSpPr>
          <p:cNvPr id="8" name="Text 4"/>
          <p:cNvSpPr txBox="1"/>
          <p:nvPr/>
        </p:nvSpPr>
        <p:spPr>
          <a:xfrm>
            <a:off x="6903720" y="1874520"/>
            <a:ext cx="4389120" cy="868680"/>
          </a:xfrm>
          <a:prstGeom prst="rect">
            <a:avLst/>
          </a:prstGeom>
          <a:noFill/>
          <a:ln/>
        </p:spPr>
        <p:txBody>
          <a:bodyPr wrap="square" lIns="0" tIns="0" rIns="0" bIns="0" rtlCol="0" anchor="t"/>
          <a:lstStyle/>
          <a:p>
            <a:pPr indent="0" marL="0">
              <a:buNone/>
            </a:pPr>
            <a:r>
              <a:rPr lang="en-US" sz="1250" dirty="0">
                <a:solidFill>
                  <a:schemeClr val="tx2"/>
                </a:solidFill>
              </a:rPr>
              <a:t>Before this, every claim was shown the levy records. Now a claim outside the record set gets a plain statement of what Footnote does carry.</a:t>
            </a:r>
            <a:endParaRPr lang="en-US" sz="1250" dirty="0"/>
          </a:p>
        </p:txBody>
      </p:sp>
      <p:sp>
        <p:nvSpPr>
          <p:cNvPr id="9" name="Shape 5"/>
          <p:cNvSpPr/>
          <p:nvPr/>
        </p:nvSpPr>
        <p:spPr>
          <a:xfrm>
            <a:off x="6675120" y="2971800"/>
            <a:ext cx="4846320" cy="1417320"/>
          </a:xfrm>
          <a:prstGeom prst="roundRect">
            <a:avLst>
              <a:gd name="adj" fmla="val 3871"/>
            </a:avLst>
          </a:prstGeom>
          <a:solidFill>
            <a:schemeClr val="bg2"/>
          </a:solidFill>
          <a:ln w="12700">
            <a:solidFill>
              <a:schemeClr val="bg2"/>
            </a:solidFill>
            <a:prstDash val="solid"/>
          </a:ln>
        </p:spPr>
      </p:sp>
      <p:sp>
        <p:nvSpPr>
          <p:cNvPr id="10" name="Text 6"/>
          <p:cNvSpPr txBox="1"/>
          <p:nvPr/>
        </p:nvSpPr>
        <p:spPr>
          <a:xfrm>
            <a:off x="6903720" y="3063240"/>
            <a:ext cx="4389120" cy="365760"/>
          </a:xfrm>
          <a:prstGeom prst="rect">
            <a:avLst/>
          </a:prstGeom>
          <a:noFill/>
          <a:ln/>
        </p:spPr>
        <p:txBody>
          <a:bodyPr wrap="square" lIns="0" tIns="0" rIns="0" bIns="0" rtlCol="0" anchor="ctr"/>
          <a:lstStyle/>
          <a:p>
            <a:pPr indent="0" marL="0">
              <a:buNone/>
            </a:pPr>
            <a:r>
              <a:rPr lang="en-US" sz="1500" b="1" dirty="0">
                <a:solidFill>
                  <a:schemeClr val="tx1"/>
                </a:solidFill>
              </a:rPr>
              <a:t>The next step still applies</a:t>
            </a:r>
            <a:endParaRPr lang="en-US" sz="1500" dirty="0"/>
          </a:p>
        </p:txBody>
      </p:sp>
      <p:sp>
        <p:nvSpPr>
          <p:cNvPr id="11" name="Text 7"/>
          <p:cNvSpPr txBox="1"/>
          <p:nvPr/>
        </p:nvSpPr>
        <p:spPr>
          <a:xfrm>
            <a:off x="6903720" y="3429000"/>
            <a:ext cx="4389120" cy="868680"/>
          </a:xfrm>
          <a:prstGeom prst="rect">
            <a:avLst/>
          </a:prstGeom>
          <a:noFill/>
          <a:ln/>
        </p:spPr>
        <p:txBody>
          <a:bodyPr wrap="square" lIns="0" tIns="0" rIns="0" bIns="0" rtlCol="0" anchor="t"/>
          <a:lstStyle/>
          <a:p>
            <a:pPr indent="0" marL="0">
              <a:buNone/>
            </a:pPr>
            <a:r>
              <a:rPr lang="en-US" sz="1250" dirty="0">
                <a:solidFill>
                  <a:schemeClr val="tx2"/>
                </a:solidFill>
              </a:rPr>
              <a:t>The civic invitation still appears, in the locality’s normal order, because the meetings and officials are real either way.</a:t>
            </a:r>
            <a:endParaRPr lang="en-US" sz="1250" dirty="0"/>
          </a:p>
        </p:txBody>
      </p:sp>
      <p:sp>
        <p:nvSpPr>
          <p:cNvPr id="12" name="Shape 8"/>
          <p:cNvSpPr/>
          <p:nvPr/>
        </p:nvSpPr>
        <p:spPr>
          <a:xfrm>
            <a:off x="6675120" y="4526280"/>
            <a:ext cx="4846320" cy="1417320"/>
          </a:xfrm>
          <a:prstGeom prst="roundRect">
            <a:avLst>
              <a:gd name="adj" fmla="val 3871"/>
            </a:avLst>
          </a:prstGeom>
          <a:solidFill>
            <a:schemeClr val="bg2"/>
          </a:solidFill>
          <a:ln w="12700">
            <a:solidFill>
              <a:schemeClr val="bg2"/>
            </a:solidFill>
            <a:prstDash val="solid"/>
          </a:ln>
        </p:spPr>
      </p:sp>
      <p:sp>
        <p:nvSpPr>
          <p:cNvPr id="13" name="Text 9"/>
          <p:cNvSpPr txBox="1"/>
          <p:nvPr/>
        </p:nvSpPr>
        <p:spPr>
          <a:xfrm>
            <a:off x="6903720" y="4617720"/>
            <a:ext cx="4389120" cy="365760"/>
          </a:xfrm>
          <a:prstGeom prst="rect">
            <a:avLst/>
          </a:prstGeom>
          <a:noFill/>
          <a:ln/>
        </p:spPr>
        <p:txBody>
          <a:bodyPr wrap="square" lIns="0" tIns="0" rIns="0" bIns="0" rtlCol="0" anchor="ctr"/>
          <a:lstStyle/>
          <a:p>
            <a:pPr indent="0" marL="0">
              <a:buNone/>
            </a:pPr>
            <a:r>
              <a:rPr lang="en-US" sz="1500" b="1" dirty="0">
                <a:solidFill>
                  <a:schemeClr val="tx1"/>
                </a:solidFill>
              </a:rPr>
              <a:t>And it is on the record</a:t>
            </a:r>
            <a:endParaRPr lang="en-US" sz="1500" dirty="0"/>
          </a:p>
        </p:txBody>
      </p:sp>
      <p:sp>
        <p:nvSpPr>
          <p:cNvPr id="14" name="Text 10"/>
          <p:cNvSpPr txBox="1"/>
          <p:nvPr/>
        </p:nvSpPr>
        <p:spPr>
          <a:xfrm>
            <a:off x="6903720" y="4983480"/>
            <a:ext cx="4389120" cy="868680"/>
          </a:xfrm>
          <a:prstGeom prst="rect">
            <a:avLst/>
          </a:prstGeom>
          <a:noFill/>
          <a:ln/>
        </p:spPr>
        <p:txBody>
          <a:bodyPr wrap="square" lIns="0" tIns="0" rIns="0" bIns="0" rtlCol="0" anchor="t"/>
          <a:lstStyle/>
          <a:p>
            <a:pPr indent="0" marL="0">
              <a:buNone/>
            </a:pPr>
            <a:r>
              <a:rPr lang="en-US" sz="1250" dirty="0">
                <a:solidFill>
                  <a:schemeClr val="tx2"/>
                </a:solidFill>
              </a:rPr>
              <a:t>The transparency record says no record set matched and that no summary was written. The model is not asked to fill the gap.</a:t>
            </a:r>
            <a:endParaRPr lang="en-US" sz="1250" dirty="0"/>
          </a:p>
        </p:txBody>
      </p:sp>
      <p:sp>
        <p:nvSpPr>
          <p:cNvPr id="15" name="Text 11"/>
          <p:cNvSpPr txBox="1"/>
          <p:nvPr/>
        </p:nvSpPr>
        <p:spPr>
          <a:xfrm>
            <a:off x="658368" y="6207896"/>
            <a:ext cx="5669280" cy="274320"/>
          </a:xfrm>
          <a:prstGeom prst="rect">
            <a:avLst/>
          </a:prstGeom>
          <a:noFill/>
          <a:ln/>
        </p:spPr>
        <p:txBody>
          <a:bodyPr wrap="square" lIns="0" tIns="0" rIns="0" bIns="0" rtlCol="0" anchor="t"/>
          <a:lstStyle/>
          <a:p>
            <a:pPr indent="0" marL="0">
              <a:buNone/>
            </a:pPr>
            <a:r>
              <a:rPr lang="en-US" sz="1100" i="1" dirty="0">
                <a:solidFill>
                  <a:schemeClr val="tx2"/>
                </a:solidFill>
              </a:rPr>
              <a:t>Live site, 2026-10-07</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Footnote">
  <a:themeElements>
    <a:clrScheme name="Footnote">
      <a:dk1>
        <a:srgbClr val="1F2A44"/>
      </a:dk1>
      <a:lt1>
        <a:srgbClr val="FFFFFF"/>
      </a:lt1>
      <a:dk2>
        <a:srgbClr val="55607A"/>
      </a:dk2>
      <a:lt2>
        <a:srgbClr val="F2F2F2"/>
      </a:lt2>
      <a:accent1>
        <a:srgbClr val="990011"/>
      </a:accent1>
      <a:accent2>
        <a:srgbClr val="CADCFC"/>
      </a:accent2>
      <a:accent3>
        <a:srgbClr val="FFD7DB"/>
      </a:accent3>
      <a:accent4>
        <a:srgbClr val="1F2A44"/>
      </a:accent4>
      <a:accent5>
        <a:srgbClr val="55607A"/>
      </a:accent5>
      <a:accent6>
        <a:srgbClr val="990011"/>
      </a:accent6>
      <a:hlink>
        <a:srgbClr val="990011"/>
      </a:hlink>
      <a:folHlink>
        <a:srgbClr val="55607A"/>
      </a:folHlink>
    </a:clrScheme>
    <a:fontScheme name="Footnote">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Footnote: final capstone presentation</dc:title>
  <dc:subject>PptxGenJS Presentation</dc:subject>
  <dc:creator>Alee</dc:creator>
  <cp:lastModifiedBy>Alee</cp:lastModifiedBy>
  <cp:revision>1</cp:revision>
  <dcterms:created xsi:type="dcterms:W3CDTF">2026-10-07T21:29:53Z</dcterms:created>
  <dcterms:modified xsi:type="dcterms:W3CDTF">2026-10-07T21:29:53Z</dcterms:modified>
</cp:coreProperties>
</file>