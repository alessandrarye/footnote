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felt problem, not the product: 'You know how when you see something alarming online about your own town, there is no good next step? You cannot easily tell if it is true, and even if it is, you do not know what to do about it. Footnote fixes that.' Then one line on you, in market terms: two decades running trust-critical infrastructure in IT operations, networking, and cybersecurity, plus years inside OCLC, the dominant vendor in the library market, which happens to be this product's natural institutional customer. Then the traction line, delivered casually: 'And it is not a concept. The first version is live at that address right now.' Investors hear hundreds of ideas; a URL on the title slide separates you immediately. Thirty seconds total,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on the left as one real person's afternoon; keep it human. Then the market translation of the three boxes: each dead end is a healthy industry that stops short. Fact-checking and media-trust tools are real businesses that end at a verdict. Government engagement software is a real market where the citizen is not the customer. Community platforms own the attention but carry no trust layer. Three working markets, and the connection between them is empty. Then the evidence box, and give it weight: 'I did not pick friendly interview subjects. An attorney, a librarian, and a college student, three different generations and professions, interviewed separately with behavioral questions about what they actually did the last time they hit a suspicious local claim. Every one of them described this exact gap without me naming it, and every one responded positively to the concept.' Three interviews is early, and say so plainly; what makes it compelling is the breadth: the problem crosses professions, ages, and information diets. Close on the bottom bar: the connection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same person from the last slide through the four cards, about twenty seconds each, and keep it non-technical: 'Think of it as GPS for public claims. You tell it what you saw and where you live. It shows you what the official records actually say, in plain sight, with every source visible. If you are curious, you can open the hood and see exactly how the answer was assembled, including where AI was used. And then, the part nothing else does: it hands you the real next step in your actual town, the meeting on Thursday, the official's contact, the group already working on it.' Then the dark bar, framed as strategy rather than virtue: 'Notice what is missing: no accounts, no feed, no tracking, no ads. In this market, that is not a sacrifice; it is the moat. Every incumbent's business model depends on the mechanics we exclude, which means they cannot follow us here without breaking themselves.' If someone asks how you retain users without a feed: the way a utility retains them; people come back because it keeps being useful, the same reason they return to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will ask two data questions: is it right, and does it scale. Take the first head-on in plain terms: 'Everything in the civic layer comes from official public records: the county's own site, the meeting agendas, the ballot language, the state code. And every single entry carries its receipt: where it came from and the date I verified it, visible to the user. We do not promise omniscience; we promise you can always check our work, which is a promise we can actually keep.' On scale, be candid, because the candor IS the moat story: 'Today one locality is maintained by hand. That maintenance labor is exactly why no big platform serves this data; Google ran an API for local officials data and shut it down in 2025 because keeping it fresh was not worth it to them. Our librarian interview points at the scaling answer: maintaining authoritative local information is literally the library profession's job description, and libraries told us they want a tool like this. Libraries become the editorial layer; that is the expansion model and the defensibility in one move.' If a technical listener wants depth: the data lives in version-controlled files, so the entire edit history is a public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slide as market proof, not threat inventory: 'Every one of these camps contains profitable companies, which proves both halves of our market are real. What none of them owns is the connection between knowing and doing, and that connection is Footnote.' Then the radar strip, starting with the concession, because conceding first buys credibility: 'The honest substitute is Google and AI chatbots; anyone can paste a claim into one. But a chatbot gives you an answer and stops. It does not maintain your county's meeting calendar, your school board's agendas, your ballot language, with receipts on every entry. And here is the tell: Google ran exactly that data service and walked away from it in 2025 because the maintenance was not worth it at their scale. The market leader tested our moat and declined to cross it.' On OCLC, one sentence plus the credibility move: 'They are not a functional competitor, but they own the library market's budgets, and I spent years inside that company, so when we sell to libraries I know exactly how that market buys and what it distrusts.' If asked for the closest business-model comparable: NewsGuard, trust data licensed to institutions, proof the licensing model works in this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non-technical audience, translate this slide into three business facts and move on in under a minute. One: 'Everything here is standard, proven, inexpensive technology; the entire infrastructure runs on about ten dollars a month, so capital goes into the product and the data, not the plumbing.' Two: 'The AI is a component, not the company. It sits behind an adapter so we can swap providers as pricing and quality shift, and every AI call is written into a visible record, which matters enormously for a trust product; nothing is a black box.' Three: 'It is already deployed. This exact stack is what is serving footnote.alessandrarye.com today; we shipped to production on day two of the build.' Invite the technical questions rather than front-loading them: 'Happy to go as deep as anyone likes on architecture afterward.' If someone asks why not more exotic technology: boring components on purpose; the novel risk in this product is the claim pipeline and the data model, and that is where the innovation budget is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execution-credibility slide; investors fund people who ship. Lead with the receipt: 'The plan said deploy a walking skeleton in week one. It went live on day two.' Then the discipline story in plain terms: 'The vision is large; the build is deliberately small, and the Won't-build list is longer than the Must-build list on purpose. Four weeks buys one town and one complete journey, working end to end. Everything else stays on the roadmap until this earns its way forward.' Then the risk management line, which lands especially well with anyone who has operated a business: 'The riskiest piece is the AI claim handling, so it has a pre-planned fallback with a trigger date already written in the decisions log: if it is behind at the end of week two, we descope to a curated set of ten real local claims and the demo survives intact. You will never hear me say we hope it works out.' If asked what happens when life collides with the schedule: one-week cycles so a bad week costs one cycle, and risks get flagged the week they appear, with options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how-it-becomes-a-business slide; give it the most investor air time. 'Row one is market expansion: the same engine that grounds a claim about a school levy can carry a documented record on data-center siting or public accountability, built entirely from primary documents. Every topic package is new surface area with no new architecture.' 'Row two is the channel: libraries. Our librarian interview confirmed what my years at OCLC taught me: maintaining authoritative local information is that profession's identity, and they currently lack the tool. Libraries become the editorial layer, which simultaneously solves scaling, deepens the moat, and IS the paying customer.' Then the revenue bar, stated with confidence, not apology: 'Citizens never pay; the civic layer stays free, which is what makes institutions want to offer it. Revenue comes from institutional licensing to libraries and school districts, and from the engine itself as an API for newsrooms and civic platforms; NewsGuard proves institutions pay for licensed trust data. Grants bridge the early institutional sales cycle, which in this market runs on annual budgets. And we exclude advertising permanently, on two independent grounds: ad economics need hundreds of millions of users, and engagement mechanics are the disease this product treats. Values and unit economics point the same direction, which is when you know a constraint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with the two sentences on screen; they are the whole product in plain words. Then the summary an investor should walk out holding: 'A validated gap that three different professions described to us unprompted. A product that is already live. A moat the biggest company in search tested and declined to cross. A revenue model institutions already pay for elsewhere. And constraints our competitors structurally cannot copy.' Then the ask, calibrated to this audience: you are not raising a round today, so ask for the three things early supporters actually give: 'What I am looking for from this room: hard questions now, introductions to libraries, school districts, or civic organizations that should pilot this, and advice from anyone who has sold into institutions.' End clean: 'The demo is live at that address on your own phone right now.' If a question stumps you, say what you would need to find out and how you would find it; for this product in particular, showing your reasoning under uncertainty is itself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22960" y="1874520"/>
            <a:ext cx="10515600" cy="1371600"/>
          </a:xfrm>
          <a:prstGeom prst="rect">
            <a:avLst/>
          </a:prstGeom>
          <a:noFill/>
          <a:ln/>
        </p:spPr>
        <p:txBody>
          <a:bodyPr wrap="square" lIns="0" tIns="0" rIns="0" bIns="0" rtlCol="0" anchor="ctr"/>
          <a:lstStyle/>
          <a:p>
            <a:pPr algn="l" indent="0" marL="0">
              <a:buNone/>
            </a:pPr>
            <a:r>
              <a:rPr lang="en-US" sz="7600" b="1" dirty="0">
                <a:solidFill>
                  <a:srgbClr val="FFFFFF"/>
                </a:solidFill>
                <a:latin typeface="Century Schoolbook" pitchFamily="34" charset="0"/>
                <a:ea typeface="Century Schoolbook" pitchFamily="34" charset="-122"/>
                <a:cs typeface="Century Schoolbook" pitchFamily="34" charset="-120"/>
              </a:rPr>
              <a:t>Footnote</a:t>
            </a:r>
            <a:pPr algn="l" indent="0" marL="0">
              <a:buNone/>
            </a:pPr>
            <a:r>
              <a:rPr lang="en-US" sz="3400" b="1" baseline="30000" dirty="0">
                <a:solidFill>
                  <a:srgbClr val="990011"/>
                </a:solidFill>
                <a:latin typeface="Century Schoolbook" pitchFamily="34" charset="0"/>
                <a:ea typeface="Century Schoolbook" pitchFamily="34" charset="-122"/>
                <a:cs typeface="Century Schoolbook" pitchFamily="34" charset="-120"/>
              </a:rPr>
              <a:t> 1</a:t>
            </a:r>
            <a:endParaRPr lang="en-US" sz="7600" dirty="0"/>
          </a:p>
        </p:txBody>
      </p:sp>
      <p:sp>
        <p:nvSpPr>
          <p:cNvPr id="3" name="Text 1"/>
          <p:cNvSpPr/>
          <p:nvPr/>
        </p:nvSpPr>
        <p:spPr>
          <a:xfrm>
            <a:off x="850392" y="3154680"/>
            <a:ext cx="9875520" cy="54864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From “is this even true?” to “here’s what I can do about it.”</a:t>
            </a:r>
            <a:endParaRPr lang="en-US" sz="2000" dirty="0"/>
          </a:p>
        </p:txBody>
      </p:sp>
      <p:sp>
        <p:nvSpPr>
          <p:cNvPr id="4" name="Text 2"/>
          <p:cNvSpPr/>
          <p:nvPr/>
        </p:nvSpPr>
        <p:spPr>
          <a:xfrm>
            <a:off x="850392" y="3886200"/>
            <a:ext cx="9875520" cy="457200"/>
          </a:xfrm>
          <a:prstGeom prst="rect">
            <a:avLst/>
          </a:prstGeom>
          <a:noFill/>
          <a:ln/>
        </p:spPr>
        <p:txBody>
          <a:bodyPr wrap="square" lIns="0" tIns="0" rIns="0" bIns="0" rtlCol="0" anchor="ctr"/>
          <a:lstStyle/>
          <a:p>
            <a:pPr indent="0" marL="0">
              <a:buNone/>
            </a:pPr>
            <a:r>
              <a:rPr lang="en-US" sz="1600" b="1" dirty="0">
                <a:solidFill>
                  <a:srgbClr val="FFD7DB"/>
                </a:solidFill>
                <a:latin typeface="Calibri" pitchFamily="34" charset="0"/>
                <a:ea typeface="Calibri" pitchFamily="34" charset="-122"/>
                <a:cs typeface="Calibri" pitchFamily="34" charset="-120"/>
              </a:rPr>
              <a:t>Live now:  </a:t>
            </a:r>
            <a:pPr indent="0" marL="0">
              <a:buNone/>
            </a:pPr>
            <a:r>
              <a:rPr lang="en-US" sz="1600" dirty="0">
                <a:solidFill>
                  <a:srgbClr val="FFFFFF"/>
                </a:solidFill>
                <a:latin typeface="Calibri" pitchFamily="34" charset="0"/>
                <a:ea typeface="Calibri" pitchFamily="34" charset="-122"/>
                <a:cs typeface="Calibri" pitchFamily="34" charset="-120"/>
              </a:rPr>
              <a:t>footnote.alessandrarye.com</a:t>
            </a:r>
            <a:endParaRPr lang="en-US" sz="1600" dirty="0"/>
          </a:p>
        </p:txBody>
      </p:sp>
      <p:sp>
        <p:nvSpPr>
          <p:cNvPr id="5" name="Shape 3"/>
          <p:cNvSpPr/>
          <p:nvPr/>
        </p:nvSpPr>
        <p:spPr>
          <a:xfrm>
            <a:off x="850392" y="5394960"/>
            <a:ext cx="3840480" cy="0"/>
          </a:xfrm>
          <a:prstGeom prst="line">
            <a:avLst/>
          </a:prstGeom>
          <a:noFill/>
          <a:ln w="12700">
            <a:solidFill>
              <a:srgbClr val="55607A"/>
            </a:solidFill>
            <a:prstDash val="solid"/>
          </a:ln>
        </p:spPr>
      </p:sp>
      <p:sp>
        <p:nvSpPr>
          <p:cNvPr id="6" name="Text 4"/>
          <p:cNvSpPr/>
          <p:nvPr/>
        </p:nvSpPr>
        <p:spPr>
          <a:xfrm>
            <a:off x="850392" y="5486400"/>
            <a:ext cx="9601200" cy="36576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  </a:t>
            </a:r>
            <a:pPr indent="0" marL="0">
              <a:buNone/>
            </a:pPr>
            <a:r>
              <a:rPr lang="en-US" sz="1300" dirty="0">
                <a:solidFill>
                  <a:srgbClr val="CADCFC"/>
                </a:solidFill>
                <a:latin typeface="Calibri" pitchFamily="34" charset="0"/>
                <a:ea typeface="Calibri" pitchFamily="34" charset="-122"/>
                <a:cs typeface="Calibri" pitchFamily="34" charset="-120"/>
              </a:rPr>
              <a:t>Civic grounding for public claims: sources, transparency, and a real local next step.</a:t>
            </a:r>
            <a:endParaRPr lang="en-US" sz="1300" dirty="0"/>
          </a:p>
        </p:txBody>
      </p:sp>
      <p:sp>
        <p:nvSpPr>
          <p:cNvPr id="7" name="Text 5"/>
          <p:cNvSpPr/>
          <p:nvPr/>
        </p:nvSpPr>
        <p:spPr>
          <a:xfrm>
            <a:off x="850392" y="5897880"/>
            <a:ext cx="9601200" cy="365760"/>
          </a:xfrm>
          <a:prstGeom prst="rect">
            <a:avLst/>
          </a:prstGeom>
          <a:noFill/>
          <a:ln/>
        </p:spPr>
        <p:txBody>
          <a:bodyPr wrap="square" lIns="0" tIns="0" rIns="0" bIns="0" rtlCol="0" anchor="ctr"/>
          <a:lstStyle/>
          <a:p>
            <a:pPr indent="0" marL="0">
              <a:buNone/>
            </a:pPr>
            <a:r>
              <a:rPr lang="en-US" sz="1300" dirty="0">
                <a:solidFill>
                  <a:srgbClr val="55607A"/>
                </a:solidFill>
                <a:latin typeface="Calibri" pitchFamily="34" charset="0"/>
                <a:ea typeface="Calibri" pitchFamily="34" charset="-122"/>
                <a:cs typeface="Calibri" pitchFamily="34" charset="-120"/>
              </a:rPr>
              <a:t>Alee · Metana Full Stack Capstone · 4-week MVP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800" b="1" dirty="0">
                <a:solidFill>
                  <a:srgbClr val="1F2A44"/>
                </a:solidFill>
                <a:latin typeface="Century Schoolbook" pitchFamily="34" charset="0"/>
                <a:ea typeface="Century Schoolbook" pitchFamily="34" charset="-122"/>
                <a:cs typeface="Century Schoolbook" pitchFamily="34" charset="-120"/>
              </a:rPr>
              <a:t>The gap between seeing and doing</a:t>
            </a:r>
            <a:endParaRPr lang="en-US" sz="3800" dirty="0"/>
          </a:p>
        </p:txBody>
      </p:sp>
      <p:sp>
        <p:nvSpPr>
          <p:cNvPr id="3" name="Text 1"/>
          <p:cNvSpPr/>
          <p:nvPr/>
        </p:nvSpPr>
        <p:spPr>
          <a:xfrm>
            <a:off x="640080" y="1417320"/>
            <a:ext cx="4663440" cy="2377440"/>
          </a:xfrm>
          <a:prstGeom prst="rect">
            <a:avLst/>
          </a:prstGeom>
          <a:noFill/>
          <a:ln/>
        </p:spPr>
        <p:txBody>
          <a:bodyPr wrap="square" lIns="0" tIns="0" rIns="0" bIns="0" rtlCol="0" anchor="t"/>
          <a:lstStyle/>
          <a:p>
            <a:pPr algn="l" indent="0" marL="0">
              <a:lnSpc>
                <a:spcPct val="115000"/>
              </a:lnSpc>
              <a:buNone/>
            </a:pPr>
            <a:r>
              <a:rPr lang="en-US" sz="1500" dirty="0">
                <a:solidFill>
                  <a:srgbClr val="55607A"/>
                </a:solidFill>
                <a:latin typeface="Calibri" pitchFamily="34" charset="0"/>
                <a:ea typeface="Calibri" pitchFamily="34" charset="-122"/>
                <a:cs typeface="Calibri" pitchFamily="34" charset="-120"/>
              </a:rPr>
              <a:t>A resident sees a post: </a:t>
            </a:r>
            <a:pPr algn="l" indent="0" marL="0">
              <a:lnSpc>
                <a:spcPct val="115000"/>
              </a:lnSpc>
              <a:buNone/>
            </a:pPr>
            <a:r>
              <a:rPr lang="en-US" sz="1500" i="1" dirty="0">
                <a:solidFill>
                  <a:srgbClr val="1F2A44"/>
                </a:solidFill>
                <a:latin typeface="Calibri" pitchFamily="34" charset="0"/>
                <a:ea typeface="Calibri" pitchFamily="34" charset="-122"/>
                <a:cs typeface="Calibri" pitchFamily="34" charset="-120"/>
              </a:rPr>
              <a:t>“the new levy money is going to administrator raises.”</a:t>
            </a:r>
            <a:pPr algn="l" indent="0" marL="0">
              <a:lnSpc>
                <a:spcPct val="115000"/>
              </a:lnSpc>
              <a:buNone/>
            </a:pPr>
            <a:endParaRPr lang="en-US" sz="1500" dirty="0"/>
          </a:p>
          <a:p>
            <a:pPr algn="l" indent="0" marL="0">
              <a:lnSpc>
                <a:spcPct val="115000"/>
              </a:lnSpc>
              <a:buNone/>
            </a:pPr>
            <a:endParaRPr lang="en-US" sz="1500" dirty="0"/>
          </a:p>
          <a:p>
            <a:pPr algn="l" indent="0" marL="0">
              <a:lnSpc>
                <a:spcPct val="115000"/>
              </a:lnSpc>
              <a:buNone/>
            </a:pPr>
            <a:r>
              <a:rPr lang="en-US" sz="1500" dirty="0">
                <a:solidFill>
                  <a:srgbClr val="55607A"/>
                </a:solidFill>
                <a:latin typeface="Calibri" pitchFamily="34" charset="0"/>
                <a:ea typeface="Calibri" pitchFamily="34" charset="-122"/>
                <a:cs typeface="Calibri" pitchFamily="34" charset="-120"/>
              </a:rPr>
              <a:t>Today she has three dead ends. She can't easily check it. If she checks it, she gets a verdict with no reasoning. And nothing tells her what to actually do next, so she shares it, or shrugs.</a:t>
            </a:r>
            <a:endParaRPr lang="en-US" sz="1500" dirty="0"/>
          </a:p>
        </p:txBody>
      </p:sp>
      <p:sp>
        <p:nvSpPr>
          <p:cNvPr id="4" name="Shape 2"/>
          <p:cNvSpPr/>
          <p:nvPr/>
        </p:nvSpPr>
        <p:spPr>
          <a:xfrm>
            <a:off x="640080" y="3794760"/>
            <a:ext cx="4663440" cy="1143000"/>
          </a:xfrm>
          <a:prstGeom prst="roundRect">
            <a:avLst>
              <a:gd name="adj" fmla="val 5600"/>
            </a:avLst>
          </a:prstGeom>
          <a:solidFill>
            <a:srgbClr val="FFFFFF"/>
          </a:solidFill>
          <a:ln w="15875">
            <a:solidFill>
              <a:srgbClr val="990011"/>
            </a:solidFill>
            <a:prstDash val="solid"/>
          </a:ln>
        </p:spPr>
      </p:sp>
      <p:sp>
        <p:nvSpPr>
          <p:cNvPr id="5" name="Text 3"/>
          <p:cNvSpPr/>
          <p:nvPr/>
        </p:nvSpPr>
        <p:spPr>
          <a:xfrm>
            <a:off x="868680" y="3794760"/>
            <a:ext cx="4206240" cy="1143000"/>
          </a:xfrm>
          <a:prstGeom prst="rect">
            <a:avLst/>
          </a:prstGeom>
          <a:noFill/>
          <a:ln/>
        </p:spPr>
        <p:txBody>
          <a:bodyPr wrap="square" lIns="0" tIns="0" rIns="0" bIns="0" rtlCol="0" anchor="ctr"/>
          <a:lstStyle/>
          <a:p>
            <a:pPr indent="0" marL="0">
              <a:lnSpc>
                <a:spcPct val="110000"/>
              </a:lnSpc>
              <a:buNone/>
            </a:pPr>
            <a:r>
              <a:rPr lang="en-US" sz="1250" b="1" dirty="0">
                <a:solidFill>
                  <a:srgbClr val="990011"/>
                </a:solidFill>
                <a:latin typeface="Calibri" pitchFamily="34" charset="0"/>
                <a:ea typeface="Calibri" pitchFamily="34" charset="-122"/>
                <a:cs typeface="Calibri" pitchFamily="34" charset="-120"/>
              </a:rPr>
              <a:t>Early signal: </a:t>
            </a:r>
            <a:pPr indent="0" marL="0">
              <a:lnSpc>
                <a:spcPct val="110000"/>
              </a:lnSpc>
              <a:buNone/>
            </a:pPr>
            <a:r>
              <a:rPr lang="en-US" sz="1250" dirty="0">
                <a:solidFill>
                  <a:srgbClr val="1F2A44"/>
                </a:solidFill>
                <a:latin typeface="Calibri" pitchFamily="34" charset="0"/>
                <a:ea typeface="Calibri" pitchFamily="34" charset="-122"/>
                <a:cs typeface="Calibri" pitchFamily="34" charset="-120"/>
              </a:rPr>
              <a:t>an attorney, a librarian, and a student, interviewed separately, each described this exact gap, and all three responded positively to Footnote.</a:t>
            </a:r>
            <a:endParaRPr lang="en-US" sz="1250" dirty="0"/>
          </a:p>
        </p:txBody>
      </p:sp>
      <p:sp>
        <p:nvSpPr>
          <p:cNvPr id="6" name="Shape 4"/>
          <p:cNvSpPr/>
          <p:nvPr/>
        </p:nvSpPr>
        <p:spPr>
          <a:xfrm>
            <a:off x="5669280" y="1417320"/>
            <a:ext cx="5852160" cy="1005840"/>
          </a:xfrm>
          <a:prstGeom prst="roundRect">
            <a:avLst>
              <a:gd name="adj" fmla="val 6364"/>
            </a:avLst>
          </a:prstGeom>
          <a:solidFill>
            <a:srgbClr val="F2F2F2"/>
          </a:solidFill>
          <a:ln/>
        </p:spPr>
      </p:sp>
      <p:sp>
        <p:nvSpPr>
          <p:cNvPr id="7" name="Shape 5"/>
          <p:cNvSpPr/>
          <p:nvPr/>
        </p:nvSpPr>
        <p:spPr>
          <a:xfrm>
            <a:off x="5897880" y="1728216"/>
            <a:ext cx="384048" cy="384048"/>
          </a:xfrm>
          <a:prstGeom prst="ellipse">
            <a:avLst/>
          </a:prstGeom>
          <a:solidFill>
            <a:srgbClr val="990011"/>
          </a:solidFill>
          <a:ln/>
        </p:spPr>
      </p:sp>
      <p:sp>
        <p:nvSpPr>
          <p:cNvPr id="8" name="Text 6"/>
          <p:cNvSpPr/>
          <p:nvPr/>
        </p:nvSpPr>
        <p:spPr>
          <a:xfrm>
            <a:off x="5897880" y="17172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6446520" y="1527048"/>
            <a:ext cx="4937760" cy="365760"/>
          </a:xfrm>
          <a:prstGeom prst="rect">
            <a:avLst/>
          </a:prstGeom>
          <a:noFill/>
          <a:ln/>
        </p:spPr>
        <p:txBody>
          <a:bodyPr wrap="square" lIns="0" tIns="0" rIns="0" bIns="0" rtlCol="0" anchor="ctr"/>
          <a:lstStyle/>
          <a:p>
            <a:pPr indent="0" marL="0">
              <a:buNone/>
            </a:pPr>
            <a:r>
              <a:rPr lang="en-US" sz="1500" b="1" dirty="0">
                <a:solidFill>
                  <a:srgbClr val="1F2A44"/>
                </a:solidFill>
                <a:latin typeface="Calibri" pitchFamily="34" charset="0"/>
                <a:ea typeface="Calibri" pitchFamily="34" charset="-122"/>
                <a:cs typeface="Calibri" pitchFamily="34" charset="-120"/>
              </a:rPr>
              <a:t>Verification tools stop at the verdict</a:t>
            </a:r>
            <a:endParaRPr lang="en-US" sz="1500" dirty="0"/>
          </a:p>
        </p:txBody>
      </p:sp>
      <p:sp>
        <p:nvSpPr>
          <p:cNvPr id="10" name="Text 8"/>
          <p:cNvSpPr/>
          <p:nvPr/>
        </p:nvSpPr>
        <p:spPr>
          <a:xfrm>
            <a:off x="6446520" y="1892808"/>
            <a:ext cx="4937760" cy="457200"/>
          </a:xfrm>
          <a:prstGeom prst="rect">
            <a:avLst/>
          </a:prstGeom>
          <a:noFill/>
          <a:ln/>
        </p:spPr>
        <p:txBody>
          <a:bodyPr wrap="square" lIns="0" tIns="0" rIns="0" bIns="0" rtlCol="0" anchor="ctr"/>
          <a:lstStyle/>
          <a:p>
            <a:pPr indent="0" marL="0">
              <a:buNone/>
            </a:pPr>
            <a:r>
              <a:rPr lang="en-US" sz="1250" dirty="0">
                <a:solidFill>
                  <a:srgbClr val="55607A"/>
                </a:solidFill>
                <a:latin typeface="Calibri" pitchFamily="34" charset="0"/>
                <a:ea typeface="Calibri" pitchFamily="34" charset="-122"/>
                <a:cs typeface="Calibri" pitchFamily="34" charset="-120"/>
              </a:rPr>
              <a:t>Fact-checks and trust ratings end with “true-ish.” Then nothing.</a:t>
            </a:r>
            <a:endParaRPr lang="en-US" sz="1250" dirty="0"/>
          </a:p>
        </p:txBody>
      </p:sp>
      <p:sp>
        <p:nvSpPr>
          <p:cNvPr id="11" name="Shape 9"/>
          <p:cNvSpPr/>
          <p:nvPr/>
        </p:nvSpPr>
        <p:spPr>
          <a:xfrm>
            <a:off x="5669280" y="2587752"/>
            <a:ext cx="5852160" cy="1005840"/>
          </a:xfrm>
          <a:prstGeom prst="roundRect">
            <a:avLst>
              <a:gd name="adj" fmla="val 6364"/>
            </a:avLst>
          </a:prstGeom>
          <a:solidFill>
            <a:srgbClr val="F2F2F2"/>
          </a:solidFill>
          <a:ln/>
        </p:spPr>
      </p:sp>
      <p:sp>
        <p:nvSpPr>
          <p:cNvPr id="12" name="Shape 10"/>
          <p:cNvSpPr/>
          <p:nvPr/>
        </p:nvSpPr>
        <p:spPr>
          <a:xfrm>
            <a:off x="5897880" y="2898648"/>
            <a:ext cx="384048" cy="384048"/>
          </a:xfrm>
          <a:prstGeom prst="ellipse">
            <a:avLst/>
          </a:prstGeom>
          <a:solidFill>
            <a:srgbClr val="990011"/>
          </a:solidFill>
          <a:ln/>
        </p:spPr>
      </p:sp>
      <p:sp>
        <p:nvSpPr>
          <p:cNvPr id="13" name="Text 11"/>
          <p:cNvSpPr/>
          <p:nvPr/>
        </p:nvSpPr>
        <p:spPr>
          <a:xfrm>
            <a:off x="5897880" y="288767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6446520" y="2697480"/>
            <a:ext cx="4937760" cy="365760"/>
          </a:xfrm>
          <a:prstGeom prst="rect">
            <a:avLst/>
          </a:prstGeom>
          <a:noFill/>
          <a:ln/>
        </p:spPr>
        <p:txBody>
          <a:bodyPr wrap="square" lIns="0" tIns="0" rIns="0" bIns="0" rtlCol="0" anchor="ctr"/>
          <a:lstStyle/>
          <a:p>
            <a:pPr indent="0" marL="0">
              <a:buNone/>
            </a:pPr>
            <a:r>
              <a:rPr lang="en-US" sz="1500" b="1" dirty="0">
                <a:solidFill>
                  <a:srgbClr val="1F2A44"/>
                </a:solidFill>
                <a:latin typeface="Calibri" pitchFamily="34" charset="0"/>
                <a:ea typeface="Calibri" pitchFamily="34" charset="-122"/>
                <a:cs typeface="Calibri" pitchFamily="34" charset="-120"/>
              </a:rPr>
              <a:t>Civic software is sold to governments</a:t>
            </a:r>
            <a:endParaRPr lang="en-US" sz="1500" dirty="0"/>
          </a:p>
        </p:txBody>
      </p:sp>
      <p:sp>
        <p:nvSpPr>
          <p:cNvPr id="15" name="Text 13"/>
          <p:cNvSpPr/>
          <p:nvPr/>
        </p:nvSpPr>
        <p:spPr>
          <a:xfrm>
            <a:off x="6446520" y="3063240"/>
            <a:ext cx="4937760" cy="457200"/>
          </a:xfrm>
          <a:prstGeom prst="rect">
            <a:avLst/>
          </a:prstGeom>
          <a:noFill/>
          <a:ln/>
        </p:spPr>
        <p:txBody>
          <a:bodyPr wrap="square" lIns="0" tIns="0" rIns="0" bIns="0" rtlCol="0" anchor="ctr"/>
          <a:lstStyle/>
          <a:p>
            <a:pPr indent="0" marL="0">
              <a:buNone/>
            </a:pPr>
            <a:r>
              <a:rPr lang="en-US" sz="1250" dirty="0">
                <a:solidFill>
                  <a:srgbClr val="55607A"/>
                </a:solidFill>
                <a:latin typeface="Calibri" pitchFamily="34" charset="0"/>
                <a:ea typeface="Calibri" pitchFamily="34" charset="-122"/>
                <a:cs typeface="Calibri" pitchFamily="34" charset="-120"/>
              </a:rPr>
              <a:t>The municipality is the customer; the resident is the audience.</a:t>
            </a:r>
            <a:endParaRPr lang="en-US" sz="1250" dirty="0"/>
          </a:p>
        </p:txBody>
      </p:sp>
      <p:sp>
        <p:nvSpPr>
          <p:cNvPr id="16" name="Shape 14"/>
          <p:cNvSpPr/>
          <p:nvPr/>
        </p:nvSpPr>
        <p:spPr>
          <a:xfrm>
            <a:off x="5669280" y="3758184"/>
            <a:ext cx="5852160" cy="1005840"/>
          </a:xfrm>
          <a:prstGeom prst="roundRect">
            <a:avLst>
              <a:gd name="adj" fmla="val 6364"/>
            </a:avLst>
          </a:prstGeom>
          <a:solidFill>
            <a:srgbClr val="F2F2F2"/>
          </a:solidFill>
          <a:ln/>
        </p:spPr>
      </p:sp>
      <p:sp>
        <p:nvSpPr>
          <p:cNvPr id="17" name="Shape 15"/>
          <p:cNvSpPr/>
          <p:nvPr/>
        </p:nvSpPr>
        <p:spPr>
          <a:xfrm>
            <a:off x="5897880" y="4069080"/>
            <a:ext cx="384048" cy="384048"/>
          </a:xfrm>
          <a:prstGeom prst="ellipse">
            <a:avLst/>
          </a:prstGeom>
          <a:solidFill>
            <a:srgbClr val="990011"/>
          </a:solidFill>
          <a:ln/>
        </p:spPr>
      </p:sp>
      <p:sp>
        <p:nvSpPr>
          <p:cNvPr id="18" name="Text 16"/>
          <p:cNvSpPr/>
          <p:nvPr/>
        </p:nvSpPr>
        <p:spPr>
          <a:xfrm>
            <a:off x="5897880" y="405810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446520" y="3867912"/>
            <a:ext cx="4937760" cy="365760"/>
          </a:xfrm>
          <a:prstGeom prst="rect">
            <a:avLst/>
          </a:prstGeom>
          <a:noFill/>
          <a:ln/>
        </p:spPr>
        <p:txBody>
          <a:bodyPr wrap="square" lIns="0" tIns="0" rIns="0" bIns="0" rtlCol="0" anchor="ctr"/>
          <a:lstStyle/>
          <a:p>
            <a:pPr indent="0" marL="0">
              <a:buNone/>
            </a:pPr>
            <a:r>
              <a:rPr lang="en-US" sz="1500" b="1" dirty="0">
                <a:solidFill>
                  <a:srgbClr val="1F2A44"/>
                </a:solidFill>
                <a:latin typeface="Calibri" pitchFamily="34" charset="0"/>
                <a:ea typeface="Calibri" pitchFamily="34" charset="-122"/>
                <a:cs typeface="Calibri" pitchFamily="34" charset="-120"/>
              </a:rPr>
              <a:t>Community platforms have neither</a:t>
            </a:r>
            <a:endParaRPr lang="en-US" sz="1500" dirty="0"/>
          </a:p>
        </p:txBody>
      </p:sp>
      <p:sp>
        <p:nvSpPr>
          <p:cNvPr id="20" name="Text 18"/>
          <p:cNvSpPr/>
          <p:nvPr/>
        </p:nvSpPr>
        <p:spPr>
          <a:xfrm>
            <a:off x="6446520" y="4233672"/>
            <a:ext cx="4937760" cy="457200"/>
          </a:xfrm>
          <a:prstGeom prst="rect">
            <a:avLst/>
          </a:prstGeom>
          <a:noFill/>
          <a:ln/>
        </p:spPr>
        <p:txBody>
          <a:bodyPr wrap="square" lIns="0" tIns="0" rIns="0" bIns="0" rtlCol="0" anchor="ctr"/>
          <a:lstStyle/>
          <a:p>
            <a:pPr indent="0" marL="0">
              <a:buNone/>
            </a:pPr>
            <a:r>
              <a:rPr lang="en-US" sz="1250" dirty="0">
                <a:solidFill>
                  <a:srgbClr val="55607A"/>
                </a:solidFill>
                <a:latin typeface="Calibri" pitchFamily="34" charset="0"/>
                <a:ea typeface="Calibri" pitchFamily="34" charset="-122"/>
                <a:cs typeface="Calibri" pitchFamily="34" charset="-120"/>
              </a:rPr>
              <a:t>Where claims actually spread, there’s no verification and no path to action.</a:t>
            </a:r>
            <a:endParaRPr lang="en-US" sz="1250" dirty="0"/>
          </a:p>
        </p:txBody>
      </p:sp>
      <p:sp>
        <p:nvSpPr>
          <p:cNvPr id="21" name="Shape 19"/>
          <p:cNvSpPr/>
          <p:nvPr/>
        </p:nvSpPr>
        <p:spPr>
          <a:xfrm>
            <a:off x="640080" y="5166360"/>
            <a:ext cx="10881360" cy="960120"/>
          </a:xfrm>
          <a:prstGeom prst="roundRect">
            <a:avLst>
              <a:gd name="adj" fmla="val 6667"/>
            </a:avLst>
          </a:prstGeom>
          <a:solidFill>
            <a:srgbClr val="1F2A44"/>
          </a:solidFill>
          <a:ln/>
        </p:spPr>
      </p:sp>
      <p:sp>
        <p:nvSpPr>
          <p:cNvPr id="22" name="Text 20"/>
          <p:cNvSpPr/>
          <p:nvPr/>
        </p:nvSpPr>
        <p:spPr>
          <a:xfrm>
            <a:off x="914400" y="5166360"/>
            <a:ext cx="10332720" cy="96012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Nobody connects </a:t>
            </a:r>
            <a:pPr algn="ctr" indent="0" marL="0">
              <a:buNone/>
            </a:pPr>
            <a:r>
              <a:rPr lang="en-US" sz="1900" i="1" dirty="0">
                <a:solidFill>
                  <a:srgbClr val="FFFFFF"/>
                </a:solidFill>
                <a:latin typeface="Calibri" pitchFamily="34" charset="0"/>
                <a:ea typeface="Calibri" pitchFamily="34" charset="-122"/>
                <a:cs typeface="Calibri" pitchFamily="34" charset="-120"/>
              </a:rPr>
              <a:t>“I saw this claim”</a:t>
            </a:r>
            <a:pPr algn="ctr" indent="0" marL="0">
              <a:buNone/>
            </a:pPr>
            <a:r>
              <a:rPr lang="en-US" sz="1900" dirty="0">
                <a:solidFill>
                  <a:srgbClr val="FFFFFF"/>
                </a:solidFill>
                <a:latin typeface="Calibri" pitchFamily="34" charset="0"/>
                <a:ea typeface="Calibri" pitchFamily="34" charset="-122"/>
                <a:cs typeface="Calibri" pitchFamily="34" charset="-120"/>
              </a:rPr>
              <a:t> to </a:t>
            </a:r>
            <a:pPr algn="ctr" indent="0" marL="0">
              <a:buNone/>
            </a:pPr>
            <a:r>
              <a:rPr lang="en-US" sz="1900" b="1" dirty="0">
                <a:solidFill>
                  <a:srgbClr val="FFD7DB"/>
                </a:solidFill>
                <a:latin typeface="Calibri" pitchFamily="34" charset="0"/>
                <a:ea typeface="Calibri" pitchFamily="34" charset="-122"/>
                <a:cs typeface="Calibri" pitchFamily="34" charset="-120"/>
              </a:rPr>
              <a:t>“here is what I can do about 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800" b="1" dirty="0">
                <a:solidFill>
                  <a:srgbClr val="1F2A44"/>
                </a:solidFill>
                <a:latin typeface="Century Schoolbook" pitchFamily="34" charset="0"/>
                <a:ea typeface="Century Schoolbook" pitchFamily="34" charset="-122"/>
                <a:cs typeface="Century Schoolbook" pitchFamily="34" charset="-120"/>
              </a:rPr>
              <a:t>The solution: one path, four steps</a:t>
            </a:r>
            <a:endParaRPr lang="en-US" sz="3800" dirty="0"/>
          </a:p>
        </p:txBody>
      </p:sp>
      <p:sp>
        <p:nvSpPr>
          <p:cNvPr id="3" name="Shape 1"/>
          <p:cNvSpPr/>
          <p:nvPr/>
        </p:nvSpPr>
        <p:spPr>
          <a:xfrm>
            <a:off x="640080" y="1600200"/>
            <a:ext cx="2596896" cy="3017520"/>
          </a:xfrm>
          <a:prstGeom prst="roundRect">
            <a:avLst>
              <a:gd name="adj" fmla="val 2817"/>
            </a:avLst>
          </a:prstGeom>
          <a:solidFill>
            <a:srgbClr val="F2F2F2"/>
          </a:solidFill>
          <a:ln/>
        </p:spPr>
      </p:sp>
      <p:sp>
        <p:nvSpPr>
          <p:cNvPr id="4" name="Shape 2"/>
          <p:cNvSpPr/>
          <p:nvPr/>
        </p:nvSpPr>
        <p:spPr>
          <a:xfrm>
            <a:off x="868680" y="1828800"/>
            <a:ext cx="384048" cy="384048"/>
          </a:xfrm>
          <a:prstGeom prst="ellipse">
            <a:avLst/>
          </a:prstGeom>
          <a:solidFill>
            <a:srgbClr val="990011"/>
          </a:solidFill>
          <a:ln/>
        </p:spPr>
      </p:sp>
      <p:sp>
        <p:nvSpPr>
          <p:cNvPr id="5" name="Text 3"/>
          <p:cNvSpPr/>
          <p:nvPr/>
        </p:nvSpPr>
        <p:spPr>
          <a:xfrm>
            <a:off x="868680" y="181782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868680" y="2377440"/>
            <a:ext cx="2176272" cy="41148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Bring a claim</a:t>
            </a:r>
            <a:endParaRPr lang="en-US" sz="1600" dirty="0"/>
          </a:p>
        </p:txBody>
      </p:sp>
      <p:sp>
        <p:nvSpPr>
          <p:cNvPr id="7" name="Text 5"/>
          <p:cNvSpPr/>
          <p:nvPr/>
        </p:nvSpPr>
        <p:spPr>
          <a:xfrm>
            <a:off x="868680" y="2816352"/>
            <a:ext cx="2176272" cy="164592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Paste the claim, pick a place. No login, no feed. Location is declared, never detected.</a:t>
            </a:r>
            <a:endParaRPr lang="en-US" sz="1250" dirty="0"/>
          </a:p>
        </p:txBody>
      </p:sp>
      <p:sp>
        <p:nvSpPr>
          <p:cNvPr id="8" name="Text 6"/>
          <p:cNvSpPr/>
          <p:nvPr/>
        </p:nvSpPr>
        <p:spPr>
          <a:xfrm>
            <a:off x="3200400" y="2880360"/>
            <a:ext cx="347472" cy="457200"/>
          </a:xfrm>
          <a:prstGeom prst="rect">
            <a:avLst/>
          </a:prstGeom>
          <a:noFill/>
          <a:ln/>
        </p:spPr>
        <p:txBody>
          <a:bodyPr wrap="square" lIns="0" tIns="0" rIns="0" bIns="0" rtlCol="0" anchor="ctr"/>
          <a:lstStyle/>
          <a:p>
            <a:pPr algn="ctr" indent="0" marL="0">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502152" y="1600200"/>
            <a:ext cx="2596896" cy="3017520"/>
          </a:xfrm>
          <a:prstGeom prst="roundRect">
            <a:avLst>
              <a:gd name="adj" fmla="val 2817"/>
            </a:avLst>
          </a:prstGeom>
          <a:solidFill>
            <a:srgbClr val="F2F2F2"/>
          </a:solidFill>
          <a:ln/>
        </p:spPr>
      </p:sp>
      <p:sp>
        <p:nvSpPr>
          <p:cNvPr id="10" name="Shape 8"/>
          <p:cNvSpPr/>
          <p:nvPr/>
        </p:nvSpPr>
        <p:spPr>
          <a:xfrm>
            <a:off x="3730752" y="1828800"/>
            <a:ext cx="384048" cy="384048"/>
          </a:xfrm>
          <a:prstGeom prst="ellipse">
            <a:avLst/>
          </a:prstGeom>
          <a:solidFill>
            <a:srgbClr val="990011"/>
          </a:solidFill>
          <a:ln/>
        </p:spPr>
      </p:sp>
      <p:sp>
        <p:nvSpPr>
          <p:cNvPr id="11" name="Text 9"/>
          <p:cNvSpPr/>
          <p:nvPr/>
        </p:nvSpPr>
        <p:spPr>
          <a:xfrm>
            <a:off x="3730752" y="181782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730752" y="2377440"/>
            <a:ext cx="2176272" cy="41148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See the sources</a:t>
            </a:r>
            <a:endParaRPr lang="en-US" sz="1600" dirty="0"/>
          </a:p>
        </p:txBody>
      </p:sp>
      <p:sp>
        <p:nvSpPr>
          <p:cNvPr id="13" name="Text 11"/>
          <p:cNvSpPr/>
          <p:nvPr/>
        </p:nvSpPr>
        <p:spPr>
          <a:xfrm>
            <a:off x="3730752" y="2816352"/>
            <a:ext cx="2176272" cy="164592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A source card built from primary records, under a visible citation policy. Evidence, not verdict badges.</a:t>
            </a:r>
            <a:endParaRPr lang="en-US" sz="1250" dirty="0"/>
          </a:p>
        </p:txBody>
      </p:sp>
      <p:sp>
        <p:nvSpPr>
          <p:cNvPr id="14" name="Text 12"/>
          <p:cNvSpPr/>
          <p:nvPr/>
        </p:nvSpPr>
        <p:spPr>
          <a:xfrm>
            <a:off x="6062472" y="2880360"/>
            <a:ext cx="347472" cy="457200"/>
          </a:xfrm>
          <a:prstGeom prst="rect">
            <a:avLst/>
          </a:prstGeom>
          <a:noFill/>
          <a:ln/>
        </p:spPr>
        <p:txBody>
          <a:bodyPr wrap="square" lIns="0" tIns="0" rIns="0" bIns="0" rtlCol="0" anchor="ctr"/>
          <a:lstStyle/>
          <a:p>
            <a:pPr algn="ctr" indent="0" marL="0">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364224" y="1600200"/>
            <a:ext cx="2596896" cy="3017520"/>
          </a:xfrm>
          <a:prstGeom prst="roundRect">
            <a:avLst>
              <a:gd name="adj" fmla="val 2817"/>
            </a:avLst>
          </a:prstGeom>
          <a:solidFill>
            <a:srgbClr val="F2F2F2"/>
          </a:solidFill>
          <a:ln/>
        </p:spPr>
      </p:sp>
      <p:sp>
        <p:nvSpPr>
          <p:cNvPr id="16" name="Shape 14"/>
          <p:cNvSpPr/>
          <p:nvPr/>
        </p:nvSpPr>
        <p:spPr>
          <a:xfrm>
            <a:off x="6592824" y="1828800"/>
            <a:ext cx="384048" cy="384048"/>
          </a:xfrm>
          <a:prstGeom prst="ellipse">
            <a:avLst/>
          </a:prstGeom>
          <a:solidFill>
            <a:srgbClr val="990011"/>
          </a:solidFill>
          <a:ln/>
        </p:spPr>
      </p:sp>
      <p:sp>
        <p:nvSpPr>
          <p:cNvPr id="17" name="Text 15"/>
          <p:cNvSpPr/>
          <p:nvPr/>
        </p:nvSpPr>
        <p:spPr>
          <a:xfrm>
            <a:off x="6592824" y="181782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592824" y="2377440"/>
            <a:ext cx="2176272" cy="41148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Open the record</a:t>
            </a:r>
            <a:endParaRPr lang="en-US" sz="1600" dirty="0"/>
          </a:p>
        </p:txBody>
      </p:sp>
      <p:sp>
        <p:nvSpPr>
          <p:cNvPr id="19" name="Text 17"/>
          <p:cNvSpPr/>
          <p:nvPr/>
        </p:nvSpPr>
        <p:spPr>
          <a:xfrm>
            <a:off x="6592824" y="2816352"/>
            <a:ext cx="2176272" cy="164592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The transparency layer: what was searched, used, rejected, and where AI was involved.</a:t>
            </a:r>
            <a:endParaRPr lang="en-US" sz="1250" dirty="0"/>
          </a:p>
        </p:txBody>
      </p:sp>
      <p:sp>
        <p:nvSpPr>
          <p:cNvPr id="20" name="Text 18"/>
          <p:cNvSpPr/>
          <p:nvPr/>
        </p:nvSpPr>
        <p:spPr>
          <a:xfrm>
            <a:off x="8924544" y="2880360"/>
            <a:ext cx="347472" cy="457200"/>
          </a:xfrm>
          <a:prstGeom prst="rect">
            <a:avLst/>
          </a:prstGeom>
          <a:noFill/>
          <a:ln/>
        </p:spPr>
        <p:txBody>
          <a:bodyPr wrap="square" lIns="0" tIns="0" rIns="0" bIns="0" rtlCol="0" anchor="ctr"/>
          <a:lstStyle/>
          <a:p>
            <a:pPr algn="ctr" indent="0" marL="0">
              <a:buNone/>
            </a:pPr>
            <a:r>
              <a:rPr lang="en-US" sz="2200" b="1" dirty="0">
                <a:solidFill>
                  <a:srgbClr val="990011"/>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9226296" y="1600200"/>
            <a:ext cx="2596896" cy="3017520"/>
          </a:xfrm>
          <a:prstGeom prst="roundRect">
            <a:avLst>
              <a:gd name="adj" fmla="val 2817"/>
            </a:avLst>
          </a:prstGeom>
          <a:solidFill>
            <a:srgbClr val="F2F2F2"/>
          </a:solidFill>
          <a:ln/>
        </p:spPr>
      </p:sp>
      <p:sp>
        <p:nvSpPr>
          <p:cNvPr id="22" name="Shape 20"/>
          <p:cNvSpPr/>
          <p:nvPr/>
        </p:nvSpPr>
        <p:spPr>
          <a:xfrm>
            <a:off x="9454896" y="1828800"/>
            <a:ext cx="384048" cy="384048"/>
          </a:xfrm>
          <a:prstGeom prst="ellipse">
            <a:avLst/>
          </a:prstGeom>
          <a:solidFill>
            <a:srgbClr val="990011"/>
          </a:solidFill>
          <a:ln/>
        </p:spPr>
      </p:sp>
      <p:sp>
        <p:nvSpPr>
          <p:cNvPr id="23" name="Text 21"/>
          <p:cNvSpPr/>
          <p:nvPr/>
        </p:nvSpPr>
        <p:spPr>
          <a:xfrm>
            <a:off x="9454896" y="181782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9454896" y="2377440"/>
            <a:ext cx="2176272" cy="41148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Get the next step</a:t>
            </a:r>
            <a:endParaRPr lang="en-US" sz="1600" dirty="0"/>
          </a:p>
        </p:txBody>
      </p:sp>
      <p:sp>
        <p:nvSpPr>
          <p:cNvPr id="25" name="Text 23"/>
          <p:cNvSpPr/>
          <p:nvPr/>
        </p:nvSpPr>
        <p:spPr>
          <a:xfrm>
            <a:off x="9454896" y="2816352"/>
            <a:ext cx="2176272" cy="164592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The upcoming meeting and agenda, the responsible official, the organizations already on it.</a:t>
            </a:r>
            <a:endParaRPr lang="en-US" sz="1250" dirty="0"/>
          </a:p>
        </p:txBody>
      </p:sp>
      <p:sp>
        <p:nvSpPr>
          <p:cNvPr id="26" name="Shape 24"/>
          <p:cNvSpPr/>
          <p:nvPr/>
        </p:nvSpPr>
        <p:spPr>
          <a:xfrm>
            <a:off x="640080" y="5029200"/>
            <a:ext cx="10881360" cy="1097280"/>
          </a:xfrm>
          <a:prstGeom prst="roundRect">
            <a:avLst>
              <a:gd name="adj" fmla="val 5833"/>
            </a:avLst>
          </a:prstGeom>
          <a:solidFill>
            <a:srgbClr val="1F2A44"/>
          </a:solidFill>
          <a:ln/>
        </p:spPr>
      </p:sp>
      <p:sp>
        <p:nvSpPr>
          <p:cNvPr id="27" name="Text 25"/>
          <p:cNvSpPr/>
          <p:nvPr/>
        </p:nvSpPr>
        <p:spPr>
          <a:xfrm>
            <a:off x="914400" y="5029200"/>
            <a:ext cx="103327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Then the session ends and evaporates.  </a:t>
            </a:r>
            <a:pPr algn="ctr" indent="0" marL="0">
              <a:buNone/>
            </a:pPr>
            <a:r>
              <a:rPr lang="en-US" sz="1600" dirty="0">
                <a:solidFill>
                  <a:srgbClr val="CADCFC"/>
                </a:solidFill>
                <a:latin typeface="Calibri" pitchFamily="34" charset="0"/>
                <a:ea typeface="Calibri" pitchFamily="34" charset="-122"/>
                <a:cs typeface="Calibri" pitchFamily="34" charset="-120"/>
              </a:rPr>
              <a:t>No profiles, no tracking, no engagement optimization, no ads. The constraints are the product.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1155680" cy="731520"/>
          </a:xfrm>
          <a:prstGeom prst="rect">
            <a:avLst/>
          </a:prstGeom>
          <a:noFill/>
          <a:ln/>
        </p:spPr>
        <p:txBody>
          <a:bodyPr wrap="square" lIns="0" tIns="0" rIns="0" bIns="0" rtlCol="0" anchor="ctr"/>
          <a:lstStyle/>
          <a:p>
            <a:pPr indent="0" marL="0">
              <a:buNone/>
            </a:pPr>
            <a:r>
              <a:rPr lang="en-US" sz="3400" b="1" dirty="0">
                <a:solidFill>
                  <a:srgbClr val="1F2A44"/>
                </a:solidFill>
                <a:latin typeface="Century Schoolbook" pitchFamily="34" charset="0"/>
                <a:ea typeface="Century Schoolbook" pitchFamily="34" charset="-122"/>
                <a:cs typeface="Century Schoolbook" pitchFamily="34" charset="-120"/>
              </a:rPr>
              <a:t>The data: where it comes from, why it can be trusted</a:t>
            </a:r>
            <a:endParaRPr lang="en-US" sz="3400" dirty="0"/>
          </a:p>
        </p:txBody>
      </p:sp>
      <p:sp>
        <p:nvSpPr>
          <p:cNvPr id="3" name="Shape 1"/>
          <p:cNvSpPr/>
          <p:nvPr/>
        </p:nvSpPr>
        <p:spPr>
          <a:xfrm>
            <a:off x="640080" y="1417320"/>
            <a:ext cx="5349240" cy="3657600"/>
          </a:xfrm>
          <a:prstGeom prst="roundRect">
            <a:avLst>
              <a:gd name="adj" fmla="val 2000"/>
            </a:avLst>
          </a:prstGeom>
          <a:solidFill>
            <a:srgbClr val="F2F2F2"/>
          </a:solidFill>
          <a:ln/>
        </p:spPr>
      </p:sp>
      <p:sp>
        <p:nvSpPr>
          <p:cNvPr id="4" name="Text 2"/>
          <p:cNvSpPr/>
          <p:nvPr/>
        </p:nvSpPr>
        <p:spPr>
          <a:xfrm>
            <a:off x="914400" y="1645920"/>
            <a:ext cx="4846320" cy="411480"/>
          </a:xfrm>
          <a:prstGeom prst="rect">
            <a:avLst/>
          </a:prstGeom>
          <a:noFill/>
          <a:ln/>
        </p:spPr>
        <p:txBody>
          <a:bodyPr wrap="square" lIns="0" tIns="0" rIns="0" bIns="0" rtlCol="0" anchor="ctr"/>
          <a:lstStyle/>
          <a:p>
            <a:pPr indent="0" marL="0">
              <a:buNone/>
            </a:pPr>
            <a:r>
              <a:rPr lang="en-US" sz="1700" b="1" dirty="0">
                <a:solidFill>
                  <a:srgbClr val="990011"/>
                </a:solidFill>
                <a:latin typeface="Calibri" pitchFamily="34" charset="0"/>
                <a:ea typeface="Calibri" pitchFamily="34" charset="-122"/>
                <a:cs typeface="Calibri" pitchFamily="34" charset="-120"/>
              </a:rPr>
              <a:t>Primary sources only</a:t>
            </a:r>
            <a:endParaRPr lang="en-US" sz="1700" dirty="0"/>
          </a:p>
        </p:txBody>
      </p:sp>
      <p:sp>
        <p:nvSpPr>
          <p:cNvPr id="5" name="Text 3"/>
          <p:cNvSpPr/>
          <p:nvPr/>
        </p:nvSpPr>
        <p:spPr>
          <a:xfrm>
            <a:off x="914400" y="214884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County, city, and school district official sites</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Agenda portals: BoardDocs, Legistar / CivicClerk</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Board of Elections: ballot &amp; levy language</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Ohio Revised Code &amp; codified ordinances</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OpenStates API for state legislators</a:t>
            </a:r>
            <a:endParaRPr lang="en-US" sz="1350" dirty="0"/>
          </a:p>
          <a:p>
            <a:pPr marL="342900" indent="-342900">
              <a:spcAft>
                <a:spcPts val="800"/>
              </a:spcAft>
              <a:buSzPct val="100000"/>
              <a:buChar char="•"/>
            </a:pPr>
            <a:r>
              <a:rPr lang="en-US" sz="1350" b="1" dirty="0">
                <a:solidFill>
                  <a:srgbClr val="1F2A44"/>
                </a:solidFill>
                <a:latin typeface="Calibri" pitchFamily="34" charset="0"/>
                <a:ea typeface="Calibri" pitchFamily="34" charset="-122"/>
                <a:cs typeface="Calibri" pitchFamily="34" charset="-120"/>
              </a:rPr>
              <a:t>Nothing below the primary-record tier enters the civic layer</a:t>
            </a:r>
            <a:endParaRPr lang="en-US" sz="1350" dirty="0"/>
          </a:p>
        </p:txBody>
      </p:sp>
      <p:sp>
        <p:nvSpPr>
          <p:cNvPr id="6" name="Shape 4"/>
          <p:cNvSpPr/>
          <p:nvPr/>
        </p:nvSpPr>
        <p:spPr>
          <a:xfrm>
            <a:off x="6217920" y="1417320"/>
            <a:ext cx="5349240" cy="3657600"/>
          </a:xfrm>
          <a:prstGeom prst="roundRect">
            <a:avLst>
              <a:gd name="adj" fmla="val 2000"/>
            </a:avLst>
          </a:prstGeom>
          <a:solidFill>
            <a:srgbClr val="F2F2F2"/>
          </a:solidFill>
          <a:ln/>
        </p:spPr>
      </p:sp>
      <p:sp>
        <p:nvSpPr>
          <p:cNvPr id="7" name="Text 5"/>
          <p:cNvSpPr/>
          <p:nvPr/>
        </p:nvSpPr>
        <p:spPr>
          <a:xfrm>
            <a:off x="6492240" y="1645920"/>
            <a:ext cx="4846320" cy="411480"/>
          </a:xfrm>
          <a:prstGeom prst="rect">
            <a:avLst/>
          </a:prstGeom>
          <a:noFill/>
          <a:ln/>
        </p:spPr>
        <p:txBody>
          <a:bodyPr wrap="square" lIns="0" tIns="0" rIns="0" bIns="0" rtlCol="0" anchor="ctr"/>
          <a:lstStyle/>
          <a:p>
            <a:pPr indent="0" marL="0">
              <a:buNone/>
            </a:pPr>
            <a:r>
              <a:rPr lang="en-US" sz="1700" b="1" dirty="0">
                <a:solidFill>
                  <a:srgbClr val="990011"/>
                </a:solidFill>
                <a:latin typeface="Calibri" pitchFamily="34" charset="0"/>
                <a:ea typeface="Calibri" pitchFamily="34" charset="-122"/>
                <a:cs typeface="Calibri" pitchFamily="34" charset="-120"/>
              </a:rPr>
              <a:t>Provenance on every entry</a:t>
            </a:r>
            <a:endParaRPr lang="en-US" sz="1700" dirty="0"/>
          </a:p>
        </p:txBody>
      </p:sp>
      <p:sp>
        <p:nvSpPr>
          <p:cNvPr id="8" name="Text 6"/>
          <p:cNvSpPr/>
          <p:nvPr/>
        </p:nvSpPr>
        <p:spPr>
          <a:xfrm>
            <a:off x="6492240" y="214884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Each datum carries: source link · date verified · tier</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Staleness is displayed, never hidden (“verified 60 days ago”)</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Data lives in version-controlled files; the git history is the audit log</a:t>
            </a:r>
            <a:endParaRPr lang="en-US" sz="1350" dirty="0"/>
          </a:p>
          <a:p>
            <a:pPr marL="342900" indent="-342900">
              <a:spcAft>
                <a:spcPts val="800"/>
              </a:spcAft>
              <a:buSzPct val="100000"/>
              <a:buChar char="•"/>
            </a:pPr>
            <a:r>
              <a:rPr lang="en-US" sz="1350" dirty="0">
                <a:solidFill>
                  <a:srgbClr val="55607A"/>
                </a:solidFill>
                <a:latin typeface="Calibri" pitchFamily="34" charset="0"/>
                <a:ea typeface="Calibri" pitchFamily="34" charset="-122"/>
                <a:cs typeface="Calibri" pitchFamily="34" charset="-120"/>
              </a:rPr>
              <a:t>Report-an-error path closes the loop</a:t>
            </a:r>
            <a:endParaRPr lang="en-US" sz="1350" dirty="0"/>
          </a:p>
          <a:p>
            <a:pPr marL="342900" indent="-342900">
              <a:spcAft>
                <a:spcPts val="800"/>
              </a:spcAft>
              <a:buSzPct val="100000"/>
              <a:buChar char="•"/>
            </a:pPr>
            <a:r>
              <a:rPr lang="en-US" sz="1350" b="1" dirty="0">
                <a:solidFill>
                  <a:srgbClr val="1F2A44"/>
                </a:solidFill>
                <a:latin typeface="Calibri" pitchFamily="34" charset="0"/>
                <a:ea typeface="Calibri" pitchFamily="34" charset="-122"/>
                <a:cs typeface="Calibri" pitchFamily="34" charset="-120"/>
              </a:rPr>
              <a:t>Same standard the tool applies to claims, applied to itself</a:t>
            </a:r>
            <a:endParaRPr lang="en-US" sz="1350" dirty="0"/>
          </a:p>
        </p:txBody>
      </p:sp>
      <p:sp>
        <p:nvSpPr>
          <p:cNvPr id="9" name="Shape 7"/>
          <p:cNvSpPr/>
          <p:nvPr/>
        </p:nvSpPr>
        <p:spPr>
          <a:xfrm>
            <a:off x="640080" y="5349240"/>
            <a:ext cx="10927080" cy="868680"/>
          </a:xfrm>
          <a:prstGeom prst="roundRect">
            <a:avLst>
              <a:gd name="adj" fmla="val 7368"/>
            </a:avLst>
          </a:prstGeom>
          <a:solidFill>
            <a:srgbClr val="1F2A44"/>
          </a:solidFill>
          <a:ln/>
        </p:spPr>
      </p:sp>
      <p:sp>
        <p:nvSpPr>
          <p:cNvPr id="10" name="Text 8"/>
          <p:cNvSpPr/>
          <p:nvPr/>
        </p:nvSpPr>
        <p:spPr>
          <a:xfrm>
            <a:off x="914400" y="5349240"/>
            <a:ext cx="10378440" cy="8686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The promise is not “the data is true.”  </a:t>
            </a:r>
            <a:pPr algn="ctr" indent="0" marL="0">
              <a:buNone/>
            </a:pPr>
            <a:r>
              <a:rPr lang="en-US" sz="1550" dirty="0">
                <a:solidFill>
                  <a:srgbClr val="FFD7DB"/>
                </a:solidFill>
                <a:latin typeface="Calibri" pitchFamily="34" charset="0"/>
                <a:ea typeface="Calibri" pitchFamily="34" charset="-122"/>
                <a:cs typeface="Calibri" pitchFamily="34" charset="-120"/>
              </a:rPr>
              <a:t>It’s “you can always see where it came from and when it was checked.”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800" b="1" dirty="0">
                <a:solidFill>
                  <a:srgbClr val="1F2A44"/>
                </a:solidFill>
                <a:latin typeface="Century Schoolbook" pitchFamily="34" charset="0"/>
                <a:ea typeface="Century Schoolbook" pitchFamily="34" charset="-122"/>
                <a:cs typeface="Century Schoolbook" pitchFamily="34" charset="-120"/>
              </a:rPr>
              <a:t>Competitors: three camps, one empty seam</a:t>
            </a:r>
            <a:endParaRPr lang="en-US" sz="3800" dirty="0"/>
          </a:p>
        </p:txBody>
      </p:sp>
      <p:sp>
        <p:nvSpPr>
          <p:cNvPr id="3" name="Shape 1"/>
          <p:cNvSpPr/>
          <p:nvPr/>
        </p:nvSpPr>
        <p:spPr>
          <a:xfrm>
            <a:off x="640080" y="1463040"/>
            <a:ext cx="3456432" cy="2468880"/>
          </a:xfrm>
          <a:prstGeom prst="roundRect">
            <a:avLst>
              <a:gd name="adj" fmla="val 2963"/>
            </a:avLst>
          </a:prstGeom>
          <a:solidFill>
            <a:srgbClr val="F2F2F2"/>
          </a:solidFill>
          <a:ln/>
        </p:spPr>
      </p:sp>
      <p:sp>
        <p:nvSpPr>
          <p:cNvPr id="4" name="Text 2"/>
          <p:cNvSpPr/>
          <p:nvPr/>
        </p:nvSpPr>
        <p:spPr>
          <a:xfrm>
            <a:off x="896112" y="1691640"/>
            <a:ext cx="2971800" cy="45720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Media trust tools</a:t>
            </a:r>
            <a:endParaRPr lang="en-US" sz="1600" dirty="0"/>
          </a:p>
        </p:txBody>
      </p:sp>
      <p:sp>
        <p:nvSpPr>
          <p:cNvPr id="5" name="Text 3"/>
          <p:cNvSpPr/>
          <p:nvPr/>
        </p:nvSpPr>
        <p:spPr>
          <a:xfrm>
            <a:off x="896112" y="2212848"/>
            <a:ext cx="2971800" cy="822960"/>
          </a:xfrm>
          <a:prstGeom prst="rect">
            <a:avLst/>
          </a:prstGeom>
          <a:noFill/>
          <a:ln/>
        </p:spPr>
        <p:txBody>
          <a:bodyPr wrap="square" lIns="0" tIns="0" rIns="0" bIns="0" rtlCol="0" anchor="ctr"/>
          <a:lstStyle/>
          <a:p>
            <a:pPr indent="0" marL="0">
              <a:lnSpc>
                <a:spcPct val="108000"/>
              </a:lnSpc>
              <a:buNone/>
            </a:pPr>
            <a:r>
              <a:rPr lang="en-US" sz="1200" dirty="0">
                <a:solidFill>
                  <a:srgbClr val="55607A"/>
                </a:solidFill>
                <a:latin typeface="Calibri" pitchFamily="34" charset="0"/>
                <a:ea typeface="Calibri" pitchFamily="34" charset="-122"/>
                <a:cs typeface="Calibri" pitchFamily="34" charset="-120"/>
              </a:rPr>
              <a:t>Ground News · NewsGuard · AI verification APIs (Factiverse, ClaimBuster)</a:t>
            </a:r>
            <a:endParaRPr lang="en-US" sz="1200" dirty="0"/>
          </a:p>
        </p:txBody>
      </p:sp>
      <p:sp>
        <p:nvSpPr>
          <p:cNvPr id="6" name="Text 4"/>
          <p:cNvSpPr/>
          <p:nvPr/>
        </p:nvSpPr>
        <p:spPr>
          <a:xfrm>
            <a:off x="896112" y="3127248"/>
            <a:ext cx="2971800" cy="731520"/>
          </a:xfrm>
          <a:prstGeom prst="rect">
            <a:avLst/>
          </a:prstGeom>
          <a:noFill/>
          <a:ln/>
        </p:spPr>
        <p:txBody>
          <a:bodyPr wrap="square" lIns="0" tIns="0" rIns="0" bIns="0" rtlCol="0" anchor="ctr"/>
          <a:lstStyle/>
          <a:p>
            <a:pPr indent="0" marL="0">
              <a:lnSpc>
                <a:spcPct val="108000"/>
              </a:lnSpc>
              <a:buNone/>
            </a:pPr>
            <a:r>
              <a:rPr lang="en-US" sz="1250" i="1" dirty="0">
                <a:solidFill>
                  <a:srgbClr val="990011"/>
                </a:solidFill>
                <a:latin typeface="Calibri" pitchFamily="34" charset="0"/>
                <a:ea typeface="Calibri" pitchFamily="34" charset="-122"/>
                <a:cs typeface="Calibri" pitchFamily="34" charset="-120"/>
              </a:rPr>
              <a:t>Stop at the verdict.</a:t>
            </a:r>
            <a:endParaRPr lang="en-US" sz="1250" dirty="0"/>
          </a:p>
        </p:txBody>
      </p:sp>
      <p:sp>
        <p:nvSpPr>
          <p:cNvPr id="7" name="Shape 5"/>
          <p:cNvSpPr/>
          <p:nvPr/>
        </p:nvSpPr>
        <p:spPr>
          <a:xfrm>
            <a:off x="4370832" y="1463040"/>
            <a:ext cx="3456432" cy="2468880"/>
          </a:xfrm>
          <a:prstGeom prst="roundRect">
            <a:avLst>
              <a:gd name="adj" fmla="val 2963"/>
            </a:avLst>
          </a:prstGeom>
          <a:solidFill>
            <a:srgbClr val="F2F2F2"/>
          </a:solidFill>
          <a:ln/>
        </p:spPr>
      </p:sp>
      <p:sp>
        <p:nvSpPr>
          <p:cNvPr id="8" name="Text 6"/>
          <p:cNvSpPr/>
          <p:nvPr/>
        </p:nvSpPr>
        <p:spPr>
          <a:xfrm>
            <a:off x="4626864" y="1691640"/>
            <a:ext cx="2971800" cy="45720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Gov-side civic platforms</a:t>
            </a:r>
            <a:endParaRPr lang="en-US" sz="1600" dirty="0"/>
          </a:p>
        </p:txBody>
      </p:sp>
      <p:sp>
        <p:nvSpPr>
          <p:cNvPr id="9" name="Text 7"/>
          <p:cNvSpPr/>
          <p:nvPr/>
        </p:nvSpPr>
        <p:spPr>
          <a:xfrm>
            <a:off x="4626864" y="2212848"/>
            <a:ext cx="2971800" cy="822960"/>
          </a:xfrm>
          <a:prstGeom prst="rect">
            <a:avLst/>
          </a:prstGeom>
          <a:noFill/>
          <a:ln/>
        </p:spPr>
        <p:txBody>
          <a:bodyPr wrap="square" lIns="0" tIns="0" rIns="0" bIns="0" rtlCol="0" anchor="ctr"/>
          <a:lstStyle/>
          <a:p>
            <a:pPr indent="0" marL="0">
              <a:lnSpc>
                <a:spcPct val="108000"/>
              </a:lnSpc>
              <a:buNone/>
            </a:pPr>
            <a:r>
              <a:rPr lang="en-US" sz="1200" dirty="0">
                <a:solidFill>
                  <a:srgbClr val="55607A"/>
                </a:solidFill>
                <a:latin typeface="Calibri" pitchFamily="34" charset="0"/>
                <a:ea typeface="Calibri" pitchFamily="34" charset="-122"/>
                <a:cs typeface="Calibri" pitchFamily="34" charset="-120"/>
              </a:rPr>
              <a:t>CivicPlus · OpenGov · Granicus</a:t>
            </a:r>
            <a:endParaRPr lang="en-US" sz="1200" dirty="0"/>
          </a:p>
        </p:txBody>
      </p:sp>
      <p:sp>
        <p:nvSpPr>
          <p:cNvPr id="10" name="Text 8"/>
          <p:cNvSpPr/>
          <p:nvPr/>
        </p:nvSpPr>
        <p:spPr>
          <a:xfrm>
            <a:off x="4626864" y="3127248"/>
            <a:ext cx="2971800" cy="731520"/>
          </a:xfrm>
          <a:prstGeom prst="rect">
            <a:avLst/>
          </a:prstGeom>
          <a:noFill/>
          <a:ln/>
        </p:spPr>
        <p:txBody>
          <a:bodyPr wrap="square" lIns="0" tIns="0" rIns="0" bIns="0" rtlCol="0" anchor="ctr"/>
          <a:lstStyle/>
          <a:p>
            <a:pPr indent="0" marL="0">
              <a:lnSpc>
                <a:spcPct val="108000"/>
              </a:lnSpc>
              <a:buNone/>
            </a:pPr>
            <a:r>
              <a:rPr lang="en-US" sz="1250" i="1" dirty="0">
                <a:solidFill>
                  <a:srgbClr val="990011"/>
                </a:solidFill>
                <a:latin typeface="Calibri" pitchFamily="34" charset="0"/>
                <a:ea typeface="Calibri" pitchFamily="34" charset="-122"/>
                <a:cs typeface="Calibri" pitchFamily="34" charset="-120"/>
              </a:rPr>
              <a:t>Sold to governments; the citizen isn’t the customer. Roadmaps bet on personalization.</a:t>
            </a:r>
            <a:endParaRPr lang="en-US" sz="1250" dirty="0"/>
          </a:p>
        </p:txBody>
      </p:sp>
      <p:sp>
        <p:nvSpPr>
          <p:cNvPr id="11" name="Shape 9"/>
          <p:cNvSpPr/>
          <p:nvPr/>
        </p:nvSpPr>
        <p:spPr>
          <a:xfrm>
            <a:off x="8101584" y="1463040"/>
            <a:ext cx="3456432" cy="2468880"/>
          </a:xfrm>
          <a:prstGeom prst="roundRect">
            <a:avLst>
              <a:gd name="adj" fmla="val 2963"/>
            </a:avLst>
          </a:prstGeom>
          <a:solidFill>
            <a:srgbClr val="F2F2F2"/>
          </a:solidFill>
          <a:ln/>
        </p:spPr>
      </p:sp>
      <p:sp>
        <p:nvSpPr>
          <p:cNvPr id="12" name="Text 10"/>
          <p:cNvSpPr/>
          <p:nvPr/>
        </p:nvSpPr>
        <p:spPr>
          <a:xfrm>
            <a:off x="8357616" y="1691640"/>
            <a:ext cx="2971800" cy="45720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Community platforms</a:t>
            </a:r>
            <a:endParaRPr lang="en-US" sz="1600" dirty="0"/>
          </a:p>
        </p:txBody>
      </p:sp>
      <p:sp>
        <p:nvSpPr>
          <p:cNvPr id="13" name="Text 11"/>
          <p:cNvSpPr/>
          <p:nvPr/>
        </p:nvSpPr>
        <p:spPr>
          <a:xfrm>
            <a:off x="8357616" y="2212848"/>
            <a:ext cx="2971800" cy="822960"/>
          </a:xfrm>
          <a:prstGeom prst="rect">
            <a:avLst/>
          </a:prstGeom>
          <a:noFill/>
          <a:ln/>
        </p:spPr>
        <p:txBody>
          <a:bodyPr wrap="square" lIns="0" tIns="0" rIns="0" bIns="0" rtlCol="0" anchor="ctr"/>
          <a:lstStyle/>
          <a:p>
            <a:pPr indent="0" marL="0">
              <a:lnSpc>
                <a:spcPct val="108000"/>
              </a:lnSpc>
              <a:buNone/>
            </a:pPr>
            <a:r>
              <a:rPr lang="en-US" sz="1200" dirty="0">
                <a:solidFill>
                  <a:srgbClr val="55607A"/>
                </a:solidFill>
                <a:latin typeface="Calibri" pitchFamily="34" charset="0"/>
                <a:ea typeface="Calibri" pitchFamily="34" charset="-122"/>
                <a:cs typeface="Calibri" pitchFamily="34" charset="-120"/>
              </a:rPr>
              <a:t>Nextdoor · Facebook groups · local forums</a:t>
            </a:r>
            <a:endParaRPr lang="en-US" sz="1200" dirty="0"/>
          </a:p>
        </p:txBody>
      </p:sp>
      <p:sp>
        <p:nvSpPr>
          <p:cNvPr id="14" name="Text 12"/>
          <p:cNvSpPr/>
          <p:nvPr/>
        </p:nvSpPr>
        <p:spPr>
          <a:xfrm>
            <a:off x="8357616" y="3127248"/>
            <a:ext cx="2971800" cy="731520"/>
          </a:xfrm>
          <a:prstGeom prst="rect">
            <a:avLst/>
          </a:prstGeom>
          <a:noFill/>
          <a:ln/>
        </p:spPr>
        <p:txBody>
          <a:bodyPr wrap="square" lIns="0" tIns="0" rIns="0" bIns="0" rtlCol="0" anchor="ctr"/>
          <a:lstStyle/>
          <a:p>
            <a:pPr indent="0" marL="0">
              <a:lnSpc>
                <a:spcPct val="108000"/>
              </a:lnSpc>
              <a:buNone/>
            </a:pPr>
            <a:r>
              <a:rPr lang="en-US" sz="1250" i="1" dirty="0">
                <a:solidFill>
                  <a:srgbClr val="990011"/>
                </a:solidFill>
                <a:latin typeface="Calibri" pitchFamily="34" charset="0"/>
                <a:ea typeface="Calibri" pitchFamily="34" charset="-122"/>
                <a:cs typeface="Calibri" pitchFamily="34" charset="-120"/>
              </a:rPr>
              <a:t>Own the attention where claims spread. No verification, no path to action.</a:t>
            </a:r>
            <a:endParaRPr lang="en-US" sz="1250" dirty="0"/>
          </a:p>
        </p:txBody>
      </p:sp>
      <p:sp>
        <p:nvSpPr>
          <p:cNvPr id="15" name="Shape 13"/>
          <p:cNvSpPr/>
          <p:nvPr/>
        </p:nvSpPr>
        <p:spPr>
          <a:xfrm>
            <a:off x="640080" y="4114800"/>
            <a:ext cx="10927080" cy="1170432"/>
          </a:xfrm>
          <a:prstGeom prst="roundRect">
            <a:avLst>
              <a:gd name="adj" fmla="val 5469"/>
            </a:avLst>
          </a:prstGeom>
          <a:solidFill>
            <a:srgbClr val="FFFFFF"/>
          </a:solidFill>
          <a:ln w="12700">
            <a:solidFill>
              <a:srgbClr val="1F2A44"/>
            </a:solidFill>
            <a:prstDash val="solid"/>
          </a:ln>
        </p:spPr>
      </p:sp>
      <p:sp>
        <p:nvSpPr>
          <p:cNvPr id="16" name="Text 14"/>
          <p:cNvSpPr/>
          <p:nvPr/>
        </p:nvSpPr>
        <p:spPr>
          <a:xfrm>
            <a:off x="914400" y="4114800"/>
            <a:ext cx="10378440" cy="1170432"/>
          </a:xfrm>
          <a:prstGeom prst="rect">
            <a:avLst/>
          </a:prstGeom>
          <a:noFill/>
          <a:ln/>
        </p:spPr>
        <p:txBody>
          <a:bodyPr wrap="square" lIns="0" tIns="0" rIns="0" bIns="0" rtlCol="0" anchor="ctr"/>
          <a:lstStyle/>
          <a:p>
            <a:pPr indent="0" marL="0">
              <a:lnSpc>
                <a:spcPct val="112000"/>
              </a:lnSpc>
              <a:buNone/>
            </a:pPr>
            <a:r>
              <a:rPr lang="en-US" sz="1200" b="1" dirty="0">
                <a:solidFill>
                  <a:srgbClr val="990011"/>
                </a:solidFill>
                <a:latin typeface="Calibri" pitchFamily="34" charset="0"/>
                <a:ea typeface="Calibri" pitchFamily="34" charset="-122"/>
                <a:cs typeface="Calibri" pitchFamily="34" charset="-120"/>
              </a:rPr>
              <a:t>On the radar · </a:t>
            </a:r>
            <a:pPr indent="0" marL="0">
              <a:lnSpc>
                <a:spcPct val="112000"/>
              </a:lnSpc>
              <a:buNone/>
            </a:pPr>
            <a:r>
              <a:rPr lang="en-US" sz="1200" b="1" dirty="0">
                <a:solidFill>
                  <a:srgbClr val="1F2A44"/>
                </a:solidFill>
                <a:latin typeface="Calibri" pitchFamily="34" charset="0"/>
                <a:ea typeface="Calibri" pitchFamily="34" charset="-122"/>
                <a:cs typeface="Calibri" pitchFamily="34" charset="-120"/>
              </a:rPr>
              <a:t>Google: </a:t>
            </a:r>
            <a:pPr indent="0" marL="0">
              <a:lnSpc>
                <a:spcPct val="112000"/>
              </a:lnSpc>
              <a:buNone/>
            </a:pPr>
            <a:r>
              <a:rPr lang="en-US" sz="1200" dirty="0">
                <a:solidFill>
                  <a:srgbClr val="55607A"/>
                </a:solidFill>
                <a:latin typeface="Calibri" pitchFamily="34" charset="0"/>
                <a:ea typeface="Calibri" pitchFamily="34" charset="-122"/>
                <a:cs typeface="Calibri" pitchFamily="34" charset="-120"/>
              </a:rPr>
              <a:t>substitutes for the verification half (Search, AI Overviews). Ran a Civic Information API for local officials data and shut it down in 2025. The moat, demonstrated.
</a:t>
            </a:r>
            <a:pPr indent="0" marL="0">
              <a:lnSpc>
                <a:spcPct val="112000"/>
              </a:lnSpc>
              <a:buNone/>
            </a:pPr>
            <a:r>
              <a:rPr lang="en-US" sz="1200" b="1" dirty="0">
                <a:solidFill>
                  <a:srgbClr val="1F2A44"/>
                </a:solidFill>
                <a:latin typeface="Calibri" pitchFamily="34" charset="0"/>
                <a:ea typeface="Calibri" pitchFamily="34" charset="-122"/>
                <a:cs typeface="Calibri" pitchFamily="34" charset="-120"/>
              </a:rPr>
              <a:t>OCLC: </a:t>
            </a:r>
            <a:pPr indent="0" marL="0">
              <a:lnSpc>
                <a:spcPct val="112000"/>
              </a:lnSpc>
              <a:buNone/>
            </a:pPr>
            <a:r>
              <a:rPr lang="en-US" sz="1200" dirty="0">
                <a:solidFill>
                  <a:srgbClr val="55607A"/>
                </a:solidFill>
                <a:latin typeface="Calibri" pitchFamily="34" charset="0"/>
                <a:ea typeface="Calibri" pitchFamily="34" charset="-122"/>
                <a:cs typeface="Calibri" pitchFamily="34" charset="-120"/>
              </a:rPr>
              <a:t>budget-adjacent in the library market, not functional. Standing rule: Footnote ingests no library-vendor data, only government primary records.</a:t>
            </a:r>
            <a:endParaRPr lang="en-US" sz="1200" dirty="0"/>
          </a:p>
        </p:txBody>
      </p:sp>
      <p:sp>
        <p:nvSpPr>
          <p:cNvPr id="17" name="Shape 15"/>
          <p:cNvSpPr/>
          <p:nvPr/>
        </p:nvSpPr>
        <p:spPr>
          <a:xfrm>
            <a:off x="640080" y="5468112"/>
            <a:ext cx="10927080" cy="868680"/>
          </a:xfrm>
          <a:prstGeom prst="roundRect">
            <a:avLst>
              <a:gd name="adj" fmla="val 7368"/>
            </a:avLst>
          </a:prstGeom>
          <a:solidFill>
            <a:srgbClr val="1F2A44"/>
          </a:solidFill>
          <a:ln/>
        </p:spPr>
      </p:sp>
      <p:sp>
        <p:nvSpPr>
          <p:cNvPr id="18" name="Text 16"/>
          <p:cNvSpPr/>
          <p:nvPr/>
        </p:nvSpPr>
        <p:spPr>
          <a:xfrm>
            <a:off x="960120" y="5468112"/>
            <a:ext cx="10287000" cy="868680"/>
          </a:xfrm>
          <a:prstGeom prst="rect">
            <a:avLst/>
          </a:prstGeom>
          <a:noFill/>
          <a:ln/>
        </p:spPr>
        <p:txBody>
          <a:bodyPr wrap="square" lIns="0" tIns="0" rIns="0" bIns="0" rtlCol="0" anchor="ctr"/>
          <a:lstStyle/>
          <a:p>
            <a:pPr algn="ctr" indent="0" marL="0">
              <a:lnSpc>
                <a:spcPct val="110000"/>
              </a:lnSpc>
              <a:buNone/>
            </a:pPr>
            <a:r>
              <a:rPr lang="en-US" sz="1500" b="1" dirty="0">
                <a:solidFill>
                  <a:srgbClr val="FFFFFF"/>
                </a:solidFill>
                <a:latin typeface="Calibri" pitchFamily="34" charset="0"/>
                <a:ea typeface="Calibri" pitchFamily="34" charset="-122"/>
                <a:cs typeface="Calibri" pitchFamily="34" charset="-120"/>
              </a:rPr>
              <a:t>Footnote occupies the connection: verification → local action.  </a:t>
            </a:r>
            <a:pPr algn="ctr" indent="0" marL="0">
              <a:lnSpc>
                <a:spcPct val="110000"/>
              </a:lnSpc>
              <a:buNone/>
            </a:pPr>
            <a:r>
              <a:rPr lang="en-US" sz="1250" dirty="0">
                <a:solidFill>
                  <a:srgbClr val="CADCFC"/>
                </a:solidFill>
                <a:latin typeface="Calibri" pitchFamily="34" charset="0"/>
                <a:ea typeface="Calibri" pitchFamily="34" charset="-122"/>
                <a:cs typeface="Calibri" pitchFamily="34" charset="-120"/>
              </a:rPr>
              <a:t>The curated local layer and transparency machinery are the moat; their maintenance cost is why it holds.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800" b="1" dirty="0">
                <a:solidFill>
                  <a:srgbClr val="1F2A44"/>
                </a:solidFill>
                <a:latin typeface="Century Schoolbook" pitchFamily="34" charset="0"/>
                <a:ea typeface="Century Schoolbook" pitchFamily="34" charset="-122"/>
                <a:cs typeface="Century Schoolbook" pitchFamily="34" charset="-120"/>
              </a:rPr>
              <a:t>Tech stack</a:t>
            </a:r>
            <a:endParaRPr lang="en-US" sz="3800" dirty="0"/>
          </a:p>
        </p:txBody>
      </p:sp>
      <p:sp>
        <p:nvSpPr>
          <p:cNvPr id="3" name="Shape 1"/>
          <p:cNvSpPr/>
          <p:nvPr/>
        </p:nvSpPr>
        <p:spPr>
          <a:xfrm>
            <a:off x="640080" y="1417320"/>
            <a:ext cx="10927080" cy="804672"/>
          </a:xfrm>
          <a:prstGeom prst="roundRect">
            <a:avLst>
              <a:gd name="adj" fmla="val 7955"/>
            </a:avLst>
          </a:prstGeom>
          <a:solidFill>
            <a:srgbClr val="F2F2F2"/>
          </a:solidFill>
          <a:ln/>
        </p:spPr>
      </p:sp>
      <p:sp>
        <p:nvSpPr>
          <p:cNvPr id="4" name="Shape 2"/>
          <p:cNvSpPr/>
          <p:nvPr/>
        </p:nvSpPr>
        <p:spPr>
          <a:xfrm>
            <a:off x="868680" y="1581912"/>
            <a:ext cx="475488" cy="475488"/>
          </a:xfrm>
          <a:prstGeom prst="ellipse">
            <a:avLst/>
          </a:prstGeom>
          <a:solidFill>
            <a:srgbClr val="1F2A44"/>
          </a:solidFill>
          <a:ln/>
        </p:spPr>
      </p:sp>
      <p:sp>
        <p:nvSpPr>
          <p:cNvPr id="5" name="Text 3"/>
          <p:cNvSpPr/>
          <p:nvPr/>
        </p:nvSpPr>
        <p:spPr>
          <a:xfrm>
            <a:off x="868680" y="1570939"/>
            <a:ext cx="475488"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a:t>
            </a:r>
            <a:endParaRPr lang="en-US" sz="1050" dirty="0"/>
          </a:p>
        </p:txBody>
      </p:sp>
      <p:sp>
        <p:nvSpPr>
          <p:cNvPr id="6" name="Text 4"/>
          <p:cNvSpPr/>
          <p:nvPr/>
        </p:nvSpPr>
        <p:spPr>
          <a:xfrm>
            <a:off x="1536192" y="1508760"/>
            <a:ext cx="1691640" cy="621792"/>
          </a:xfrm>
          <a:prstGeom prst="rect">
            <a:avLst/>
          </a:prstGeom>
          <a:noFill/>
          <a:ln/>
        </p:spPr>
        <p:txBody>
          <a:bodyPr wrap="square" lIns="0" tIns="0" rIns="0" bIns="0" rtlCol="0" anchor="ctr"/>
          <a:lstStyle/>
          <a:p>
            <a:pPr indent="0" marL="0">
              <a:buNone/>
            </a:pPr>
            <a:r>
              <a:rPr lang="en-US" sz="1450" b="1" dirty="0">
                <a:solidFill>
                  <a:srgbClr val="1F2A44"/>
                </a:solidFill>
                <a:latin typeface="Calibri" pitchFamily="34" charset="0"/>
                <a:ea typeface="Calibri" pitchFamily="34" charset="-122"/>
                <a:cs typeface="Calibri" pitchFamily="34" charset="-120"/>
              </a:rPr>
              <a:t>Frontend</a:t>
            </a:r>
            <a:endParaRPr lang="en-US" sz="1450" dirty="0"/>
          </a:p>
        </p:txBody>
      </p:sp>
      <p:sp>
        <p:nvSpPr>
          <p:cNvPr id="7" name="Text 5"/>
          <p:cNvSpPr/>
          <p:nvPr/>
        </p:nvSpPr>
        <p:spPr>
          <a:xfrm>
            <a:off x="3291840" y="1508760"/>
            <a:ext cx="8092440" cy="621792"/>
          </a:xfrm>
          <a:prstGeom prst="rect">
            <a:avLst/>
          </a:prstGeom>
          <a:noFill/>
          <a:ln/>
        </p:spPr>
        <p:txBody>
          <a:bodyPr wrap="square" lIns="0" tIns="0" rIns="0" bIns="0" rtlCol="0" anchor="ctr"/>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React (Vite) · responsive web app, phone and desktop · every screen reachable by URL</a:t>
            </a:r>
            <a:endParaRPr lang="en-US" sz="1250" dirty="0"/>
          </a:p>
        </p:txBody>
      </p:sp>
      <p:sp>
        <p:nvSpPr>
          <p:cNvPr id="8" name="Shape 6"/>
          <p:cNvSpPr/>
          <p:nvPr/>
        </p:nvSpPr>
        <p:spPr>
          <a:xfrm>
            <a:off x="640080" y="2350008"/>
            <a:ext cx="10927080" cy="804672"/>
          </a:xfrm>
          <a:prstGeom prst="roundRect">
            <a:avLst>
              <a:gd name="adj" fmla="val 7955"/>
            </a:avLst>
          </a:prstGeom>
          <a:solidFill>
            <a:srgbClr val="F2F2F2"/>
          </a:solidFill>
          <a:ln/>
        </p:spPr>
      </p:sp>
      <p:sp>
        <p:nvSpPr>
          <p:cNvPr id="9" name="Shape 7"/>
          <p:cNvSpPr/>
          <p:nvPr/>
        </p:nvSpPr>
        <p:spPr>
          <a:xfrm>
            <a:off x="868680" y="2514600"/>
            <a:ext cx="475488" cy="475488"/>
          </a:xfrm>
          <a:prstGeom prst="ellipse">
            <a:avLst/>
          </a:prstGeom>
          <a:solidFill>
            <a:srgbClr val="1F2A44"/>
          </a:solidFill>
          <a:ln/>
        </p:spPr>
      </p:sp>
      <p:sp>
        <p:nvSpPr>
          <p:cNvPr id="10" name="Text 8"/>
          <p:cNvSpPr/>
          <p:nvPr/>
        </p:nvSpPr>
        <p:spPr>
          <a:xfrm>
            <a:off x="868680" y="2503627"/>
            <a:ext cx="475488"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API</a:t>
            </a:r>
            <a:endParaRPr lang="en-US" sz="1050" dirty="0"/>
          </a:p>
        </p:txBody>
      </p:sp>
      <p:sp>
        <p:nvSpPr>
          <p:cNvPr id="11" name="Text 9"/>
          <p:cNvSpPr/>
          <p:nvPr/>
        </p:nvSpPr>
        <p:spPr>
          <a:xfrm>
            <a:off x="1536192" y="2441448"/>
            <a:ext cx="1691640" cy="621792"/>
          </a:xfrm>
          <a:prstGeom prst="rect">
            <a:avLst/>
          </a:prstGeom>
          <a:noFill/>
          <a:ln/>
        </p:spPr>
        <p:txBody>
          <a:bodyPr wrap="square" lIns="0" tIns="0" rIns="0" bIns="0" rtlCol="0" anchor="ctr"/>
          <a:lstStyle/>
          <a:p>
            <a:pPr indent="0" marL="0">
              <a:buNone/>
            </a:pPr>
            <a:r>
              <a:rPr lang="en-US" sz="1450" b="1" dirty="0">
                <a:solidFill>
                  <a:srgbClr val="1F2A44"/>
                </a:solidFill>
                <a:latin typeface="Calibri" pitchFamily="34" charset="0"/>
                <a:ea typeface="Calibri" pitchFamily="34" charset="-122"/>
                <a:cs typeface="Calibri" pitchFamily="34" charset="-120"/>
              </a:rPr>
              <a:t>Backend</a:t>
            </a:r>
            <a:endParaRPr lang="en-US" sz="1450" dirty="0"/>
          </a:p>
        </p:txBody>
      </p:sp>
      <p:sp>
        <p:nvSpPr>
          <p:cNvPr id="12" name="Text 10"/>
          <p:cNvSpPr/>
          <p:nvPr/>
        </p:nvSpPr>
        <p:spPr>
          <a:xfrm>
            <a:off x="3291840" y="2441448"/>
            <a:ext cx="8092440" cy="621792"/>
          </a:xfrm>
          <a:prstGeom prst="rect">
            <a:avLst/>
          </a:prstGeom>
          <a:noFill/>
          <a:ln/>
        </p:spPr>
        <p:txBody>
          <a:bodyPr wrap="square" lIns="0" tIns="0" rIns="0" bIns="0" rtlCol="0" anchor="ctr"/>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Node.js + Express REST API · claim pipeline as composable stages (classify → source → policy → invite)</a:t>
            </a:r>
            <a:endParaRPr lang="en-US" sz="1250" dirty="0"/>
          </a:p>
        </p:txBody>
      </p:sp>
      <p:sp>
        <p:nvSpPr>
          <p:cNvPr id="13" name="Shape 11"/>
          <p:cNvSpPr/>
          <p:nvPr/>
        </p:nvSpPr>
        <p:spPr>
          <a:xfrm>
            <a:off x="640080" y="3282696"/>
            <a:ext cx="10927080" cy="804672"/>
          </a:xfrm>
          <a:prstGeom prst="roundRect">
            <a:avLst>
              <a:gd name="adj" fmla="val 7955"/>
            </a:avLst>
          </a:prstGeom>
          <a:solidFill>
            <a:srgbClr val="F2F2F2"/>
          </a:solidFill>
          <a:ln/>
        </p:spPr>
      </p:sp>
      <p:sp>
        <p:nvSpPr>
          <p:cNvPr id="14" name="Shape 12"/>
          <p:cNvSpPr/>
          <p:nvPr/>
        </p:nvSpPr>
        <p:spPr>
          <a:xfrm>
            <a:off x="868680" y="3447288"/>
            <a:ext cx="475488" cy="475488"/>
          </a:xfrm>
          <a:prstGeom prst="ellipse">
            <a:avLst/>
          </a:prstGeom>
          <a:solidFill>
            <a:srgbClr val="1F2A44"/>
          </a:solidFill>
          <a:ln/>
        </p:spPr>
      </p:sp>
      <p:sp>
        <p:nvSpPr>
          <p:cNvPr id="15" name="Text 13"/>
          <p:cNvSpPr/>
          <p:nvPr/>
        </p:nvSpPr>
        <p:spPr>
          <a:xfrm>
            <a:off x="868680" y="3436315"/>
            <a:ext cx="475488"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DB</a:t>
            </a:r>
            <a:endParaRPr lang="en-US" sz="1050" dirty="0"/>
          </a:p>
        </p:txBody>
      </p:sp>
      <p:sp>
        <p:nvSpPr>
          <p:cNvPr id="16" name="Text 14"/>
          <p:cNvSpPr/>
          <p:nvPr/>
        </p:nvSpPr>
        <p:spPr>
          <a:xfrm>
            <a:off x="1536192" y="3374136"/>
            <a:ext cx="1691640" cy="621792"/>
          </a:xfrm>
          <a:prstGeom prst="rect">
            <a:avLst/>
          </a:prstGeom>
          <a:noFill/>
          <a:ln/>
        </p:spPr>
        <p:txBody>
          <a:bodyPr wrap="square" lIns="0" tIns="0" rIns="0" bIns="0" rtlCol="0" anchor="ctr"/>
          <a:lstStyle/>
          <a:p>
            <a:pPr indent="0" marL="0">
              <a:buNone/>
            </a:pPr>
            <a:r>
              <a:rPr lang="en-US" sz="1450" b="1" dirty="0">
                <a:solidFill>
                  <a:srgbClr val="1F2A44"/>
                </a:solidFill>
                <a:latin typeface="Calibri" pitchFamily="34" charset="0"/>
                <a:ea typeface="Calibri" pitchFamily="34" charset="-122"/>
                <a:cs typeface="Calibri" pitchFamily="34" charset="-120"/>
              </a:rPr>
              <a:t>Data</a:t>
            </a:r>
            <a:endParaRPr lang="en-US" sz="1450" dirty="0"/>
          </a:p>
        </p:txBody>
      </p:sp>
      <p:sp>
        <p:nvSpPr>
          <p:cNvPr id="17" name="Text 15"/>
          <p:cNvSpPr/>
          <p:nvPr/>
        </p:nvSpPr>
        <p:spPr>
          <a:xfrm>
            <a:off x="3291840" y="3374136"/>
            <a:ext cx="8092440" cy="621792"/>
          </a:xfrm>
          <a:prstGeom prst="rect">
            <a:avLst/>
          </a:prstGeom>
          <a:noFill/>
          <a:ln/>
        </p:spPr>
        <p:txBody>
          <a:bodyPr wrap="square" lIns="0" tIns="0" rIns="0" bIns="0" rtlCol="0" anchor="ctr"/>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PostgreSQL for sessions &amp; records · civic locality package as version-controlled YAML with per-entry provenance</a:t>
            </a:r>
            <a:endParaRPr lang="en-US" sz="1250" dirty="0"/>
          </a:p>
        </p:txBody>
      </p:sp>
      <p:sp>
        <p:nvSpPr>
          <p:cNvPr id="18" name="Shape 16"/>
          <p:cNvSpPr/>
          <p:nvPr/>
        </p:nvSpPr>
        <p:spPr>
          <a:xfrm>
            <a:off x="640080" y="4215384"/>
            <a:ext cx="10927080" cy="804672"/>
          </a:xfrm>
          <a:prstGeom prst="roundRect">
            <a:avLst>
              <a:gd name="adj" fmla="val 7955"/>
            </a:avLst>
          </a:prstGeom>
          <a:solidFill>
            <a:srgbClr val="F2F2F2"/>
          </a:solidFill>
          <a:ln/>
        </p:spPr>
      </p:sp>
      <p:sp>
        <p:nvSpPr>
          <p:cNvPr id="19" name="Shape 17"/>
          <p:cNvSpPr/>
          <p:nvPr/>
        </p:nvSpPr>
        <p:spPr>
          <a:xfrm>
            <a:off x="868680" y="4379976"/>
            <a:ext cx="475488" cy="475488"/>
          </a:xfrm>
          <a:prstGeom prst="ellipse">
            <a:avLst/>
          </a:prstGeom>
          <a:solidFill>
            <a:srgbClr val="1F2A44"/>
          </a:solidFill>
          <a:ln/>
        </p:spPr>
      </p:sp>
      <p:sp>
        <p:nvSpPr>
          <p:cNvPr id="20" name="Text 18"/>
          <p:cNvSpPr/>
          <p:nvPr/>
        </p:nvSpPr>
        <p:spPr>
          <a:xfrm>
            <a:off x="868680" y="4369003"/>
            <a:ext cx="475488"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a:t>
            </a:r>
            <a:endParaRPr lang="en-US" sz="1050" dirty="0"/>
          </a:p>
        </p:txBody>
      </p:sp>
      <p:sp>
        <p:nvSpPr>
          <p:cNvPr id="21" name="Text 19"/>
          <p:cNvSpPr/>
          <p:nvPr/>
        </p:nvSpPr>
        <p:spPr>
          <a:xfrm>
            <a:off x="1536192" y="4306824"/>
            <a:ext cx="1691640" cy="621792"/>
          </a:xfrm>
          <a:prstGeom prst="rect">
            <a:avLst/>
          </a:prstGeom>
          <a:noFill/>
          <a:ln/>
        </p:spPr>
        <p:txBody>
          <a:bodyPr wrap="square" lIns="0" tIns="0" rIns="0" bIns="0" rtlCol="0" anchor="ctr"/>
          <a:lstStyle/>
          <a:p>
            <a:pPr indent="0" marL="0">
              <a:buNone/>
            </a:pPr>
            <a:r>
              <a:rPr lang="en-US" sz="1450" b="1" dirty="0">
                <a:solidFill>
                  <a:srgbClr val="1F2A44"/>
                </a:solidFill>
                <a:latin typeface="Calibri" pitchFamily="34" charset="0"/>
                <a:ea typeface="Calibri" pitchFamily="34" charset="-122"/>
                <a:cs typeface="Calibri" pitchFamily="34" charset="-120"/>
              </a:rPr>
              <a:t>Model layer</a:t>
            </a:r>
            <a:endParaRPr lang="en-US" sz="1450" dirty="0"/>
          </a:p>
        </p:txBody>
      </p:sp>
      <p:sp>
        <p:nvSpPr>
          <p:cNvPr id="22" name="Text 20"/>
          <p:cNvSpPr/>
          <p:nvPr/>
        </p:nvSpPr>
        <p:spPr>
          <a:xfrm>
            <a:off x="3291840" y="4306824"/>
            <a:ext cx="8092440" cy="621792"/>
          </a:xfrm>
          <a:prstGeom prst="rect">
            <a:avLst/>
          </a:prstGeom>
          <a:noFill/>
          <a:ln/>
        </p:spPr>
        <p:txBody>
          <a:bodyPr wrap="square" lIns="0" tIns="0" rIns="0" bIns="0" rtlCol="0" anchor="ctr"/>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Claude API for claim classification &amp; policy-constrained summarization · behind an adapter, swappable · every model call logged to the transparency record</a:t>
            </a:r>
            <a:endParaRPr lang="en-US" sz="1250" dirty="0"/>
          </a:p>
        </p:txBody>
      </p:sp>
      <p:sp>
        <p:nvSpPr>
          <p:cNvPr id="23" name="Shape 21"/>
          <p:cNvSpPr/>
          <p:nvPr/>
        </p:nvSpPr>
        <p:spPr>
          <a:xfrm>
            <a:off x="640080" y="5148072"/>
            <a:ext cx="10927080" cy="804672"/>
          </a:xfrm>
          <a:prstGeom prst="roundRect">
            <a:avLst>
              <a:gd name="adj" fmla="val 7955"/>
            </a:avLst>
          </a:prstGeom>
          <a:solidFill>
            <a:srgbClr val="F2F2F2"/>
          </a:solidFill>
          <a:ln/>
        </p:spPr>
      </p:sp>
      <p:sp>
        <p:nvSpPr>
          <p:cNvPr id="24" name="Shape 22"/>
          <p:cNvSpPr/>
          <p:nvPr/>
        </p:nvSpPr>
        <p:spPr>
          <a:xfrm>
            <a:off x="868680" y="5312664"/>
            <a:ext cx="475488" cy="475488"/>
          </a:xfrm>
          <a:prstGeom prst="ellipse">
            <a:avLst/>
          </a:prstGeom>
          <a:solidFill>
            <a:srgbClr val="1F2A44"/>
          </a:solidFill>
          <a:ln/>
        </p:spPr>
      </p:sp>
      <p:sp>
        <p:nvSpPr>
          <p:cNvPr id="25" name="Text 23"/>
          <p:cNvSpPr/>
          <p:nvPr/>
        </p:nvSpPr>
        <p:spPr>
          <a:xfrm>
            <a:off x="868680" y="5301691"/>
            <a:ext cx="475488"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OPS</a:t>
            </a:r>
            <a:endParaRPr lang="en-US" sz="1050" dirty="0"/>
          </a:p>
        </p:txBody>
      </p:sp>
      <p:sp>
        <p:nvSpPr>
          <p:cNvPr id="26" name="Text 24"/>
          <p:cNvSpPr/>
          <p:nvPr/>
        </p:nvSpPr>
        <p:spPr>
          <a:xfrm>
            <a:off x="1536192" y="5239512"/>
            <a:ext cx="1691640" cy="621792"/>
          </a:xfrm>
          <a:prstGeom prst="rect">
            <a:avLst/>
          </a:prstGeom>
          <a:noFill/>
          <a:ln/>
        </p:spPr>
        <p:txBody>
          <a:bodyPr wrap="square" lIns="0" tIns="0" rIns="0" bIns="0" rtlCol="0" anchor="ctr"/>
          <a:lstStyle/>
          <a:p>
            <a:pPr indent="0" marL="0">
              <a:buNone/>
            </a:pPr>
            <a:r>
              <a:rPr lang="en-US" sz="1450" b="1" dirty="0">
                <a:solidFill>
                  <a:srgbClr val="1F2A44"/>
                </a:solidFill>
                <a:latin typeface="Calibri" pitchFamily="34" charset="0"/>
                <a:ea typeface="Calibri" pitchFamily="34" charset="-122"/>
                <a:cs typeface="Calibri" pitchFamily="34" charset="-120"/>
              </a:rPr>
              <a:t>Infra &amp; process</a:t>
            </a:r>
            <a:endParaRPr lang="en-US" sz="1450" dirty="0"/>
          </a:p>
        </p:txBody>
      </p:sp>
      <p:sp>
        <p:nvSpPr>
          <p:cNvPr id="27" name="Text 25"/>
          <p:cNvSpPr/>
          <p:nvPr/>
        </p:nvSpPr>
        <p:spPr>
          <a:xfrm>
            <a:off x="3291840" y="5239512"/>
            <a:ext cx="8092440" cy="621792"/>
          </a:xfrm>
          <a:prstGeom prst="rect">
            <a:avLst/>
          </a:prstGeom>
          <a:noFill/>
          <a:ln/>
        </p:spPr>
        <p:txBody>
          <a:bodyPr wrap="square" lIns="0" tIns="0" rIns="0" bIns="0" rtlCol="0" anchor="ctr"/>
          <a:lstStyle/>
          <a:p>
            <a:pPr indent="0" marL="0">
              <a:lnSpc>
                <a:spcPct val="105000"/>
              </a:lnSpc>
              <a:buNone/>
            </a:pPr>
            <a:r>
              <a:rPr lang="en-US" sz="1250" dirty="0">
                <a:solidFill>
                  <a:srgbClr val="55607A"/>
                </a:solidFill>
                <a:latin typeface="Calibri" pitchFamily="34" charset="0"/>
                <a:ea typeface="Calibri" pitchFamily="34" charset="-122"/>
                <a:cs typeface="Calibri" pitchFamily="34" charset="-120"/>
              </a:rPr>
              <a:t>AWS EC2 + nginx + pm2, HTTPS via Let's Encrypt · GitHub Actions CI · Issues + Projects board, branch protection, decisions log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800" b="1" dirty="0">
                <a:solidFill>
                  <a:srgbClr val="1F2A44"/>
                </a:solidFill>
                <a:latin typeface="Century Schoolbook" pitchFamily="34" charset="0"/>
                <a:ea typeface="Century Schoolbook" pitchFamily="34" charset="-122"/>
                <a:cs typeface="Century Schoolbook" pitchFamily="34" charset="-120"/>
              </a:rPr>
              <a:t>Scope fence and the four weeks</a:t>
            </a:r>
            <a:endParaRPr lang="en-US" sz="3800" dirty="0"/>
          </a:p>
        </p:txBody>
      </p:sp>
      <p:sp>
        <p:nvSpPr>
          <p:cNvPr id="3" name="Shape 1"/>
          <p:cNvSpPr/>
          <p:nvPr/>
        </p:nvSpPr>
        <p:spPr>
          <a:xfrm>
            <a:off x="640080" y="1417320"/>
            <a:ext cx="5212080" cy="4709160"/>
          </a:xfrm>
          <a:prstGeom prst="roundRect">
            <a:avLst>
              <a:gd name="adj" fmla="val 1553"/>
            </a:avLst>
          </a:prstGeom>
          <a:solidFill>
            <a:srgbClr val="F2F2F2"/>
          </a:solidFill>
          <a:ln/>
        </p:spPr>
      </p:sp>
      <p:sp>
        <p:nvSpPr>
          <p:cNvPr id="4" name="Text 2"/>
          <p:cNvSpPr/>
          <p:nvPr/>
        </p:nvSpPr>
        <p:spPr>
          <a:xfrm>
            <a:off x="914400" y="1627632"/>
            <a:ext cx="4663440" cy="411480"/>
          </a:xfrm>
          <a:prstGeom prst="rect">
            <a:avLst/>
          </a:prstGeom>
          <a:noFill/>
          <a:ln/>
        </p:spPr>
        <p:txBody>
          <a:bodyPr wrap="square" lIns="0" tIns="0" rIns="0" bIns="0" rtlCol="0" anchor="ctr"/>
          <a:lstStyle/>
          <a:p>
            <a:pPr indent="0" marL="0">
              <a:buNone/>
            </a:pPr>
            <a:r>
              <a:rPr lang="en-US" sz="1700" b="1" dirty="0">
                <a:solidFill>
                  <a:srgbClr val="990011"/>
                </a:solidFill>
                <a:latin typeface="Calibri" pitchFamily="34" charset="0"/>
                <a:ea typeface="Calibri" pitchFamily="34" charset="-122"/>
                <a:cs typeface="Calibri" pitchFamily="34" charset="-120"/>
              </a:rPr>
              <a:t>MoSCoW</a:t>
            </a:r>
            <a:endParaRPr lang="en-US" sz="1700" dirty="0"/>
          </a:p>
        </p:txBody>
      </p:sp>
      <p:sp>
        <p:nvSpPr>
          <p:cNvPr id="5" name="Text 3"/>
          <p:cNvSpPr/>
          <p:nvPr/>
        </p:nvSpPr>
        <p:spPr>
          <a:xfrm>
            <a:off x="914400" y="2148840"/>
            <a:ext cx="4663440" cy="3840480"/>
          </a:xfrm>
          <a:prstGeom prst="rect">
            <a:avLst/>
          </a:prstGeom>
          <a:noFill/>
          <a:ln/>
        </p:spPr>
        <p:txBody>
          <a:bodyPr wrap="square" lIns="0" tIns="0" rIns="0" bIns="0" rtlCol="0" anchor="t"/>
          <a:lstStyle/>
          <a:p>
            <a:pPr indent="0" marL="0">
              <a:lnSpc>
                <a:spcPct val="118000"/>
              </a:lnSpc>
              <a:buNone/>
            </a:pPr>
            <a:r>
              <a:rPr lang="en-US" sz="1350" b="1" dirty="0">
                <a:solidFill>
                  <a:srgbClr val="1F2A44"/>
                </a:solidFill>
                <a:latin typeface="Calibri" pitchFamily="34" charset="0"/>
                <a:ea typeface="Calibri" pitchFamily="34" charset="-122"/>
                <a:cs typeface="Calibri" pitchFamily="34" charset="-120"/>
              </a:rPr>
              <a:t>Must: </a:t>
            </a:r>
            <a:pPr indent="0" marL="0">
              <a:lnSpc>
                <a:spcPct val="118000"/>
              </a:lnSpc>
              <a:buNone/>
            </a:pPr>
            <a:r>
              <a:rPr lang="en-US" sz="1350" dirty="0">
                <a:solidFill>
                  <a:srgbClr val="55607A"/>
                </a:solidFill>
                <a:latin typeface="Calibri" pitchFamily="34" charset="0"/>
                <a:ea typeface="Calibri" pitchFamily="34" charset="-122"/>
                <a:cs typeface="Calibri" pitchFamily="34" charset="-120"/>
              </a:rPr>
              <a:t>one locality (Delaware County area), one complete path: claim in, source card, transparency record, civic invitation out. Deployed.
</a:t>
            </a:r>
            <a:pPr indent="0" marL="0">
              <a:lnSpc>
                <a:spcPct val="118000"/>
              </a:lnSpc>
              <a:buNone/>
            </a:pPr>
            <a:r>
              <a:rPr lang="en-US" sz="1350" b="1" dirty="0">
                <a:solidFill>
                  <a:srgbClr val="1F2A44"/>
                </a:solidFill>
                <a:latin typeface="Calibri" pitchFamily="34" charset="0"/>
                <a:ea typeface="Calibri" pitchFamily="34" charset="-122"/>
                <a:cs typeface="Calibri" pitchFamily="34" charset="-120"/>
              </a:rPr>
              <a:t>Should: </a:t>
            </a:r>
            <a:pPr indent="0" marL="0">
              <a:lnSpc>
                <a:spcPct val="118000"/>
              </a:lnSpc>
              <a:buNone/>
            </a:pPr>
            <a:r>
              <a:rPr lang="en-US" sz="1350" dirty="0">
                <a:solidFill>
                  <a:srgbClr val="55607A"/>
                </a:solidFill>
                <a:latin typeface="Calibri" pitchFamily="34" charset="0"/>
                <a:ea typeface="Calibri" pitchFamily="34" charset="-122"/>
                <a:cs typeface="Calibri" pitchFamily="34" charset="-120"/>
              </a:rPr>
              <a:t>second claim type · citation-policy toggle
</a:t>
            </a:r>
            <a:pPr indent="0" marL="0">
              <a:lnSpc>
                <a:spcPct val="118000"/>
              </a:lnSpc>
              <a:buNone/>
            </a:pPr>
            <a:r>
              <a:rPr lang="en-US" sz="1350" b="1" dirty="0">
                <a:solidFill>
                  <a:srgbClr val="1F2A44"/>
                </a:solidFill>
                <a:latin typeface="Calibri" pitchFamily="34" charset="0"/>
                <a:ea typeface="Calibri" pitchFamily="34" charset="-122"/>
                <a:cs typeface="Calibri" pitchFamily="34" charset="-120"/>
              </a:rPr>
              <a:t>Could: </a:t>
            </a:r>
            <a:pPr indent="0" marL="0">
              <a:lnSpc>
                <a:spcPct val="118000"/>
              </a:lnSpc>
              <a:buNone/>
            </a:pPr>
            <a:r>
              <a:rPr lang="en-US" sz="1350" dirty="0">
                <a:solidFill>
                  <a:srgbClr val="55607A"/>
                </a:solidFill>
                <a:latin typeface="Calibri" pitchFamily="34" charset="0"/>
                <a:ea typeface="Calibri" pitchFamily="34" charset="-122"/>
                <a:cs typeface="Calibri" pitchFamily="34" charset="-120"/>
              </a:rPr>
              <a:t>polish states · locality “not yet covered” preview
</a:t>
            </a:r>
            <a:pPr indent="0" marL="0">
              <a:lnSpc>
                <a:spcPct val="118000"/>
              </a:lnSpc>
              <a:buNone/>
            </a:pPr>
            <a:r>
              <a:rPr lang="en-US" sz="1350" b="1" dirty="0">
                <a:solidFill>
                  <a:srgbClr val="990011"/>
                </a:solidFill>
                <a:latin typeface="Calibri" pitchFamily="34" charset="0"/>
                <a:ea typeface="Calibri" pitchFamily="34" charset="-122"/>
                <a:cs typeface="Calibri" pitchFamily="34" charset="-120"/>
              </a:rPr>
              <a:t>Won’t (by design): </a:t>
            </a:r>
            <a:pPr indent="0" marL="0">
              <a:lnSpc>
                <a:spcPct val="118000"/>
              </a:lnSpc>
              <a:buNone/>
            </a:pPr>
            <a:r>
              <a:rPr lang="en-US" sz="1350" dirty="0">
                <a:solidFill>
                  <a:srgbClr val="55607A"/>
                </a:solidFill>
                <a:latin typeface="Calibri" pitchFamily="34" charset="0"/>
                <a:ea typeface="Calibri" pitchFamily="34" charset="-122"/>
                <a:cs typeface="Calibri" pitchFamily="34" charset="-120"/>
              </a:rPr>
              <a:t>accounts &amp; profiles · feeds or posts · second civic slice · topic packages · curation console · live ingestion at scale</a:t>
            </a:r>
            <a:endParaRPr lang="en-US" sz="1350" dirty="0"/>
          </a:p>
        </p:txBody>
      </p:sp>
      <p:sp>
        <p:nvSpPr>
          <p:cNvPr id="6" name="Shape 4"/>
          <p:cNvSpPr/>
          <p:nvPr/>
        </p:nvSpPr>
        <p:spPr>
          <a:xfrm>
            <a:off x="6172200" y="1417320"/>
            <a:ext cx="5394960" cy="1051560"/>
          </a:xfrm>
          <a:prstGeom prst="roundRect">
            <a:avLst>
              <a:gd name="adj" fmla="val 6087"/>
            </a:avLst>
          </a:prstGeom>
          <a:solidFill>
            <a:srgbClr val="F2F2F2"/>
          </a:solidFill>
          <a:ln/>
        </p:spPr>
      </p:sp>
      <p:sp>
        <p:nvSpPr>
          <p:cNvPr id="7" name="Text 5"/>
          <p:cNvSpPr/>
          <p:nvPr/>
        </p:nvSpPr>
        <p:spPr>
          <a:xfrm>
            <a:off x="6400800" y="1508760"/>
            <a:ext cx="868680" cy="868680"/>
          </a:xfrm>
          <a:prstGeom prst="rect">
            <a:avLst/>
          </a:prstGeom>
          <a:noFill/>
          <a:ln/>
        </p:spPr>
        <p:txBody>
          <a:bodyPr wrap="square" lIns="0" tIns="0" rIns="0" bIns="0" rtlCol="0" anchor="ctr"/>
          <a:lstStyle/>
          <a:p>
            <a:pPr indent="0" marL="0">
              <a:buNone/>
            </a:pPr>
            <a:r>
              <a:rPr lang="en-US" sz="1700" b="1" dirty="0">
                <a:solidFill>
                  <a:srgbClr val="990011"/>
                </a:solidFill>
                <a:latin typeface="Century Schoolbook" pitchFamily="34" charset="0"/>
                <a:ea typeface="Century Schoolbook" pitchFamily="34" charset="-122"/>
                <a:cs typeface="Century Schoolbook" pitchFamily="34" charset="-120"/>
              </a:rPr>
              <a:t>Wk 1</a:t>
            </a:r>
            <a:endParaRPr lang="en-US" sz="1700" dirty="0"/>
          </a:p>
        </p:txBody>
      </p:sp>
      <p:sp>
        <p:nvSpPr>
          <p:cNvPr id="8" name="Text 6"/>
          <p:cNvSpPr/>
          <p:nvPr/>
        </p:nvSpPr>
        <p:spPr>
          <a:xfrm>
            <a:off x="7315200" y="1508760"/>
            <a:ext cx="4069080" cy="86868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Walking skeleton: one hardcoded claim through the whole path, deployed, ugly.</a:t>
            </a:r>
            <a:endParaRPr lang="en-US" sz="1250" dirty="0"/>
          </a:p>
        </p:txBody>
      </p:sp>
      <p:sp>
        <p:nvSpPr>
          <p:cNvPr id="9" name="Shape 7"/>
          <p:cNvSpPr/>
          <p:nvPr/>
        </p:nvSpPr>
        <p:spPr>
          <a:xfrm>
            <a:off x="6172200" y="2624328"/>
            <a:ext cx="5394960" cy="1051560"/>
          </a:xfrm>
          <a:prstGeom prst="roundRect">
            <a:avLst>
              <a:gd name="adj" fmla="val 6087"/>
            </a:avLst>
          </a:prstGeom>
          <a:solidFill>
            <a:srgbClr val="F2F2F2"/>
          </a:solidFill>
          <a:ln/>
        </p:spPr>
      </p:sp>
      <p:sp>
        <p:nvSpPr>
          <p:cNvPr id="10" name="Text 8"/>
          <p:cNvSpPr/>
          <p:nvPr/>
        </p:nvSpPr>
        <p:spPr>
          <a:xfrm>
            <a:off x="6400800" y="2715768"/>
            <a:ext cx="868680" cy="868680"/>
          </a:xfrm>
          <a:prstGeom prst="rect">
            <a:avLst/>
          </a:prstGeom>
          <a:noFill/>
          <a:ln/>
        </p:spPr>
        <p:txBody>
          <a:bodyPr wrap="square" lIns="0" tIns="0" rIns="0" bIns="0" rtlCol="0" anchor="ctr"/>
          <a:lstStyle/>
          <a:p>
            <a:pPr indent="0" marL="0">
              <a:buNone/>
            </a:pPr>
            <a:r>
              <a:rPr lang="en-US" sz="1700" b="1" dirty="0">
                <a:solidFill>
                  <a:srgbClr val="990011"/>
                </a:solidFill>
                <a:latin typeface="Century Schoolbook" pitchFamily="34" charset="0"/>
                <a:ea typeface="Century Schoolbook" pitchFamily="34" charset="-122"/>
                <a:cs typeface="Century Schoolbook" pitchFamily="34" charset="-120"/>
              </a:rPr>
              <a:t>Wk 2</a:t>
            </a:r>
            <a:endParaRPr lang="en-US" sz="1700" dirty="0"/>
          </a:p>
        </p:txBody>
      </p:sp>
      <p:sp>
        <p:nvSpPr>
          <p:cNvPr id="11" name="Text 9"/>
          <p:cNvSpPr/>
          <p:nvPr/>
        </p:nvSpPr>
        <p:spPr>
          <a:xfrm>
            <a:off x="7315200" y="2715768"/>
            <a:ext cx="4069080" cy="86868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Real claim handling + classification slice. Fallback trigger lives here.</a:t>
            </a:r>
            <a:endParaRPr lang="en-US" sz="1250" dirty="0"/>
          </a:p>
        </p:txBody>
      </p:sp>
      <p:sp>
        <p:nvSpPr>
          <p:cNvPr id="12" name="Shape 10"/>
          <p:cNvSpPr/>
          <p:nvPr/>
        </p:nvSpPr>
        <p:spPr>
          <a:xfrm>
            <a:off x="6172200" y="3831336"/>
            <a:ext cx="5394960" cy="1051560"/>
          </a:xfrm>
          <a:prstGeom prst="roundRect">
            <a:avLst>
              <a:gd name="adj" fmla="val 6087"/>
            </a:avLst>
          </a:prstGeom>
          <a:solidFill>
            <a:srgbClr val="F2F2F2"/>
          </a:solidFill>
          <a:ln/>
        </p:spPr>
      </p:sp>
      <p:sp>
        <p:nvSpPr>
          <p:cNvPr id="13" name="Text 11"/>
          <p:cNvSpPr/>
          <p:nvPr/>
        </p:nvSpPr>
        <p:spPr>
          <a:xfrm>
            <a:off x="6400800" y="3922776"/>
            <a:ext cx="868680" cy="868680"/>
          </a:xfrm>
          <a:prstGeom prst="rect">
            <a:avLst/>
          </a:prstGeom>
          <a:noFill/>
          <a:ln/>
        </p:spPr>
        <p:txBody>
          <a:bodyPr wrap="square" lIns="0" tIns="0" rIns="0" bIns="0" rtlCol="0" anchor="ctr"/>
          <a:lstStyle/>
          <a:p>
            <a:pPr indent="0" marL="0">
              <a:buNone/>
            </a:pPr>
            <a:r>
              <a:rPr lang="en-US" sz="1700" b="1" dirty="0">
                <a:solidFill>
                  <a:srgbClr val="990011"/>
                </a:solidFill>
                <a:latin typeface="Century Schoolbook" pitchFamily="34" charset="0"/>
                <a:ea typeface="Century Schoolbook" pitchFamily="34" charset="-122"/>
                <a:cs typeface="Century Schoolbook" pitchFamily="34" charset="-120"/>
              </a:rPr>
              <a:t>Wk 3</a:t>
            </a:r>
            <a:endParaRPr lang="en-US" sz="1700" dirty="0"/>
          </a:p>
        </p:txBody>
      </p:sp>
      <p:sp>
        <p:nvSpPr>
          <p:cNvPr id="14" name="Text 12"/>
          <p:cNvSpPr/>
          <p:nvPr/>
        </p:nvSpPr>
        <p:spPr>
          <a:xfrm>
            <a:off x="7315200" y="3922776"/>
            <a:ext cx="4069080" cy="868680"/>
          </a:xfrm>
          <a:prstGeom prst="rect">
            <a:avLst/>
          </a:prstGeom>
          <a:noFill/>
          <a:ln/>
        </p:spPr>
        <p:txBody>
          <a:bodyPr wrap="square" lIns="0" tIns="0" rIns="0" bIns="0" rtlCol="0" anchor="ctr"/>
          <a:lstStyle/>
          <a:p>
            <a:pPr indent="0" marL="0">
              <a:lnSpc>
                <a:spcPct val="110000"/>
              </a:lnSpc>
              <a:buNone/>
            </a:pPr>
            <a:r>
              <a:rPr lang="en-US" sz="1250" dirty="0">
                <a:solidFill>
                  <a:srgbClr val="55607A"/>
                </a:solidFill>
                <a:latin typeface="Calibri" pitchFamily="34" charset="0"/>
                <a:ea typeface="Calibri" pitchFamily="34" charset="-122"/>
                <a:cs typeface="Calibri" pitchFamily="34" charset="-120"/>
              </a:rPr>
              <a:t>Civic invitation layer with real local data; second claim type if on pace.</a:t>
            </a:r>
            <a:endParaRPr lang="en-US" sz="1250" dirty="0"/>
          </a:p>
        </p:txBody>
      </p:sp>
      <p:sp>
        <p:nvSpPr>
          <p:cNvPr id="15" name="Shape 13"/>
          <p:cNvSpPr/>
          <p:nvPr/>
        </p:nvSpPr>
        <p:spPr>
          <a:xfrm>
            <a:off x="6172200" y="5038344"/>
            <a:ext cx="5394960" cy="1051560"/>
          </a:xfrm>
          <a:prstGeom prst="roundRect">
            <a:avLst>
              <a:gd name="adj" fmla="val 6087"/>
            </a:avLst>
          </a:prstGeom>
          <a:solidFill>
            <a:srgbClr val="1F2A44"/>
          </a:solidFill>
          <a:ln/>
        </p:spPr>
      </p:sp>
      <p:sp>
        <p:nvSpPr>
          <p:cNvPr id="16" name="Text 14"/>
          <p:cNvSpPr/>
          <p:nvPr/>
        </p:nvSpPr>
        <p:spPr>
          <a:xfrm>
            <a:off x="6400800" y="5129784"/>
            <a:ext cx="868680" cy="868680"/>
          </a:xfrm>
          <a:prstGeom prst="rect">
            <a:avLst/>
          </a:prstGeom>
          <a:noFill/>
          <a:ln/>
        </p:spPr>
        <p:txBody>
          <a:bodyPr wrap="square" lIns="0" tIns="0" rIns="0" bIns="0" rtlCol="0" anchor="ctr"/>
          <a:lstStyle/>
          <a:p>
            <a:pPr indent="0" marL="0">
              <a:buNone/>
            </a:pPr>
            <a:r>
              <a:rPr lang="en-US" sz="1700" b="1" dirty="0">
                <a:solidFill>
                  <a:srgbClr val="FFD7DB"/>
                </a:solidFill>
                <a:latin typeface="Century Schoolbook" pitchFamily="34" charset="0"/>
                <a:ea typeface="Century Schoolbook" pitchFamily="34" charset="-122"/>
                <a:cs typeface="Century Schoolbook" pitchFamily="34" charset="-120"/>
              </a:rPr>
              <a:t>Wk 4</a:t>
            </a:r>
            <a:endParaRPr lang="en-US" sz="1700" dirty="0"/>
          </a:p>
        </p:txBody>
      </p:sp>
      <p:sp>
        <p:nvSpPr>
          <p:cNvPr id="17" name="Text 15"/>
          <p:cNvSpPr/>
          <p:nvPr/>
        </p:nvSpPr>
        <p:spPr>
          <a:xfrm>
            <a:off x="7315200" y="5129784"/>
            <a:ext cx="4069080" cy="868680"/>
          </a:xfrm>
          <a:prstGeom prst="rect">
            <a:avLst/>
          </a:prstGeom>
          <a:noFill/>
          <a:ln/>
        </p:spPr>
        <p:txBody>
          <a:bodyPr wrap="square" lIns="0" tIns="0" rIns="0" bIns="0"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Hardening, error states, polish, demo prep, built-in buffer.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indent="0" marL="0">
              <a:buNone/>
            </a:pPr>
            <a:r>
              <a:rPr lang="en-US" sz="3600" b="1" dirty="0">
                <a:solidFill>
                  <a:srgbClr val="1F2A44"/>
                </a:solidFill>
                <a:latin typeface="Century Schoolbook" pitchFamily="34" charset="0"/>
                <a:ea typeface="Century Schoolbook" pitchFamily="34" charset="-122"/>
                <a:cs typeface="Century Schoolbook" pitchFamily="34" charset="-120"/>
              </a:rPr>
              <a:t>Beyond the capstone: the pattern generalizes</a:t>
            </a:r>
            <a:endParaRPr lang="en-US" sz="3600" dirty="0"/>
          </a:p>
        </p:txBody>
      </p:sp>
      <p:sp>
        <p:nvSpPr>
          <p:cNvPr id="3" name="Shape 1"/>
          <p:cNvSpPr/>
          <p:nvPr/>
        </p:nvSpPr>
        <p:spPr>
          <a:xfrm>
            <a:off x="640080" y="1417320"/>
            <a:ext cx="10927080" cy="1143000"/>
          </a:xfrm>
          <a:prstGeom prst="roundRect">
            <a:avLst>
              <a:gd name="adj" fmla="val 5600"/>
            </a:avLst>
          </a:prstGeom>
          <a:solidFill>
            <a:srgbClr val="F2F2F2"/>
          </a:solidFill>
          <a:ln/>
        </p:spPr>
      </p:sp>
      <p:sp>
        <p:nvSpPr>
          <p:cNvPr id="4" name="Shape 2"/>
          <p:cNvSpPr/>
          <p:nvPr/>
        </p:nvSpPr>
        <p:spPr>
          <a:xfrm>
            <a:off x="896112" y="1783080"/>
            <a:ext cx="384048" cy="384048"/>
          </a:xfrm>
          <a:prstGeom prst="ellipse">
            <a:avLst/>
          </a:prstGeom>
          <a:solidFill>
            <a:srgbClr val="990011"/>
          </a:solidFill>
          <a:ln/>
        </p:spPr>
      </p:sp>
      <p:sp>
        <p:nvSpPr>
          <p:cNvPr id="5" name="Text 3"/>
          <p:cNvSpPr/>
          <p:nvPr/>
        </p:nvSpPr>
        <p:spPr>
          <a:xfrm>
            <a:off x="896112" y="177210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463040" y="1527048"/>
            <a:ext cx="3017520" cy="914400"/>
          </a:xfrm>
          <a:prstGeom prst="rect">
            <a:avLst/>
          </a:prstGeom>
          <a:noFill/>
          <a:ln/>
        </p:spPr>
        <p:txBody>
          <a:bodyPr wrap="square" lIns="0" tIns="0" rIns="0" bIns="0" rtlCol="0" anchor="ctr"/>
          <a:lstStyle/>
          <a:p>
            <a:pPr indent="0" marL="0">
              <a:buNone/>
            </a:pPr>
            <a:r>
              <a:rPr lang="en-US" sz="1550" b="1" dirty="0">
                <a:solidFill>
                  <a:srgbClr val="1F2A44"/>
                </a:solidFill>
                <a:latin typeface="Calibri" pitchFamily="34" charset="0"/>
                <a:ea typeface="Calibri" pitchFamily="34" charset="-122"/>
                <a:cs typeface="Calibri" pitchFamily="34" charset="-120"/>
              </a:rPr>
              <a:t>Topic packages</a:t>
            </a:r>
            <a:endParaRPr lang="en-US" sz="1550" dirty="0"/>
          </a:p>
        </p:txBody>
      </p:sp>
      <p:sp>
        <p:nvSpPr>
          <p:cNvPr id="7" name="Text 5"/>
          <p:cNvSpPr/>
          <p:nvPr/>
        </p:nvSpPr>
        <p:spPr>
          <a:xfrm>
            <a:off x="4572000" y="1508760"/>
            <a:ext cx="6812280" cy="960120"/>
          </a:xfrm>
          <a:prstGeom prst="rect">
            <a:avLst/>
          </a:prstGeom>
          <a:noFill/>
          <a:ln/>
        </p:spPr>
        <p:txBody>
          <a:bodyPr wrap="square" lIns="0" tIns="0" rIns="0" bIns="0" rtlCol="0" anchor="ctr"/>
          <a:lstStyle/>
          <a:p>
            <a:pPr indent="0" marL="0">
              <a:lnSpc>
                <a:spcPct val="108000"/>
              </a:lnSpc>
              <a:buNone/>
            </a:pPr>
            <a:r>
              <a:rPr lang="en-US" sz="1200" dirty="0">
                <a:solidFill>
                  <a:srgbClr val="55607A"/>
                </a:solidFill>
                <a:latin typeface="Calibri" pitchFamily="34" charset="0"/>
                <a:ea typeface="Calibri" pitchFamily="34" charset="-122"/>
                <a:cs typeface="Calibri" pitchFamily="34" charset="-120"/>
              </a:rPr>
              <a:t>The same provenance engine aimed at issues residents feel but don’t research: regional data-center siting, water &amp; power agreements, documented public-accountability records. Primary documents only; cite, never characterize.</a:t>
            </a:r>
            <a:endParaRPr lang="en-US" sz="1200" dirty="0"/>
          </a:p>
        </p:txBody>
      </p:sp>
      <p:sp>
        <p:nvSpPr>
          <p:cNvPr id="8" name="Shape 6"/>
          <p:cNvSpPr/>
          <p:nvPr/>
        </p:nvSpPr>
        <p:spPr>
          <a:xfrm>
            <a:off x="640080" y="2715768"/>
            <a:ext cx="10927080" cy="1143000"/>
          </a:xfrm>
          <a:prstGeom prst="roundRect">
            <a:avLst>
              <a:gd name="adj" fmla="val 5600"/>
            </a:avLst>
          </a:prstGeom>
          <a:solidFill>
            <a:srgbClr val="F2F2F2"/>
          </a:solidFill>
          <a:ln/>
        </p:spPr>
      </p:sp>
      <p:sp>
        <p:nvSpPr>
          <p:cNvPr id="9" name="Shape 7"/>
          <p:cNvSpPr/>
          <p:nvPr/>
        </p:nvSpPr>
        <p:spPr>
          <a:xfrm>
            <a:off x="896112" y="3081528"/>
            <a:ext cx="384048" cy="384048"/>
          </a:xfrm>
          <a:prstGeom prst="ellipse">
            <a:avLst/>
          </a:prstGeom>
          <a:solidFill>
            <a:srgbClr val="990011"/>
          </a:solidFill>
          <a:ln/>
        </p:spPr>
      </p:sp>
      <p:sp>
        <p:nvSpPr>
          <p:cNvPr id="10" name="Text 8"/>
          <p:cNvSpPr/>
          <p:nvPr/>
        </p:nvSpPr>
        <p:spPr>
          <a:xfrm>
            <a:off x="896112" y="3070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463040" y="2825496"/>
            <a:ext cx="3017520" cy="914400"/>
          </a:xfrm>
          <a:prstGeom prst="rect">
            <a:avLst/>
          </a:prstGeom>
          <a:noFill/>
          <a:ln/>
        </p:spPr>
        <p:txBody>
          <a:bodyPr wrap="square" lIns="0" tIns="0" rIns="0" bIns="0" rtlCol="0" anchor="ctr"/>
          <a:lstStyle/>
          <a:p>
            <a:pPr indent="0" marL="0">
              <a:buNone/>
            </a:pPr>
            <a:r>
              <a:rPr lang="en-US" sz="1550" b="1" dirty="0">
                <a:solidFill>
                  <a:srgbClr val="1F2A44"/>
                </a:solidFill>
                <a:latin typeface="Calibri" pitchFamily="34" charset="0"/>
                <a:ea typeface="Calibri" pitchFamily="34" charset="-122"/>
                <a:cs typeface="Calibri" pitchFamily="34" charset="-120"/>
              </a:rPr>
              <a:t>Librarian curation console</a:t>
            </a:r>
            <a:endParaRPr lang="en-US" sz="1550" dirty="0"/>
          </a:p>
        </p:txBody>
      </p:sp>
      <p:sp>
        <p:nvSpPr>
          <p:cNvPr id="12" name="Text 10"/>
          <p:cNvSpPr/>
          <p:nvPr/>
        </p:nvSpPr>
        <p:spPr>
          <a:xfrm>
            <a:off x="4572000" y="2807208"/>
            <a:ext cx="6812280" cy="960120"/>
          </a:xfrm>
          <a:prstGeom prst="rect">
            <a:avLst/>
          </a:prstGeom>
          <a:noFill/>
          <a:ln/>
        </p:spPr>
        <p:txBody>
          <a:bodyPr wrap="square" lIns="0" tIns="0" rIns="0" bIns="0" rtlCol="0" anchor="ctr"/>
          <a:lstStyle/>
          <a:p>
            <a:pPr indent="0" marL="0">
              <a:lnSpc>
                <a:spcPct val="108000"/>
              </a:lnSpc>
              <a:buNone/>
            </a:pPr>
            <a:r>
              <a:rPr lang="en-US" sz="1200" dirty="0">
                <a:solidFill>
                  <a:srgbClr val="55607A"/>
                </a:solidFill>
                <a:latin typeface="Calibri" pitchFamily="34" charset="0"/>
                <a:ea typeface="Calibri" pitchFamily="34" charset="-122"/>
                <a:cs typeface="Calibri" pitchFamily="34" charset="-120"/>
              </a:rPr>
              <a:t>Libraries as the local editorial layer, maintaining locality data through the same source-and-date schema, extending library confidentiality ethics into software.</a:t>
            </a:r>
            <a:endParaRPr lang="en-US" sz="1200" dirty="0"/>
          </a:p>
        </p:txBody>
      </p:sp>
      <p:sp>
        <p:nvSpPr>
          <p:cNvPr id="13" name="Shape 11"/>
          <p:cNvSpPr/>
          <p:nvPr/>
        </p:nvSpPr>
        <p:spPr>
          <a:xfrm>
            <a:off x="640080" y="4014216"/>
            <a:ext cx="10927080" cy="1143000"/>
          </a:xfrm>
          <a:prstGeom prst="roundRect">
            <a:avLst>
              <a:gd name="adj" fmla="val 5600"/>
            </a:avLst>
          </a:prstGeom>
          <a:solidFill>
            <a:srgbClr val="F2F2F2"/>
          </a:solidFill>
          <a:ln/>
        </p:spPr>
      </p:sp>
      <p:sp>
        <p:nvSpPr>
          <p:cNvPr id="14" name="Shape 12"/>
          <p:cNvSpPr/>
          <p:nvPr/>
        </p:nvSpPr>
        <p:spPr>
          <a:xfrm>
            <a:off x="896112" y="4379976"/>
            <a:ext cx="384048" cy="384048"/>
          </a:xfrm>
          <a:prstGeom prst="ellipse">
            <a:avLst/>
          </a:prstGeom>
          <a:solidFill>
            <a:srgbClr val="990011"/>
          </a:solidFill>
          <a:ln/>
        </p:spPr>
      </p:sp>
      <p:sp>
        <p:nvSpPr>
          <p:cNvPr id="15" name="Text 13"/>
          <p:cNvSpPr/>
          <p:nvPr/>
        </p:nvSpPr>
        <p:spPr>
          <a:xfrm>
            <a:off x="896112" y="436900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463040" y="4123944"/>
            <a:ext cx="3017520" cy="914400"/>
          </a:xfrm>
          <a:prstGeom prst="rect">
            <a:avLst/>
          </a:prstGeom>
          <a:noFill/>
          <a:ln/>
        </p:spPr>
        <p:txBody>
          <a:bodyPr wrap="square" lIns="0" tIns="0" rIns="0" bIns="0" rtlCol="0" anchor="ctr"/>
          <a:lstStyle/>
          <a:p>
            <a:pPr indent="0" marL="0">
              <a:buNone/>
            </a:pPr>
            <a:r>
              <a:rPr lang="en-US" sz="1550" b="1" dirty="0">
                <a:solidFill>
                  <a:srgbClr val="1F2A44"/>
                </a:solidFill>
                <a:latin typeface="Calibri" pitchFamily="34" charset="0"/>
                <a:ea typeface="Calibri" pitchFamily="34" charset="-122"/>
                <a:cs typeface="Calibri" pitchFamily="34" charset="-120"/>
              </a:rPr>
              <a:t>Community source submission</a:t>
            </a:r>
            <a:endParaRPr lang="en-US" sz="1550" dirty="0"/>
          </a:p>
        </p:txBody>
      </p:sp>
      <p:sp>
        <p:nvSpPr>
          <p:cNvPr id="17" name="Text 15"/>
          <p:cNvSpPr/>
          <p:nvPr/>
        </p:nvSpPr>
        <p:spPr>
          <a:xfrm>
            <a:off x="4572000" y="4105656"/>
            <a:ext cx="6812280" cy="960120"/>
          </a:xfrm>
          <a:prstGeom prst="rect">
            <a:avLst/>
          </a:prstGeom>
          <a:noFill/>
          <a:ln/>
        </p:spPr>
        <p:txBody>
          <a:bodyPr wrap="square" lIns="0" tIns="0" rIns="0" bIns="0" rtlCol="0" anchor="ctr"/>
          <a:lstStyle/>
          <a:p>
            <a:pPr indent="0" marL="0">
              <a:lnSpc>
                <a:spcPct val="108000"/>
              </a:lnSpc>
              <a:buNone/>
            </a:pPr>
            <a:r>
              <a:rPr lang="en-US" sz="1200" dirty="0">
                <a:solidFill>
                  <a:srgbClr val="55607A"/>
                </a:solidFill>
                <a:latin typeface="Calibri" pitchFamily="34" charset="0"/>
                <a:ea typeface="Calibri" pitchFamily="34" charset="-122"/>
                <a:cs typeface="Calibri" pitchFamily="34" charset="-120"/>
              </a:rPr>
              <a:t>People can hand Footnote evidence; nobody can hand it an opinion. Reviewed pipeline, no posts, no identities, no audience.</a:t>
            </a:r>
            <a:endParaRPr lang="en-US" sz="1200" dirty="0"/>
          </a:p>
        </p:txBody>
      </p:sp>
      <p:sp>
        <p:nvSpPr>
          <p:cNvPr id="18" name="Shape 16"/>
          <p:cNvSpPr/>
          <p:nvPr/>
        </p:nvSpPr>
        <p:spPr>
          <a:xfrm>
            <a:off x="640080" y="5486400"/>
            <a:ext cx="10927080" cy="822960"/>
          </a:xfrm>
          <a:prstGeom prst="roundRect">
            <a:avLst>
              <a:gd name="adj" fmla="val 7778"/>
            </a:avLst>
          </a:prstGeom>
          <a:solidFill>
            <a:srgbClr val="1F2A44"/>
          </a:solidFill>
          <a:ln/>
        </p:spPr>
      </p:sp>
      <p:sp>
        <p:nvSpPr>
          <p:cNvPr id="19" name="Text 17"/>
          <p:cNvSpPr/>
          <p:nvPr/>
        </p:nvSpPr>
        <p:spPr>
          <a:xfrm>
            <a:off x="914400" y="5486400"/>
            <a:ext cx="10378440" cy="822960"/>
          </a:xfrm>
          <a:prstGeom prst="rect">
            <a:avLst/>
          </a:prstGeom>
          <a:noFill/>
          <a:ln/>
        </p:spPr>
        <p:txBody>
          <a:bodyPr wrap="square" lIns="0" tIns="0" rIns="0" bIns="0" rtlCol="0" anchor="ctr"/>
          <a:lstStyle/>
          <a:p>
            <a:pPr algn="ctr" indent="0" marL="0">
              <a:buNone/>
            </a:pPr>
            <a:r>
              <a:rPr lang="en-US" sz="1350" b="1" dirty="0">
                <a:solidFill>
                  <a:srgbClr val="FFD7DB"/>
                </a:solidFill>
                <a:latin typeface="Calibri" pitchFamily="34" charset="0"/>
                <a:ea typeface="Calibri" pitchFamily="34" charset="-122"/>
                <a:cs typeface="Calibri" pitchFamily="34" charset="-120"/>
              </a:rPr>
              <a:t>Sustainability: </a:t>
            </a:r>
            <a:pPr algn="ctr" indent="0" marL="0">
              <a:buNone/>
            </a:pPr>
            <a:r>
              <a:rPr lang="en-US" sz="1350" dirty="0">
                <a:solidFill>
                  <a:srgbClr val="FFFFFF"/>
                </a:solidFill>
                <a:latin typeface="Calibri" pitchFamily="34" charset="0"/>
                <a:ea typeface="Calibri" pitchFamily="34" charset="-122"/>
                <a:cs typeface="Calibri" pitchFamily="34" charset="-120"/>
              </a:rPr>
              <a:t>free for citizens, always · institutional licensing (libraries, schools) · engine as an API · grants bridge · no ads, no engagement monetization, ever.</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50392" y="1234440"/>
            <a:ext cx="10424160" cy="822960"/>
          </a:xfrm>
          <a:prstGeom prst="rect">
            <a:avLst/>
          </a:prstGeom>
          <a:noFill/>
          <a:ln/>
        </p:spPr>
        <p:txBody>
          <a:bodyPr wrap="square" lIns="0" tIns="0" rIns="0" bIns="0" rtlCol="0" anchor="ctr"/>
          <a:lstStyle/>
          <a:p>
            <a:pPr indent="0" marL="0">
              <a:buNone/>
            </a:pPr>
            <a:r>
              <a:rPr lang="en-US" sz="4400" b="1" dirty="0">
                <a:solidFill>
                  <a:srgbClr val="FFFFFF"/>
                </a:solidFill>
                <a:latin typeface="Century Schoolbook" pitchFamily="34" charset="0"/>
                <a:ea typeface="Century Schoolbook" pitchFamily="34" charset="-122"/>
                <a:cs typeface="Century Schoolbook" pitchFamily="34" charset="-120"/>
              </a:rPr>
              <a:t>Footnote</a:t>
            </a:r>
            <a:pPr indent="0" marL="0">
              <a:buNone/>
            </a:pPr>
            <a:r>
              <a:rPr lang="en-US" sz="2200" b="1" baseline="30000" dirty="0">
                <a:solidFill>
                  <a:srgbClr val="990011"/>
                </a:solidFill>
                <a:latin typeface="Century Schoolbook" pitchFamily="34" charset="0"/>
                <a:ea typeface="Century Schoolbook" pitchFamily="34" charset="-122"/>
                <a:cs typeface="Century Schoolbook" pitchFamily="34" charset="-120"/>
              </a:rPr>
              <a:t> 1</a:t>
            </a:r>
            <a:endParaRPr lang="en-US" sz="4400" dirty="0"/>
          </a:p>
        </p:txBody>
      </p:sp>
      <p:sp>
        <p:nvSpPr>
          <p:cNvPr id="3" name="Text 1"/>
          <p:cNvSpPr/>
          <p:nvPr/>
        </p:nvSpPr>
        <p:spPr>
          <a:xfrm>
            <a:off x="850392" y="2240280"/>
            <a:ext cx="10424160" cy="1188720"/>
          </a:xfrm>
          <a:prstGeom prst="rect">
            <a:avLst/>
          </a:prstGeom>
          <a:noFill/>
          <a:ln/>
        </p:spPr>
        <p:txBody>
          <a:bodyPr wrap="square" lIns="0" tIns="0" rIns="0" bIns="0" rtlCol="0" anchor="ctr"/>
          <a:lstStyle/>
          <a:p>
            <a:pPr indent="0" marL="0">
              <a:lnSpc>
                <a:spcPct val="115000"/>
              </a:lnSpc>
              <a:buNone/>
            </a:pPr>
            <a:r>
              <a:rPr lang="en-US" sz="2600" i="1" dirty="0">
                <a:solidFill>
                  <a:srgbClr val="CADCFC"/>
                </a:solidFill>
                <a:latin typeface="Century Schoolbook" pitchFamily="34" charset="0"/>
                <a:ea typeface="Century Schoolbook" pitchFamily="34" charset="-122"/>
                <a:cs typeface="Century Schoolbook" pitchFamily="34" charset="-120"/>
              </a:rPr>
              <a:t>You pick a place. It shows you the records, shows its work,</a:t>
            </a:r>
            <a:endParaRPr lang="en-US" sz="2600" dirty="0"/>
          </a:p>
          <a:p>
            <a:pPr indent="0" marL="0">
              <a:lnSpc>
                <a:spcPct val="115000"/>
              </a:lnSpc>
              <a:buNone/>
            </a:pPr>
            <a:r>
              <a:rPr lang="en-US" sz="2600" i="1" dirty="0">
                <a:solidFill>
                  <a:srgbClr val="CADCFC"/>
                </a:solidFill>
                <a:latin typeface="Century Schoolbook" pitchFamily="34" charset="0"/>
                <a:ea typeface="Century Schoolbook" pitchFamily="34" charset="-122"/>
                <a:cs typeface="Century Schoolbook" pitchFamily="34" charset="-120"/>
              </a:rPr>
              <a:t>and hands you the next step. Then it forgets you.</a:t>
            </a:r>
            <a:endParaRPr lang="en-US" sz="2600" dirty="0"/>
          </a:p>
        </p:txBody>
      </p:sp>
      <p:sp>
        <p:nvSpPr>
          <p:cNvPr id="4" name="Text 2"/>
          <p:cNvSpPr/>
          <p:nvPr/>
        </p:nvSpPr>
        <p:spPr>
          <a:xfrm>
            <a:off x="850392" y="3931920"/>
            <a:ext cx="104241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Live demo:  </a:t>
            </a:r>
            <a:pPr indent="0" marL="0">
              <a:buNone/>
            </a:pPr>
            <a:r>
              <a:rPr lang="en-US" sz="1500" dirty="0">
                <a:solidFill>
                  <a:srgbClr val="CADCFC"/>
                </a:solidFill>
                <a:latin typeface="Calibri" pitchFamily="34" charset="0"/>
                <a:ea typeface="Calibri" pitchFamily="34" charset="-122"/>
                <a:cs typeface="Calibri" pitchFamily="34" charset="-120"/>
              </a:rPr>
              <a:t>https://footnote.alessandrarye.com · repo + decisions log + build-log posts linked in the README</a:t>
            </a:r>
            <a:endParaRPr lang="en-US" sz="1500" dirty="0"/>
          </a:p>
        </p:txBody>
      </p:sp>
      <p:sp>
        <p:nvSpPr>
          <p:cNvPr id="5" name="Shape 3"/>
          <p:cNvSpPr/>
          <p:nvPr/>
        </p:nvSpPr>
        <p:spPr>
          <a:xfrm>
            <a:off x="850392" y="5394960"/>
            <a:ext cx="3840480" cy="0"/>
          </a:xfrm>
          <a:prstGeom prst="line">
            <a:avLst/>
          </a:prstGeom>
          <a:noFill/>
          <a:ln w="12700">
            <a:solidFill>
              <a:srgbClr val="55607A"/>
            </a:solidFill>
            <a:prstDash val="solid"/>
          </a:ln>
        </p:spPr>
      </p:sp>
      <p:sp>
        <p:nvSpPr>
          <p:cNvPr id="6" name="Text 4"/>
          <p:cNvSpPr/>
          <p:nvPr/>
        </p:nvSpPr>
        <p:spPr>
          <a:xfrm>
            <a:off x="850392" y="5486400"/>
            <a:ext cx="10424160" cy="36576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  </a:t>
            </a:r>
            <a:pPr indent="0" marL="0">
              <a:buNone/>
            </a:pPr>
            <a:r>
              <a:rPr lang="en-US" sz="1300" dirty="0">
                <a:solidFill>
                  <a:srgbClr val="CADCFC"/>
                </a:solidFill>
                <a:latin typeface="Calibri" pitchFamily="34" charset="0"/>
                <a:ea typeface="Calibri" pitchFamily="34" charset="-122"/>
                <a:cs typeface="Calibri" pitchFamily="34" charset="-120"/>
              </a:rPr>
              <a:t>Questions welcome, especially the hard ones. The transparency record applies to me too.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2026-08-13T21:43:56Z</dcterms:created>
  <dcterms:modified xsi:type="dcterms:W3CDTF">2026-08-13T21:43:56Z</dcterms:modified>
</cp:coreProperties>
</file>